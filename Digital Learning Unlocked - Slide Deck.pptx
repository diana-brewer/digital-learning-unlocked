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4" roundtripDataSignature="AMtx7mhc8VNEIQtL0jfrtueDUy8S5S6a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34" Type="http://customschemas.google.com/relationships/presentationmetadata" Target="metadata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p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2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1"/>
          <p:cNvSpPr txBox="1"/>
          <p:nvPr>
            <p:ph idx="12" type="sldNum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sz="12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0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30"/>
          <p:cNvSpPr txBox="1"/>
          <p:nvPr>
            <p:ph idx="1" type="body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0"/>
          <p:cNvSpPr txBox="1"/>
          <p:nvPr>
            <p:ph idx="12" type="sldNum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www.apple.com" TargetMode="External"/><Relationship Id="rId4" Type="http://schemas.openxmlformats.org/officeDocument/2006/relationships/hyperlink" Target="https://diana-brewer.github.io/digital-learning-unlocked/workshop-case-demo.html" TargetMode="External"/><Relationship Id="rId5" Type="http://schemas.openxmlformats.org/officeDocument/2006/relationships/hyperlink" Target="https://diana-brewer.github.io/digital-learning-unlocked/index.html#topic1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iana-brewer.github.io/digital-learning-unlocked/index.html#topic3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notebook.google.com/notebook/db46c5da-59d3-4a7b-8c29-52e5588b39a1" TargetMode="External"/><Relationship Id="rId4" Type="http://schemas.openxmlformats.org/officeDocument/2006/relationships/hyperlink" Target="https://diana-brewer.github.io/digital-learning-unlocked/index.html#topic4" TargetMode="External"/><Relationship Id="rId5" Type="http://schemas.openxmlformats.org/officeDocument/2006/relationships/hyperlink" Target="https://diana-brewer.github.io/digital-learning-unlocked/index.html#topic4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diana-brewer.github.io/digital-learning-unlocked/index.html#topic5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sapientclinician.com/demo/" TargetMode="External"/><Relationship Id="rId4" Type="http://schemas.openxmlformats.org/officeDocument/2006/relationships/hyperlink" Target="https://sapientclinician.com/demo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iana-brewer.github.io/digital-learning-unlocked/index.html#topic6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about:blank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diana-brewer.github.io/digital-learning-unlocked/index.html#topic8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mailto:brewerd@ohsu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5317235" y="1463039"/>
            <a:ext cx="1554482" cy="457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DLU</a:t>
            </a:r>
            <a:endParaRPr/>
          </a:p>
        </p:txBody>
      </p:sp>
      <p:sp>
        <p:nvSpPr>
          <p:cNvPr id="18" name="Google Shape;18;p1"/>
          <p:cNvSpPr txBox="1"/>
          <p:nvPr/>
        </p:nvSpPr>
        <p:spPr>
          <a:xfrm>
            <a:off x="640079" y="2884168"/>
            <a:ext cx="10908794" cy="7239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b="0" i="0" lang="en-US" sz="4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Digital Learning Unlocked</a:t>
            </a:r>
            <a:endParaRPr/>
          </a:p>
        </p:txBody>
      </p:sp>
      <p:sp>
        <p:nvSpPr>
          <p:cNvPr id="19" name="Google Shape;19;p1"/>
          <p:cNvSpPr txBox="1"/>
          <p:nvPr/>
        </p:nvSpPr>
        <p:spPr>
          <a:xfrm>
            <a:off x="640079" y="3923029"/>
            <a:ext cx="10908794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Affordable Tools and Tech for Next-Gen APP Education</a:t>
            </a:r>
            <a:endParaRPr/>
          </a:p>
        </p:txBody>
      </p:sp>
      <p:sp>
        <p:nvSpPr>
          <p:cNvPr id="20" name="Google Shape;20;p1"/>
          <p:cNvSpPr txBox="1"/>
          <p:nvPr/>
        </p:nvSpPr>
        <p:spPr>
          <a:xfrm>
            <a:off x="640079" y="4728779"/>
            <a:ext cx="10908794" cy="18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D8D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8D8D7"/>
                </a:solidFill>
                <a:latin typeface="Calibri"/>
                <a:ea typeface="Calibri"/>
                <a:cs typeface="Calibri"/>
                <a:sym typeface="Calibri"/>
              </a:rPr>
              <a:t>Diana Brewer, PA-C  ·  September 2026 APP Fellowship Conference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28" name="Google Shape;28;p2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0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Welcome &amp; Framing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2194560" y="3040061"/>
            <a:ext cx="8686801" cy="686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You don't need to be a technology expert.</a:t>
            </a:r>
            <a:endParaRPr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You need to be a clinician who knows what your learners need.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"/>
          <p:cNvSpPr txBox="1"/>
          <p:nvPr/>
        </p:nvSpPr>
        <p:spPr>
          <a:xfrm>
            <a:off x="502918" y="47935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WELCOME</a:t>
            </a:r>
            <a:endParaRPr/>
          </a:p>
        </p:txBody>
      </p:sp>
      <p:sp>
        <p:nvSpPr>
          <p:cNvPr id="35" name="Google Shape;35;p3"/>
          <p:cNvSpPr txBox="1"/>
          <p:nvPr/>
        </p:nvSpPr>
        <p:spPr>
          <a:xfrm>
            <a:off x="502919" y="843278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Conflict of Interest &amp; Session Format</a:t>
            </a:r>
            <a:endParaRPr/>
          </a:p>
        </p:txBody>
      </p:sp>
      <p:sp>
        <p:nvSpPr>
          <p:cNvPr id="36" name="Google Shape;36;p3"/>
          <p:cNvSpPr/>
          <p:nvPr/>
        </p:nvSpPr>
        <p:spPr>
          <a:xfrm>
            <a:off x="502919" y="1737360"/>
            <a:ext cx="5394962" cy="3200402"/>
          </a:xfrm>
          <a:prstGeom prst="roundRect">
            <a:avLst>
              <a:gd fmla="val 2571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822959" y="2024687"/>
            <a:ext cx="475488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DISCLOSURE</a:t>
            </a:r>
            <a:endParaRPr/>
          </a:p>
        </p:txBody>
      </p:sp>
      <p:sp>
        <p:nvSpPr>
          <p:cNvPr id="38" name="Google Shape;38;p3"/>
          <p:cNvSpPr txBox="1"/>
          <p:nvPr/>
        </p:nvSpPr>
        <p:spPr>
          <a:xfrm>
            <a:off x="822959" y="2512760"/>
            <a:ext cx="4754883" cy="1865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COI: </a:t>
            </a: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Diana Brewer is a co-founder of Sapient Clinician</a:t>
            </a:r>
            <a:endParaRPr/>
          </a:p>
        </p:txBody>
      </p:sp>
      <p:sp>
        <p:nvSpPr>
          <p:cNvPr id="39" name="Google Shape;39;p3"/>
          <p:cNvSpPr txBox="1"/>
          <p:nvPr/>
        </p:nvSpPr>
        <p:spPr>
          <a:xfrm>
            <a:off x="822959" y="3061400"/>
            <a:ext cx="4754883" cy="18655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This session is </a:t>
            </a:r>
            <a:r>
              <a:rPr b="1" i="0" lang="en-US" sz="15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vendor-neutral</a:t>
            </a:r>
            <a:endParaRPr/>
          </a:p>
        </p:txBody>
      </p:sp>
      <p:sp>
        <p:nvSpPr>
          <p:cNvPr id="40" name="Google Shape;40;p3"/>
          <p:cNvSpPr/>
          <p:nvPr/>
        </p:nvSpPr>
        <p:spPr>
          <a:xfrm>
            <a:off x="6263640" y="1737360"/>
            <a:ext cx="5440682" cy="3200402"/>
          </a:xfrm>
          <a:prstGeom prst="roundRect">
            <a:avLst>
              <a:gd fmla="val 2571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6583680" y="2024687"/>
            <a:ext cx="4846322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HOW THE SESSION WORKS</a:t>
            </a:r>
            <a:endParaRPr/>
          </a:p>
        </p:txBody>
      </p:sp>
      <p:sp>
        <p:nvSpPr>
          <p:cNvPr id="42" name="Google Shape;42;p3"/>
          <p:cNvSpPr txBox="1"/>
          <p:nvPr/>
        </p:nvSpPr>
        <p:spPr>
          <a:xfrm>
            <a:off x="6629400" y="2304287"/>
            <a:ext cx="4800600" cy="1481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75 min: 40 min presentation + 30 min workshop + 5 min wrap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Keep the Workshop Guide open on your phone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Think · Pair · Share after each section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Everything stays available after the conference</a:t>
            </a:r>
            <a:endParaRPr/>
          </a:p>
        </p:txBody>
      </p:sp>
      <p:sp>
        <p:nvSpPr>
          <p:cNvPr id="43" name="Google Shape;43;p3"/>
          <p:cNvSpPr txBox="1"/>
          <p:nvPr/>
        </p:nvSpPr>
        <p:spPr>
          <a:xfrm>
            <a:off x="822958" y="5656579"/>
            <a:ext cx="10607044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Bookmark the Workshop Guide — share it with colleagues, use it Monday morning.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  <p:pic>
        <p:nvPicPr>
          <p:cNvPr descr="Qq7vkC6SzibZ1VU_Digital Learning Unlocked — Workshop Guide.png" id="45" name="Google Shape;4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4618" y="2747716"/>
            <a:ext cx="2153224" cy="2153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0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Objective 1 — Digital Tools</a:t>
            </a:r>
            <a:endParaRPr/>
          </a:p>
        </p:txBody>
      </p:sp>
      <p:sp>
        <p:nvSpPr>
          <p:cNvPr id="54" name="Google Shape;54;p4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Free or low-cost platforms for creating interactive content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1 · DEMO</a:t>
            </a:r>
            <a:endParaRPr/>
          </a:p>
        </p:txBody>
      </p:sp>
      <p:sp>
        <p:nvSpPr>
          <p:cNvPr id="60" name="Google Shape;60;p5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Demo: Branching Clinical Scenario</a:t>
            </a:r>
            <a:endParaRPr/>
          </a:p>
        </p:txBody>
      </p:sp>
      <p:sp>
        <p:nvSpPr>
          <p:cNvPr id="61" name="Google Shape;61;p5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Try this on your phone now</a:t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502919" y="2103120"/>
            <a:ext cx="6766561" cy="3017522"/>
          </a:xfrm>
          <a:prstGeom prst="roundRect">
            <a:avLst>
              <a:gd fmla="val 2727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822959" y="2390446"/>
            <a:ext cx="612648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WHAT IT IS</a:t>
            </a:r>
            <a:endParaRPr/>
          </a:p>
        </p:txBody>
      </p:sp>
      <p:sp>
        <p:nvSpPr>
          <p:cNvPr id="64" name="Google Shape;64;p5"/>
          <p:cNvSpPr txBox="1"/>
          <p:nvPr/>
        </p:nvSpPr>
        <p:spPr>
          <a:xfrm>
            <a:off x="868680" y="2651760"/>
            <a:ext cx="6126480" cy="171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65-year-old with acute confusion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Make decisions, see consequences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Built with H5P (free, open-source)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No programming required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Every decision is a clinical action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The reasoning path IS the assessment</a:t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7680959" y="2103120"/>
            <a:ext cx="4023362" cy="3017522"/>
          </a:xfrm>
          <a:prstGeom prst="roundRect">
            <a:avLst>
              <a:gd fmla="val 2727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8001000" y="2390446"/>
            <a:ext cx="3383280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TRY IT NOW</a:t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001000" y="2697478"/>
            <a:ext cx="3383280" cy="457202"/>
          </a:xfrm>
          <a:prstGeom prst="roundRect">
            <a:avLst>
              <a:gd fmla="val 50000" name="adj"/>
            </a:avLst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>
            <a:hlinkClick r:id="rId3"/>
          </p:cNvPr>
          <p:cNvSpPr txBox="1"/>
          <p:nvPr/>
        </p:nvSpPr>
        <p:spPr>
          <a:xfrm>
            <a:off x="8001000" y="2814657"/>
            <a:ext cx="3383280" cy="222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400"/>
              <a:buFont typeface="Calibri"/>
              <a:buNone/>
            </a:pPr>
            <a:r>
              <a:rPr b="1" i="0" lang="en-US" sz="1400" u="sng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▶  Branching Scenario Demo</a:t>
            </a:r>
            <a:endParaRPr/>
          </a:p>
        </p:txBody>
      </p:sp>
      <p:sp>
        <p:nvSpPr>
          <p:cNvPr id="69" name="Google Shape;69;p5"/>
          <p:cNvSpPr txBox="1"/>
          <p:nvPr/>
        </p:nvSpPr>
        <p:spPr>
          <a:xfrm>
            <a:off x="8001000" y="3624886"/>
            <a:ext cx="3383280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Cost to recreate: $0  ·  Time to build: ~1 hour</a:t>
            </a:r>
            <a:endParaRPr/>
          </a:p>
        </p:txBody>
      </p:sp>
      <p:sp>
        <p:nvSpPr>
          <p:cNvPr id="70" name="Google Shape;70;p5"/>
          <p:cNvSpPr txBox="1"/>
          <p:nvPr/>
        </p:nvSpPr>
        <p:spPr>
          <a:xfrm>
            <a:off x="8001000" y="4251959"/>
            <a:ext cx="3383280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F3F"/>
              </a:buClr>
              <a:buSzPts val="1200"/>
              <a:buFont typeface="Calibri"/>
              <a:buNone/>
            </a:pPr>
            <a:r>
              <a:rPr b="1" i="0" lang="en-US" sz="12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 → Section 2</a:t>
            </a:r>
            <a:endParaRPr/>
          </a:p>
        </p:txBody>
      </p:sp>
      <p:sp>
        <p:nvSpPr>
          <p:cNvPr id="71" name="Google Shape;71;p5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1 · REFERENCE</a:t>
            </a:r>
            <a:endParaRPr/>
          </a:p>
        </p:txBody>
      </p:sp>
      <p:sp>
        <p:nvSpPr>
          <p:cNvPr id="77" name="Google Shape;77;p6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Tool Reference — Content Creation</a:t>
            </a:r>
            <a:endParaRPr/>
          </a:p>
        </p:txBody>
      </p:sp>
      <p:sp>
        <p:nvSpPr>
          <p:cNvPr id="78" name="Google Shape;78;p6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Full list with pricing and links in the Workshop Guide</a:t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502919" y="5349240"/>
            <a:ext cx="11201401" cy="1005842"/>
          </a:xfrm>
          <a:prstGeom prst="roundRect">
            <a:avLst>
              <a:gd fmla="val 8182" name="adj"/>
            </a:avLst>
          </a:prstGeom>
          <a:solidFill>
            <a:srgbClr val="F8F2E5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822958" y="5667178"/>
            <a:ext cx="10607044" cy="3699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IMPORTANT  </a:t>
            </a:r>
            <a:r>
              <a:rPr b="0" i="0" lang="en-US" sz="13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Study tools (Anki, Quizlet, Brainscape) support memorization, NOT assessment. In the AI era, any assessment that asks students to select an answer can be solved by AI.</a:t>
            </a:r>
            <a:endParaRPr/>
          </a:p>
        </p:txBody>
      </p:sp>
      <p:sp>
        <p:nvSpPr>
          <p:cNvPr id="81" name="Google Shape;81;p6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4494276" y="960119"/>
            <a:ext cx="3200402" cy="658370"/>
          </a:xfrm>
          <a:prstGeom prst="roundRect">
            <a:avLst>
              <a:gd fmla="val 50000" name="adj"/>
            </a:avLst>
          </a:prstGeom>
          <a:solidFill>
            <a:srgbClr val="C99A3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 txBox="1"/>
          <p:nvPr/>
        </p:nvSpPr>
        <p:spPr>
          <a:xfrm>
            <a:off x="4494276" y="1184727"/>
            <a:ext cx="3200402" cy="2091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3538"/>
                </a:solidFill>
                <a:latin typeface="Calibri"/>
                <a:ea typeface="Calibri"/>
                <a:cs typeface="Calibri"/>
                <a:sym typeface="Calibri"/>
              </a:rPr>
              <a:t>Think · Pair · Share — 3 min</a:t>
            </a:r>
            <a:endParaRPr/>
          </a:p>
        </p:txBody>
      </p:sp>
      <p:sp>
        <p:nvSpPr>
          <p:cNvPr id="90" name="Google Shape;90;p7"/>
          <p:cNvSpPr txBox="1"/>
          <p:nvPr/>
        </p:nvSpPr>
        <p:spPr>
          <a:xfrm>
            <a:off x="640079" y="2103118"/>
            <a:ext cx="10908794" cy="457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Turn to your table group</a:t>
            </a:r>
            <a:endParaRPr/>
          </a:p>
        </p:txBody>
      </p:sp>
      <p:sp>
        <p:nvSpPr>
          <p:cNvPr id="91" name="Google Shape;91;p7"/>
          <p:cNvSpPr txBox="1"/>
          <p:nvPr/>
        </p:nvSpPr>
        <p:spPr>
          <a:xfrm>
            <a:off x="2377438" y="318033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3154679" y="3193875"/>
            <a:ext cx="7315201" cy="2416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Share one tool you already use</a:t>
            </a:r>
            <a:endParaRPr/>
          </a:p>
        </p:txBody>
      </p:sp>
      <p:sp>
        <p:nvSpPr>
          <p:cNvPr id="93" name="Google Shape;93;p7"/>
          <p:cNvSpPr txBox="1"/>
          <p:nvPr/>
        </p:nvSpPr>
        <p:spPr>
          <a:xfrm>
            <a:off x="2377438" y="4049014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94" name="Google Shape;94;p7"/>
          <p:cNvSpPr txBox="1"/>
          <p:nvPr/>
        </p:nvSpPr>
        <p:spPr>
          <a:xfrm>
            <a:off x="3154679" y="4062555"/>
            <a:ext cx="7315201" cy="2416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Share one tool from the list you're curious about</a:t>
            </a:r>
            <a:endParaRPr/>
          </a:p>
        </p:txBody>
      </p:sp>
      <p:sp>
        <p:nvSpPr>
          <p:cNvPr id="95" name="Google Shape;95;p7"/>
          <p:cNvSpPr txBox="1"/>
          <p:nvPr/>
        </p:nvSpPr>
        <p:spPr>
          <a:xfrm>
            <a:off x="2377438" y="4917692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96" name="Google Shape;96;p7"/>
          <p:cNvSpPr txBox="1"/>
          <p:nvPr/>
        </p:nvSpPr>
        <p:spPr>
          <a:xfrm>
            <a:off x="3154679" y="4931235"/>
            <a:ext cx="7315201" cy="24164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What's one educational challenge you wish you had a tool for?</a:t>
            </a:r>
            <a:endParaRPr/>
          </a:p>
        </p:txBody>
      </p:sp>
      <p:sp>
        <p:nvSpPr>
          <p:cNvPr id="97" name="Google Shape;97;p7"/>
          <p:cNvSpPr txBox="1"/>
          <p:nvPr/>
        </p:nvSpPr>
        <p:spPr>
          <a:xfrm>
            <a:off x="641603" y="6212897"/>
            <a:ext cx="10908794" cy="16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F3F"/>
              </a:buClr>
              <a:buSzPts val="1300"/>
              <a:buFont typeface="Calibri"/>
              <a:buNone/>
            </a:pPr>
            <a:r>
              <a:rPr b="1" i="0" lang="en-US" sz="13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8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8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105" name="Google Shape;105;p8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0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Objective 2 — AI Chatbots</a:t>
            </a:r>
            <a:endParaRPr/>
          </a:p>
        </p:txBody>
      </p:sp>
      <p:sp>
        <p:nvSpPr>
          <p:cNvPr id="106" name="Google Shape;106;p8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Conversational tools that generate content — and can hallucinate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9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FRAMING</a:t>
            </a:r>
            <a:endParaRPr/>
          </a:p>
        </p:txBody>
      </p:sp>
      <p:sp>
        <p:nvSpPr>
          <p:cNvPr id="112" name="Google Shape;112;p9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The Pedagogical Challenge</a:t>
            </a:r>
            <a:endParaRPr/>
          </a:p>
        </p:txBody>
      </p:sp>
      <p:sp>
        <p:nvSpPr>
          <p:cNvPr id="113" name="Google Shape;113;p9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In the AI era, we must rethink assessment</a:t>
            </a:r>
            <a:endParaRPr/>
          </a:p>
        </p:txBody>
      </p:sp>
      <p:sp>
        <p:nvSpPr>
          <p:cNvPr id="114" name="Google Shape;114;p9"/>
          <p:cNvSpPr/>
          <p:nvPr/>
        </p:nvSpPr>
        <p:spPr>
          <a:xfrm>
            <a:off x="502919" y="2103120"/>
            <a:ext cx="11201401" cy="1737362"/>
          </a:xfrm>
          <a:prstGeom prst="roundRect">
            <a:avLst>
              <a:gd fmla="val 4737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 txBox="1"/>
          <p:nvPr/>
        </p:nvSpPr>
        <p:spPr>
          <a:xfrm>
            <a:off x="822960" y="2390446"/>
            <a:ext cx="10515601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THE CORE MESSAGE</a:t>
            </a:r>
            <a:endParaRPr/>
          </a:p>
        </p:txBody>
      </p:sp>
      <p:sp>
        <p:nvSpPr>
          <p:cNvPr id="116" name="Google Shape;116;p9"/>
          <p:cNvSpPr txBox="1"/>
          <p:nvPr/>
        </p:nvSpPr>
        <p:spPr>
          <a:xfrm>
            <a:off x="822960" y="2871785"/>
            <a:ext cx="10515601" cy="65722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If we use AI to create multiple-choice quizzes, students will use AI to answer them.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That's not education — that's an arms race we've already lost.</a:t>
            </a:r>
            <a:endParaRPr/>
          </a:p>
        </p:txBody>
      </p:sp>
      <p:sp>
        <p:nvSpPr>
          <p:cNvPr id="117" name="Google Shape;117;p9"/>
          <p:cNvSpPr/>
          <p:nvPr/>
        </p:nvSpPr>
        <p:spPr>
          <a:xfrm>
            <a:off x="502919" y="4114800"/>
            <a:ext cx="11201401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9"/>
          <p:cNvSpPr txBox="1"/>
          <p:nvPr/>
        </p:nvSpPr>
        <p:spPr>
          <a:xfrm>
            <a:off x="822960" y="4340183"/>
            <a:ext cx="10515601" cy="10122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Use AI to create cognitively demanding, authentic learning experiences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that AI can't do for the student: 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simulated encounters, reflective writing,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clinical reasoning cases, formative feedback on authentic work.</a:t>
            </a:r>
            <a:endParaRPr/>
          </a:p>
        </p:txBody>
      </p:sp>
      <p:sp>
        <p:nvSpPr>
          <p:cNvPr id="119" name="Google Shape;119;p9"/>
          <p:cNvSpPr txBox="1"/>
          <p:nvPr/>
        </p:nvSpPr>
        <p:spPr>
          <a:xfrm>
            <a:off x="502918" y="6009638"/>
            <a:ext cx="11201403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900"/>
              <a:buFont typeface="Cambria"/>
              <a:buNone/>
            </a:pPr>
            <a:r>
              <a:rPr b="0" i="0" lang="en-US" sz="1900" u="none" cap="none" strike="noStrike">
                <a:solidFill>
                  <a:srgbClr val="9E7625"/>
                </a:solidFill>
                <a:latin typeface="Cambria"/>
                <a:ea typeface="Cambria"/>
                <a:cs typeface="Cambria"/>
                <a:sym typeface="Cambria"/>
              </a:rPr>
              <a:t>Use AI to build the scaffolding, not to replace the thinking.</a:t>
            </a:r>
            <a:endParaRPr/>
          </a:p>
        </p:txBody>
      </p:sp>
      <p:sp>
        <p:nvSpPr>
          <p:cNvPr id="120" name="Google Shape;120;p9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0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REFERENCE</a:t>
            </a:r>
            <a:endParaRPr/>
          </a:p>
        </p:txBody>
      </p:sp>
      <p:sp>
        <p:nvSpPr>
          <p:cNvPr id="126" name="Google Shape;126;p10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Conversational Chatbots</a:t>
            </a:r>
            <a:endParaRPr/>
          </a:p>
        </p:txBody>
      </p:sp>
      <p:sp>
        <p:nvSpPr>
          <p:cNvPr id="127" name="Google Shape;127;p10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Full list with pricing in the Workshop Guide → Section 3</a:t>
            </a:r>
            <a:endParaRPr/>
          </a:p>
        </p:txBody>
      </p:sp>
      <p:sp>
        <p:nvSpPr>
          <p:cNvPr id="128" name="Google Shape;128;p10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1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1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136" name="Google Shape;136;p11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0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Objective 2 — Grounding AI</a:t>
            </a:r>
            <a:endParaRPr/>
          </a:p>
        </p:txBody>
      </p:sp>
      <p:sp>
        <p:nvSpPr>
          <p:cNvPr id="137" name="Google Shape;137;p11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Preventing hallucinations by grounding in your source material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2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REFERENCE</a:t>
            </a:r>
            <a:endParaRPr/>
          </a:p>
        </p:txBody>
      </p:sp>
      <p:sp>
        <p:nvSpPr>
          <p:cNvPr id="143" name="Google Shape;143;p12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Data Aggregation &amp; Grounding Tools</a:t>
            </a:r>
            <a:endParaRPr/>
          </a:p>
        </p:txBody>
      </p:sp>
      <p:sp>
        <p:nvSpPr>
          <p:cNvPr id="144" name="Google Shape;144;p12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RAG without writing code</a:t>
            </a:r>
            <a:endParaRPr/>
          </a:p>
        </p:txBody>
      </p:sp>
      <p:sp>
        <p:nvSpPr>
          <p:cNvPr id="145" name="Google Shape;145;p12"/>
          <p:cNvSpPr/>
          <p:nvPr/>
        </p:nvSpPr>
        <p:spPr>
          <a:xfrm>
            <a:off x="502919" y="2011678"/>
            <a:ext cx="11201401" cy="2011683"/>
          </a:xfrm>
          <a:prstGeom prst="roundRect">
            <a:avLst>
              <a:gd fmla="val 4091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2"/>
          <p:cNvSpPr txBox="1"/>
          <p:nvPr/>
        </p:nvSpPr>
        <p:spPr>
          <a:xfrm>
            <a:off x="822960" y="2253287"/>
            <a:ext cx="10515601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THE MOST IMPORTANT TOOL IN THIS SESSION</a:t>
            </a:r>
            <a:endParaRPr/>
          </a:p>
        </p:txBody>
      </p:sp>
      <p:sp>
        <p:nvSpPr>
          <p:cNvPr id="147" name="Google Shape;147;p12"/>
          <p:cNvSpPr txBox="1"/>
          <p:nvPr/>
        </p:nvSpPr>
        <p:spPr>
          <a:xfrm>
            <a:off x="822960" y="2560827"/>
            <a:ext cx="10515601" cy="3556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mbria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Google NotebookLM — FREE</a:t>
            </a:r>
            <a:endParaRPr/>
          </a:p>
        </p:txBody>
      </p:sp>
      <p:sp>
        <p:nvSpPr>
          <p:cNvPr id="148" name="Google Shape;148;p12"/>
          <p:cNvSpPr txBox="1"/>
          <p:nvPr/>
        </p:nvSpPr>
        <p:spPr>
          <a:xfrm>
            <a:off x="868680" y="3017520"/>
            <a:ext cx="10424160" cy="748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DEB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DCEDEB"/>
                </a:solidFill>
                <a:latin typeface="Calibri"/>
                <a:ea typeface="Calibri"/>
                <a:cs typeface="Calibri"/>
                <a:sym typeface="Calibri"/>
              </a:rPr>
              <a:t>Upload your source documents → AI responses grounded ONLY in what you uploaded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CEDEB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DCEDEB"/>
                </a:solidFill>
                <a:latin typeface="Calibri"/>
                <a:ea typeface="Calibri"/>
                <a:cs typeface="Calibri"/>
                <a:sym typeface="Calibri"/>
              </a:rPr>
              <a:t>If the answer isn't in your documents, it says so. Zero hallucination risk.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CEDEB"/>
              </a:buClr>
              <a:buSzPts val="1400"/>
              <a:buFont typeface="Calibri"/>
              <a:buChar char="•"/>
            </a:pPr>
            <a:r>
              <a:rPr b="0" i="0" lang="en-US" sz="1400" u="none" cap="none" strike="noStrike">
                <a:solidFill>
                  <a:srgbClr val="DCEDEB"/>
                </a:solidFill>
                <a:latin typeface="Calibri"/>
                <a:ea typeface="Calibri"/>
                <a:cs typeface="Calibri"/>
                <a:sym typeface="Calibri"/>
              </a:rPr>
              <a:t>Generates study guides, FAQs, and audio podcast discussions</a:t>
            </a:r>
            <a:endParaRPr/>
          </a:p>
        </p:txBody>
      </p:sp>
      <p:sp>
        <p:nvSpPr>
          <p:cNvPr id="149" name="Google Shape;149;p12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WORKFLOW</a:t>
            </a:r>
            <a:endParaRPr/>
          </a:p>
        </p:txBody>
      </p:sp>
      <p:sp>
        <p:nvSpPr>
          <p:cNvPr id="155" name="Google Shape;155;p13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The Grounded AI Workflow — No Code Required</a:t>
            </a:r>
            <a:endParaRPr/>
          </a:p>
        </p:txBody>
      </p:sp>
      <p:sp>
        <p:nvSpPr>
          <p:cNvPr id="156" name="Google Shape;156;p13"/>
          <p:cNvSpPr/>
          <p:nvPr/>
        </p:nvSpPr>
        <p:spPr>
          <a:xfrm>
            <a:off x="502919" y="2103120"/>
            <a:ext cx="2093979" cy="3383280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3"/>
          <p:cNvSpPr txBox="1"/>
          <p:nvPr/>
        </p:nvSpPr>
        <p:spPr>
          <a:xfrm>
            <a:off x="1248155" y="2576828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158" name="Google Shape;158;p13"/>
          <p:cNvSpPr txBox="1"/>
          <p:nvPr/>
        </p:nvSpPr>
        <p:spPr>
          <a:xfrm>
            <a:off x="502919" y="3272788"/>
            <a:ext cx="2093979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Prepare</a:t>
            </a:r>
            <a:endParaRPr/>
          </a:p>
        </p:txBody>
      </p:sp>
      <p:sp>
        <p:nvSpPr>
          <p:cNvPr id="159" name="Google Shape;159;p13"/>
          <p:cNvSpPr txBox="1"/>
          <p:nvPr/>
        </p:nvSpPr>
        <p:spPr>
          <a:xfrm>
            <a:off x="612646" y="3657598"/>
            <a:ext cx="1874524" cy="584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Gather your source material: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guidelines, case notes,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articles, lecture slides</a:t>
            </a:r>
            <a:endParaRPr/>
          </a:p>
        </p:txBody>
      </p:sp>
      <p:sp>
        <p:nvSpPr>
          <p:cNvPr id="160" name="Google Shape;160;p13"/>
          <p:cNvSpPr/>
          <p:nvPr/>
        </p:nvSpPr>
        <p:spPr>
          <a:xfrm>
            <a:off x="2779776" y="2103120"/>
            <a:ext cx="2093978" cy="3383280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3"/>
          <p:cNvSpPr txBox="1"/>
          <p:nvPr/>
        </p:nvSpPr>
        <p:spPr>
          <a:xfrm>
            <a:off x="3525010" y="2576828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162" name="Google Shape;162;p13"/>
          <p:cNvSpPr txBox="1"/>
          <p:nvPr/>
        </p:nvSpPr>
        <p:spPr>
          <a:xfrm>
            <a:off x="2779776" y="3272788"/>
            <a:ext cx="2093978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Upload</a:t>
            </a:r>
            <a:endParaRPr/>
          </a:p>
        </p:txBody>
      </p:sp>
      <p:sp>
        <p:nvSpPr>
          <p:cNvPr id="163" name="Google Shape;163;p13"/>
          <p:cNvSpPr txBox="1"/>
          <p:nvPr/>
        </p:nvSpPr>
        <p:spPr>
          <a:xfrm>
            <a:off x="2889504" y="3657598"/>
            <a:ext cx="1874522" cy="584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Upload to NotebookLM (free)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or ChatGPT/Claude with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file upload</a:t>
            </a:r>
            <a:endParaRPr/>
          </a:p>
        </p:txBody>
      </p:sp>
      <p:sp>
        <p:nvSpPr>
          <p:cNvPr id="164" name="Google Shape;164;p13"/>
          <p:cNvSpPr/>
          <p:nvPr/>
        </p:nvSpPr>
        <p:spPr>
          <a:xfrm>
            <a:off x="5056632" y="2103120"/>
            <a:ext cx="2093978" cy="3383280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3"/>
          <p:cNvSpPr txBox="1"/>
          <p:nvPr/>
        </p:nvSpPr>
        <p:spPr>
          <a:xfrm>
            <a:off x="5801867" y="2576828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166" name="Google Shape;166;p13"/>
          <p:cNvSpPr txBox="1"/>
          <p:nvPr/>
        </p:nvSpPr>
        <p:spPr>
          <a:xfrm>
            <a:off x="5056632" y="3272788"/>
            <a:ext cx="2093978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Ground</a:t>
            </a:r>
            <a:endParaRPr/>
          </a:p>
        </p:txBody>
      </p:sp>
      <p:sp>
        <p:nvSpPr>
          <p:cNvPr id="167" name="Google Shape;167;p13"/>
          <p:cNvSpPr txBox="1"/>
          <p:nvPr/>
        </p:nvSpPr>
        <p:spPr>
          <a:xfrm>
            <a:off x="5166359" y="3657598"/>
            <a:ext cx="1874522" cy="584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Add this instruction: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"Base your response only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on the attached documents"</a:t>
            </a:r>
            <a:endParaRPr/>
          </a:p>
        </p:txBody>
      </p:sp>
      <p:sp>
        <p:nvSpPr>
          <p:cNvPr id="168" name="Google Shape;168;p13"/>
          <p:cNvSpPr/>
          <p:nvPr/>
        </p:nvSpPr>
        <p:spPr>
          <a:xfrm>
            <a:off x="7333488" y="2103120"/>
            <a:ext cx="2093978" cy="3383280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8078723" y="2576828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170" name="Google Shape;170;p13"/>
          <p:cNvSpPr txBox="1"/>
          <p:nvPr/>
        </p:nvSpPr>
        <p:spPr>
          <a:xfrm>
            <a:off x="7333487" y="3272788"/>
            <a:ext cx="2093979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Verify</a:t>
            </a:r>
            <a:endParaRPr/>
          </a:p>
        </p:txBody>
      </p:sp>
      <p:sp>
        <p:nvSpPr>
          <p:cNvPr id="171" name="Google Shape;171;p13"/>
          <p:cNvSpPr txBox="1"/>
          <p:nvPr/>
        </p:nvSpPr>
        <p:spPr>
          <a:xfrm>
            <a:off x="7443216" y="3657598"/>
            <a:ext cx="1874522" cy="584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Spot-check lab values,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drug dosages, clinical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facts against your source</a:t>
            </a:r>
            <a:endParaRPr/>
          </a:p>
        </p:txBody>
      </p:sp>
      <p:sp>
        <p:nvSpPr>
          <p:cNvPr id="172" name="Google Shape;172;p13"/>
          <p:cNvSpPr/>
          <p:nvPr/>
        </p:nvSpPr>
        <p:spPr>
          <a:xfrm>
            <a:off x="9610342" y="2103120"/>
            <a:ext cx="2093978" cy="3383280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3"/>
          <p:cNvSpPr txBox="1"/>
          <p:nvPr/>
        </p:nvSpPr>
        <p:spPr>
          <a:xfrm>
            <a:off x="10355580" y="2576828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/>
          </a:p>
        </p:txBody>
      </p:sp>
      <p:sp>
        <p:nvSpPr>
          <p:cNvPr id="174" name="Google Shape;174;p13"/>
          <p:cNvSpPr txBox="1"/>
          <p:nvPr/>
        </p:nvSpPr>
        <p:spPr>
          <a:xfrm>
            <a:off x="9610342" y="3272788"/>
            <a:ext cx="2093978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Reuse</a:t>
            </a:r>
            <a:endParaRPr/>
          </a:p>
        </p:txBody>
      </p:sp>
      <p:sp>
        <p:nvSpPr>
          <p:cNvPr id="175" name="Google Shape;175;p13"/>
          <p:cNvSpPr txBox="1"/>
          <p:nvPr/>
        </p:nvSpPr>
        <p:spPr>
          <a:xfrm>
            <a:off x="9720071" y="3657598"/>
            <a:ext cx="1874522" cy="5849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Save the notebook.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It becomes your personal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AI case library</a:t>
            </a:r>
            <a:endParaRPr/>
          </a:p>
        </p:txBody>
      </p:sp>
      <p:sp>
        <p:nvSpPr>
          <p:cNvPr id="176" name="Google Shape;176;p13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4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DEMO</a:t>
            </a:r>
            <a:endParaRPr/>
          </a:p>
        </p:txBody>
      </p:sp>
      <p:sp>
        <p:nvSpPr>
          <p:cNvPr id="182" name="Google Shape;182;p14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Live Demo: NotebookLM Grounding</a:t>
            </a:r>
            <a:endParaRPr/>
          </a:p>
        </p:txBody>
      </p:sp>
      <p:sp>
        <p:nvSpPr>
          <p:cNvPr id="183" name="Google Shape;183;p14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Show the problem, then the solution</a:t>
            </a:r>
            <a:endParaRPr/>
          </a:p>
        </p:txBody>
      </p:sp>
      <p:sp>
        <p:nvSpPr>
          <p:cNvPr id="184" name="Google Shape;184;p14"/>
          <p:cNvSpPr/>
          <p:nvPr/>
        </p:nvSpPr>
        <p:spPr>
          <a:xfrm>
            <a:off x="502919" y="2103120"/>
            <a:ext cx="6766561" cy="3749042"/>
          </a:xfrm>
          <a:prstGeom prst="roundRect">
            <a:avLst>
              <a:gd fmla="val 2195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4"/>
          <p:cNvSpPr txBox="1"/>
          <p:nvPr/>
        </p:nvSpPr>
        <p:spPr>
          <a:xfrm>
            <a:off x="822959" y="2390446"/>
            <a:ext cx="612648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DEMO SCRIPT</a:t>
            </a:r>
            <a:endParaRPr/>
          </a:p>
        </p:txBody>
      </p:sp>
      <p:sp>
        <p:nvSpPr>
          <p:cNvPr id="186" name="Google Shape;186;p14"/>
          <p:cNvSpPr txBox="1"/>
          <p:nvPr/>
        </p:nvSpPr>
        <p:spPr>
          <a:xfrm>
            <a:off x="868680" y="2697478"/>
            <a:ext cx="6126480" cy="15176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1. ChatGPT WITHOUT sources → show hallucination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2. Open NotebookLM with pericarditis guidelines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3. Same question → grounded, cited response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4. Generate clinical reasoning exercise + rubric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5. Audio Overview (podcast) — play 15 seconds</a:t>
            </a:r>
            <a:endParaRPr/>
          </a:p>
        </p:txBody>
      </p:sp>
      <p:sp>
        <p:nvSpPr>
          <p:cNvPr id="187" name="Google Shape;187;p14"/>
          <p:cNvSpPr/>
          <p:nvPr/>
        </p:nvSpPr>
        <p:spPr>
          <a:xfrm>
            <a:off x="7680959" y="2103120"/>
            <a:ext cx="4023362" cy="3749042"/>
          </a:xfrm>
          <a:prstGeom prst="roundRect">
            <a:avLst>
              <a:gd fmla="val 2195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4"/>
          <p:cNvSpPr txBox="1"/>
          <p:nvPr/>
        </p:nvSpPr>
        <p:spPr>
          <a:xfrm>
            <a:off x="8001000" y="2390446"/>
            <a:ext cx="3383280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OPEN NOW</a:t>
            </a:r>
            <a:endParaRPr/>
          </a:p>
        </p:txBody>
      </p:sp>
      <p:sp>
        <p:nvSpPr>
          <p:cNvPr id="189" name="Google Shape;189;p14"/>
          <p:cNvSpPr/>
          <p:nvPr/>
        </p:nvSpPr>
        <p:spPr>
          <a:xfrm>
            <a:off x="8001000" y="2697478"/>
            <a:ext cx="3383280" cy="457202"/>
          </a:xfrm>
          <a:prstGeom prst="roundRect">
            <a:avLst>
              <a:gd fmla="val 50000" name="adj"/>
            </a:avLst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4"/>
          <p:cNvSpPr txBox="1"/>
          <p:nvPr/>
        </p:nvSpPr>
        <p:spPr>
          <a:xfrm>
            <a:off x="8001000" y="2814657"/>
            <a:ext cx="3383280" cy="222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1400"/>
              <a:buFont typeface="Calibri"/>
              <a:buNone/>
            </a:pPr>
            <a:r>
              <a:rPr b="1" i="0" lang="en-US" sz="1400" u="sng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▶  NotebookLM</a:t>
            </a:r>
            <a:endParaRPr/>
          </a:p>
        </p:txBody>
      </p:sp>
      <p:sp>
        <p:nvSpPr>
          <p:cNvPr id="191" name="Google Shape;191;p14">
            <a:hlinkClick r:id="rId4"/>
          </p:cNvPr>
          <p:cNvSpPr txBox="1"/>
          <p:nvPr/>
        </p:nvSpPr>
        <p:spPr>
          <a:xfrm>
            <a:off x="8001000" y="3579167"/>
            <a:ext cx="3383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F3F"/>
              </a:buClr>
              <a:buSzPts val="1200"/>
              <a:buFont typeface="Calibri"/>
              <a:buNone/>
            </a:pPr>
            <a:r>
              <a:rPr b="1" i="0" lang="en-US" sz="12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 → Section 4 (prompts)</a:t>
            </a:r>
            <a:endParaRPr>
              <a:solidFill>
                <a:srgbClr val="FFCF3F"/>
              </a:solidFill>
            </a:endParaRPr>
          </a:p>
        </p:txBody>
      </p:sp>
      <p:sp>
        <p:nvSpPr>
          <p:cNvPr id="192" name="Google Shape;192;p14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5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2 · TRY IT</a:t>
            </a:r>
            <a:endParaRPr/>
          </a:p>
        </p:txBody>
      </p:sp>
      <p:sp>
        <p:nvSpPr>
          <p:cNvPr id="198" name="Google Shape;198;p15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Copy-Paste Prompt Templates</a:t>
            </a:r>
            <a:endParaRPr/>
          </a:p>
        </p:txBody>
      </p:sp>
      <p:sp>
        <p:nvSpPr>
          <p:cNvPr id="199" name="Google Shape;199;p15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Try these now — in the Workshop Guide → Section 4</a:t>
            </a:r>
            <a:endParaRPr/>
          </a:p>
        </p:txBody>
      </p:sp>
      <p:sp>
        <p:nvSpPr>
          <p:cNvPr id="200" name="Google Shape;200;p15"/>
          <p:cNvSpPr/>
          <p:nvPr/>
        </p:nvSpPr>
        <p:spPr>
          <a:xfrm>
            <a:off x="502919" y="2148838"/>
            <a:ext cx="5413250" cy="1828802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>
            <a:off x="822959" y="2436167"/>
            <a:ext cx="475488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PROMPT 1</a:t>
            </a:r>
            <a:endParaRPr/>
          </a:p>
        </p:txBody>
      </p:sp>
      <p:sp>
        <p:nvSpPr>
          <p:cNvPr id="202" name="Google Shape;202;p15"/>
          <p:cNvSpPr txBox="1"/>
          <p:nvPr/>
        </p:nvSpPr>
        <p:spPr>
          <a:xfrm>
            <a:off x="822959" y="2884170"/>
            <a:ext cx="4754883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Grounded Clinical Reasoning Case</a:t>
            </a:r>
            <a:endParaRPr/>
          </a:p>
        </p:txBody>
      </p:sp>
      <p:sp>
        <p:nvSpPr>
          <p:cNvPr id="203" name="Google Shape;203;p15"/>
          <p:cNvSpPr txBox="1"/>
          <p:nvPr/>
        </p:nvSpPr>
        <p:spPr>
          <a:xfrm>
            <a:off x="822959" y="3574219"/>
            <a:ext cx="4754883" cy="166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For NotebookLM or ChatGPT with file upload</a:t>
            </a:r>
            <a:endParaRPr/>
          </a:p>
        </p:txBody>
      </p:sp>
      <p:sp>
        <p:nvSpPr>
          <p:cNvPr id="204" name="Google Shape;204;p15"/>
          <p:cNvSpPr/>
          <p:nvPr/>
        </p:nvSpPr>
        <p:spPr>
          <a:xfrm>
            <a:off x="6281928" y="2148838"/>
            <a:ext cx="5413250" cy="1828802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5"/>
          <p:cNvSpPr txBox="1"/>
          <p:nvPr/>
        </p:nvSpPr>
        <p:spPr>
          <a:xfrm>
            <a:off x="6601968" y="2436167"/>
            <a:ext cx="4754882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PROMPT 2</a:t>
            </a:r>
            <a:endParaRPr/>
          </a:p>
        </p:txBody>
      </p:sp>
      <p:sp>
        <p:nvSpPr>
          <p:cNvPr id="206" name="Google Shape;206;p15"/>
          <p:cNvSpPr txBox="1"/>
          <p:nvPr/>
        </p:nvSpPr>
        <p:spPr>
          <a:xfrm>
            <a:off x="6601968" y="2884170"/>
            <a:ext cx="4754882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Simulated Patient Encounter</a:t>
            </a:r>
            <a:endParaRPr/>
          </a:p>
        </p:txBody>
      </p:sp>
      <p:sp>
        <p:nvSpPr>
          <p:cNvPr id="207" name="Google Shape;207;p15"/>
          <p:cNvSpPr txBox="1"/>
          <p:nvPr/>
        </p:nvSpPr>
        <p:spPr>
          <a:xfrm>
            <a:off x="6601968" y="3574219"/>
            <a:ext cx="4754882" cy="166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For ChatGPT voice mode or Claude</a:t>
            </a:r>
            <a:endParaRPr/>
          </a:p>
        </p:txBody>
      </p:sp>
      <p:sp>
        <p:nvSpPr>
          <p:cNvPr id="208" name="Google Shape;208;p15"/>
          <p:cNvSpPr/>
          <p:nvPr/>
        </p:nvSpPr>
        <p:spPr>
          <a:xfrm>
            <a:off x="502919" y="4206240"/>
            <a:ext cx="5413250" cy="1828802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5"/>
          <p:cNvSpPr txBox="1"/>
          <p:nvPr/>
        </p:nvSpPr>
        <p:spPr>
          <a:xfrm>
            <a:off x="822959" y="4493567"/>
            <a:ext cx="475488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PROMPT 3</a:t>
            </a:r>
            <a:endParaRPr/>
          </a:p>
        </p:txBody>
      </p:sp>
      <p:sp>
        <p:nvSpPr>
          <p:cNvPr id="210" name="Google Shape;210;p15"/>
          <p:cNvSpPr txBox="1"/>
          <p:nvPr/>
        </p:nvSpPr>
        <p:spPr>
          <a:xfrm>
            <a:off x="822959" y="4941568"/>
            <a:ext cx="4754883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Structured Feedback Rubric</a:t>
            </a:r>
            <a:endParaRPr/>
          </a:p>
        </p:txBody>
      </p:sp>
      <p:sp>
        <p:nvSpPr>
          <p:cNvPr id="211" name="Google Shape;211;p15"/>
          <p:cNvSpPr txBox="1"/>
          <p:nvPr/>
        </p:nvSpPr>
        <p:spPr>
          <a:xfrm>
            <a:off x="822959" y="5631619"/>
            <a:ext cx="4754883" cy="166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Evaluates reasoning, not just answers</a:t>
            </a:r>
            <a:endParaRPr/>
          </a:p>
        </p:txBody>
      </p:sp>
      <p:sp>
        <p:nvSpPr>
          <p:cNvPr id="212" name="Google Shape;212;p15"/>
          <p:cNvSpPr/>
          <p:nvPr/>
        </p:nvSpPr>
        <p:spPr>
          <a:xfrm>
            <a:off x="6281928" y="4206240"/>
            <a:ext cx="5413250" cy="1828802"/>
          </a:xfrm>
          <a:prstGeom prst="roundRect">
            <a:avLst>
              <a:gd fmla="val 450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5"/>
          <p:cNvSpPr txBox="1"/>
          <p:nvPr/>
        </p:nvSpPr>
        <p:spPr>
          <a:xfrm>
            <a:off x="6601968" y="4493567"/>
            <a:ext cx="4754882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PROMPT 4</a:t>
            </a:r>
            <a:endParaRPr/>
          </a:p>
        </p:txBody>
      </p:sp>
      <p:sp>
        <p:nvSpPr>
          <p:cNvPr id="214" name="Google Shape;214;p15"/>
          <p:cNvSpPr txBox="1"/>
          <p:nvPr/>
        </p:nvSpPr>
        <p:spPr>
          <a:xfrm>
            <a:off x="6601968" y="4941568"/>
            <a:ext cx="4754882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Reflective Writing Prompts</a:t>
            </a:r>
            <a:endParaRPr/>
          </a:p>
        </p:txBody>
      </p:sp>
      <p:sp>
        <p:nvSpPr>
          <p:cNvPr id="215" name="Google Shape;215;p15"/>
          <p:cNvSpPr txBox="1"/>
          <p:nvPr/>
        </p:nvSpPr>
        <p:spPr>
          <a:xfrm>
            <a:off x="6601968" y="5631619"/>
            <a:ext cx="4754882" cy="166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Creates prompts AI can't answer</a:t>
            </a:r>
            <a:endParaRPr/>
          </a:p>
        </p:txBody>
      </p:sp>
      <p:sp>
        <p:nvSpPr>
          <p:cNvPr id="216" name="Google Shape;216;p15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6"/>
          <p:cNvSpPr/>
          <p:nvPr/>
        </p:nvSpPr>
        <p:spPr>
          <a:xfrm rot="719965">
            <a:off x="6703981" y="-904957"/>
            <a:ext cx="12188932" cy="868671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4494276" y="960119"/>
            <a:ext cx="3200402" cy="658370"/>
          </a:xfrm>
          <a:prstGeom prst="roundRect">
            <a:avLst>
              <a:gd fmla="val 50000" name="adj"/>
            </a:avLst>
          </a:prstGeom>
          <a:solidFill>
            <a:srgbClr val="C99A3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 txBox="1"/>
          <p:nvPr/>
        </p:nvSpPr>
        <p:spPr>
          <a:xfrm>
            <a:off x="4494276" y="1184727"/>
            <a:ext cx="3200402" cy="2091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3538"/>
                </a:solidFill>
                <a:latin typeface="Calibri"/>
                <a:ea typeface="Calibri"/>
                <a:cs typeface="Calibri"/>
                <a:sym typeface="Calibri"/>
              </a:rPr>
              <a:t>Think · Pair · Share — 3 min</a:t>
            </a:r>
            <a:endParaRPr/>
          </a:p>
        </p:txBody>
      </p:sp>
      <p:sp>
        <p:nvSpPr>
          <p:cNvPr id="225" name="Google Shape;225;p16"/>
          <p:cNvSpPr txBox="1"/>
          <p:nvPr/>
        </p:nvSpPr>
        <p:spPr>
          <a:xfrm>
            <a:off x="640079" y="2103118"/>
            <a:ext cx="10908794" cy="457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Try it now</a:t>
            </a:r>
            <a:endParaRPr/>
          </a:p>
        </p:txBody>
      </p:sp>
      <p:sp>
        <p:nvSpPr>
          <p:cNvPr id="226" name="Google Shape;226;p16"/>
          <p:cNvSpPr txBox="1"/>
          <p:nvPr/>
        </p:nvSpPr>
        <p:spPr>
          <a:xfrm>
            <a:off x="1920238" y="299745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227" name="Google Shape;227;p16"/>
          <p:cNvSpPr txBox="1"/>
          <p:nvPr/>
        </p:nvSpPr>
        <p:spPr>
          <a:xfrm>
            <a:off x="2697480" y="3022294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 your phone, open ChatGPT, Claude, or Gemini (all free)</a:t>
            </a:r>
            <a:endParaRPr/>
          </a:p>
        </p:txBody>
      </p:sp>
      <p:sp>
        <p:nvSpPr>
          <p:cNvPr id="228" name="Google Shape;228;p16"/>
          <p:cNvSpPr txBox="1"/>
          <p:nvPr/>
        </p:nvSpPr>
        <p:spPr>
          <a:xfrm>
            <a:off x="1920238" y="3774692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229" name="Google Shape;229;p16"/>
          <p:cNvSpPr txBox="1"/>
          <p:nvPr/>
        </p:nvSpPr>
        <p:spPr>
          <a:xfrm>
            <a:off x="2697480" y="3799533"/>
            <a:ext cx="8503920" cy="2190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Copy and paste Prompt #1 or #2 from the Workshop Guide</a:t>
            </a:r>
            <a:endParaRPr/>
          </a:p>
        </p:txBody>
      </p:sp>
      <p:sp>
        <p:nvSpPr>
          <p:cNvPr id="230" name="Google Shape;230;p16"/>
          <p:cNvSpPr txBox="1"/>
          <p:nvPr/>
        </p:nvSpPr>
        <p:spPr>
          <a:xfrm>
            <a:off x="1920238" y="4551934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231" name="Google Shape;231;p16"/>
          <p:cNvSpPr txBox="1"/>
          <p:nvPr/>
        </p:nvSpPr>
        <p:spPr>
          <a:xfrm>
            <a:off x="2697480" y="4576774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If you have a clinical guideline, upload it first</a:t>
            </a:r>
            <a:endParaRPr/>
          </a:p>
        </p:txBody>
      </p:sp>
      <p:sp>
        <p:nvSpPr>
          <p:cNvPr id="232" name="Google Shape;232;p16"/>
          <p:cNvSpPr txBox="1"/>
          <p:nvPr/>
        </p:nvSpPr>
        <p:spPr>
          <a:xfrm>
            <a:off x="1920238" y="532917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233" name="Google Shape;233;p16"/>
          <p:cNvSpPr txBox="1"/>
          <p:nvPr/>
        </p:nvSpPr>
        <p:spPr>
          <a:xfrm>
            <a:off x="2697480" y="5354015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Share with your table — what worked? What surprised you?</a:t>
            </a:r>
            <a:endParaRPr/>
          </a:p>
        </p:txBody>
      </p:sp>
      <p:sp>
        <p:nvSpPr>
          <p:cNvPr id="234" name="Google Shape;234;p16"/>
          <p:cNvSpPr txBox="1"/>
          <p:nvPr/>
        </p:nvSpPr>
        <p:spPr>
          <a:xfrm>
            <a:off x="640079" y="6363139"/>
            <a:ext cx="10908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300"/>
              <a:buFont typeface="Calibri"/>
              <a:buNone/>
            </a:pPr>
            <a:r>
              <a:rPr b="1" i="0" lang="en-US" sz="13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</a:t>
            </a:r>
            <a:endParaRPr>
              <a:solidFill>
                <a:srgbClr val="FFCF3F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7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7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/>
          </a:p>
        </p:txBody>
      </p:sp>
      <p:sp>
        <p:nvSpPr>
          <p:cNvPr id="242" name="Google Shape;242;p17"/>
          <p:cNvSpPr txBox="1"/>
          <p:nvPr/>
        </p:nvSpPr>
        <p:spPr>
          <a:xfrm>
            <a:off x="2194560" y="1607819"/>
            <a:ext cx="9052560" cy="533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Objective 3 — Simulation Spectrum</a:t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Match the technology to the learning goal — from text to VR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8"/>
          <p:cNvSpPr txBox="1"/>
          <p:nvPr/>
        </p:nvSpPr>
        <p:spPr>
          <a:xfrm>
            <a:off x="502918" y="47935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FRAMING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502919" y="843278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A Clinician's Perspective on Simulation</a:t>
            </a:r>
            <a:endParaRPr/>
          </a:p>
        </p:txBody>
      </p:sp>
      <p:sp>
        <p:nvSpPr>
          <p:cNvPr id="250" name="Google Shape;250;p18"/>
          <p:cNvSpPr/>
          <p:nvPr/>
        </p:nvSpPr>
        <p:spPr>
          <a:xfrm>
            <a:off x="502919" y="1920238"/>
            <a:ext cx="11201401" cy="3931924"/>
          </a:xfrm>
          <a:prstGeom prst="roundRect">
            <a:avLst>
              <a:gd fmla="val 2093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8"/>
          <p:cNvSpPr txBox="1"/>
          <p:nvPr/>
        </p:nvSpPr>
        <p:spPr>
          <a:xfrm>
            <a:off x="914400" y="2299006"/>
            <a:ext cx="10515600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FROM THE TRENCHES</a:t>
            </a:r>
            <a:endParaRPr/>
          </a:p>
        </p:txBody>
      </p:sp>
      <p:sp>
        <p:nvSpPr>
          <p:cNvPr id="252" name="Google Shape;252;p18"/>
          <p:cNvSpPr txBox="1"/>
          <p:nvPr/>
        </p:nvSpPr>
        <p:spPr>
          <a:xfrm>
            <a:off x="914399" y="2729228"/>
            <a:ext cx="10332723" cy="393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mbria"/>
              <a:buNone/>
            </a:pPr>
            <a:r>
              <a:rPr b="0" i="0" lang="en-US" sz="2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Immersion doesn't require a headset.</a:t>
            </a:r>
            <a:endParaRPr/>
          </a:p>
        </p:txBody>
      </p:sp>
      <p:sp>
        <p:nvSpPr>
          <p:cNvPr id="253" name="Google Shape;253;p18"/>
          <p:cNvSpPr txBox="1"/>
          <p:nvPr/>
        </p:nvSpPr>
        <p:spPr>
          <a:xfrm>
            <a:off x="914399" y="3793347"/>
            <a:ext cx="10241282" cy="5514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CEDEB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DCEDEB"/>
                </a:solidFill>
                <a:latin typeface="Calibri"/>
                <a:ea typeface="Calibri"/>
                <a:cs typeface="Calibri"/>
                <a:sym typeface="Calibri"/>
              </a:rPr>
              <a:t>A well-designed text-and-audio case — where a learner interviews a patient, orders labs, interprets an ECG, and builds a differential — can teach clinical reasoning as effectively as a $500 VR setup.</a:t>
            </a:r>
            <a:endParaRPr/>
          </a:p>
        </p:txBody>
      </p:sp>
      <p:sp>
        <p:nvSpPr>
          <p:cNvPr id="254" name="Google Shape;254;p18"/>
          <p:cNvSpPr txBox="1"/>
          <p:nvPr/>
        </p:nvSpPr>
        <p:spPr>
          <a:xfrm>
            <a:off x="914399" y="5124448"/>
            <a:ext cx="10241282" cy="266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800"/>
              <a:buFont typeface="Cambria"/>
              <a:buNone/>
            </a:pPr>
            <a:r>
              <a:rPr b="0" i="0" lang="en-US" sz="18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What matters is the thinking the learner does, not the fidelity of the interface.</a:t>
            </a:r>
            <a:endParaRPr/>
          </a:p>
        </p:txBody>
      </p:sp>
      <p:sp>
        <p:nvSpPr>
          <p:cNvPr id="255" name="Google Shape;255;p18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9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SPECTRUM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The Fidelity Spectrum</a:t>
            </a:r>
            <a:endParaRPr/>
          </a:p>
        </p:txBody>
      </p:sp>
      <p:sp>
        <p:nvSpPr>
          <p:cNvPr id="262" name="Google Shape;262;p19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The most expensive simulation is not the best simulation</a:t>
            </a:r>
            <a:endParaRPr/>
          </a:p>
        </p:txBody>
      </p:sp>
      <p:sp>
        <p:nvSpPr>
          <p:cNvPr id="263" name="Google Shape;263;p19"/>
          <p:cNvSpPr/>
          <p:nvPr/>
        </p:nvSpPr>
        <p:spPr>
          <a:xfrm>
            <a:off x="502919" y="2148838"/>
            <a:ext cx="2093979" cy="3566162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/>
          <p:nvPr/>
        </p:nvSpPr>
        <p:spPr>
          <a:xfrm>
            <a:off x="502919" y="2148838"/>
            <a:ext cx="2093979" cy="109730"/>
          </a:xfrm>
          <a:prstGeom prst="rect">
            <a:avLst/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9"/>
          <p:cNvSpPr txBox="1"/>
          <p:nvPr/>
        </p:nvSpPr>
        <p:spPr>
          <a:xfrm>
            <a:off x="640080" y="2488613"/>
            <a:ext cx="1819657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LEVEL 1</a:t>
            </a:r>
            <a:endParaRPr/>
          </a:p>
        </p:txBody>
      </p:sp>
      <p:sp>
        <p:nvSpPr>
          <p:cNvPr id="266" name="Google Shape;266;p19"/>
          <p:cNvSpPr txBox="1"/>
          <p:nvPr/>
        </p:nvSpPr>
        <p:spPr>
          <a:xfrm>
            <a:off x="640080" y="3004818"/>
            <a:ext cx="1819657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Text &amp; Audio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640080" y="3659044"/>
            <a:ext cx="1819657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Free — $20/mo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640080" y="3977640"/>
            <a:ext cx="1819657" cy="326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Interview, labs, differential, images</a:t>
            </a:r>
            <a:endParaRPr/>
          </a:p>
        </p:txBody>
      </p:sp>
      <p:sp>
        <p:nvSpPr>
          <p:cNvPr id="269" name="Google Shape;269;p19"/>
          <p:cNvSpPr/>
          <p:nvPr/>
        </p:nvSpPr>
        <p:spPr>
          <a:xfrm>
            <a:off x="2779776" y="2148838"/>
            <a:ext cx="2093978" cy="3566162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9"/>
          <p:cNvSpPr/>
          <p:nvPr/>
        </p:nvSpPr>
        <p:spPr>
          <a:xfrm>
            <a:off x="2779776" y="2148838"/>
            <a:ext cx="2093978" cy="109730"/>
          </a:xfrm>
          <a:prstGeom prst="rect">
            <a:avLst/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9"/>
          <p:cNvSpPr txBox="1"/>
          <p:nvPr/>
        </p:nvSpPr>
        <p:spPr>
          <a:xfrm>
            <a:off x="2916934" y="2488613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LEVEL 2</a:t>
            </a:r>
            <a:endParaRPr/>
          </a:p>
        </p:txBody>
      </p:sp>
      <p:sp>
        <p:nvSpPr>
          <p:cNvPr id="272" name="Google Shape;272;p19"/>
          <p:cNvSpPr txBox="1"/>
          <p:nvPr/>
        </p:nvSpPr>
        <p:spPr>
          <a:xfrm>
            <a:off x="2916934" y="3004818"/>
            <a:ext cx="1819658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Image-Based</a:t>
            </a:r>
            <a:endParaRPr/>
          </a:p>
        </p:txBody>
      </p:sp>
      <p:sp>
        <p:nvSpPr>
          <p:cNvPr id="273" name="Google Shape;273;p19"/>
          <p:cNvSpPr txBox="1"/>
          <p:nvPr/>
        </p:nvSpPr>
        <p:spPr>
          <a:xfrm>
            <a:off x="2916934" y="3659044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Free — $25</a:t>
            </a:r>
            <a:endParaRPr/>
          </a:p>
        </p:txBody>
      </p:sp>
      <p:sp>
        <p:nvSpPr>
          <p:cNvPr id="274" name="Google Shape;274;p19"/>
          <p:cNvSpPr txBox="1"/>
          <p:nvPr/>
        </p:nvSpPr>
        <p:spPr>
          <a:xfrm>
            <a:off x="2916934" y="3977640"/>
            <a:ext cx="1819658" cy="326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ECGs, radiology, lab interpretation</a:t>
            </a:r>
            <a:endParaRPr/>
          </a:p>
        </p:txBody>
      </p:sp>
      <p:sp>
        <p:nvSpPr>
          <p:cNvPr id="275" name="Google Shape;275;p19"/>
          <p:cNvSpPr/>
          <p:nvPr/>
        </p:nvSpPr>
        <p:spPr>
          <a:xfrm>
            <a:off x="5056632" y="2148838"/>
            <a:ext cx="2093978" cy="3566162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9"/>
          <p:cNvSpPr/>
          <p:nvPr/>
        </p:nvSpPr>
        <p:spPr>
          <a:xfrm>
            <a:off x="5056632" y="2148838"/>
            <a:ext cx="2093978" cy="109730"/>
          </a:xfrm>
          <a:prstGeom prst="rect">
            <a:avLst/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9"/>
          <p:cNvSpPr txBox="1"/>
          <p:nvPr/>
        </p:nvSpPr>
        <p:spPr>
          <a:xfrm>
            <a:off x="5193791" y="2488613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LEVEL 3</a:t>
            </a:r>
            <a:endParaRPr/>
          </a:p>
        </p:txBody>
      </p:sp>
      <p:sp>
        <p:nvSpPr>
          <p:cNvPr id="278" name="Google Shape;278;p19"/>
          <p:cNvSpPr txBox="1"/>
          <p:nvPr/>
        </p:nvSpPr>
        <p:spPr>
          <a:xfrm>
            <a:off x="5193791" y="3004818"/>
            <a:ext cx="1819658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Screen-Based</a:t>
            </a:r>
            <a:endParaRPr/>
          </a:p>
        </p:txBody>
      </p:sp>
      <p:sp>
        <p:nvSpPr>
          <p:cNvPr id="279" name="Google Shape;279;p19"/>
          <p:cNvSpPr txBox="1"/>
          <p:nvPr/>
        </p:nvSpPr>
        <p:spPr>
          <a:xfrm>
            <a:off x="5193791" y="3659044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Free trial — inst.</a:t>
            </a:r>
            <a:endParaRPr/>
          </a:p>
        </p:txBody>
      </p:sp>
      <p:sp>
        <p:nvSpPr>
          <p:cNvPr id="280" name="Google Shape;280;p19"/>
          <p:cNvSpPr txBox="1"/>
          <p:nvPr/>
        </p:nvSpPr>
        <p:spPr>
          <a:xfrm>
            <a:off x="5193791" y="3977640"/>
            <a:ext cx="1819658" cy="326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Virtual patients, branching scenarios</a:t>
            </a:r>
            <a:endParaRPr/>
          </a:p>
        </p:txBody>
      </p:sp>
      <p:sp>
        <p:nvSpPr>
          <p:cNvPr id="281" name="Google Shape;281;p19"/>
          <p:cNvSpPr/>
          <p:nvPr/>
        </p:nvSpPr>
        <p:spPr>
          <a:xfrm>
            <a:off x="7333488" y="2148838"/>
            <a:ext cx="2093978" cy="3566162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9"/>
          <p:cNvSpPr/>
          <p:nvPr/>
        </p:nvSpPr>
        <p:spPr>
          <a:xfrm>
            <a:off x="7333487" y="2148838"/>
            <a:ext cx="2093979" cy="109730"/>
          </a:xfrm>
          <a:prstGeom prst="rect">
            <a:avLst/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7470647" y="2488613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LEVEL 4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7470647" y="3004818"/>
            <a:ext cx="1819658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AR (Phone)</a:t>
            </a:r>
            <a:endParaRPr/>
          </a:p>
        </p:txBody>
      </p:sp>
      <p:sp>
        <p:nvSpPr>
          <p:cNvPr id="285" name="Google Shape;285;p19"/>
          <p:cNvSpPr txBox="1"/>
          <p:nvPr/>
        </p:nvSpPr>
        <p:spPr>
          <a:xfrm>
            <a:off x="7470647" y="3659044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Free — $25</a:t>
            </a:r>
            <a:endParaRPr/>
          </a:p>
        </p:txBody>
      </p:sp>
      <p:sp>
        <p:nvSpPr>
          <p:cNvPr id="286" name="Google Shape;286;p19"/>
          <p:cNvSpPr txBox="1"/>
          <p:nvPr/>
        </p:nvSpPr>
        <p:spPr>
          <a:xfrm>
            <a:off x="7470647" y="3977640"/>
            <a:ext cx="1819658" cy="326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3D anatomy on phone, no headset</a:t>
            </a:r>
            <a:endParaRPr/>
          </a:p>
        </p:txBody>
      </p:sp>
      <p:sp>
        <p:nvSpPr>
          <p:cNvPr id="287" name="Google Shape;287;p19"/>
          <p:cNvSpPr/>
          <p:nvPr/>
        </p:nvSpPr>
        <p:spPr>
          <a:xfrm>
            <a:off x="9610342" y="2148838"/>
            <a:ext cx="2093978" cy="3566162"/>
          </a:xfrm>
          <a:prstGeom prst="roundRect">
            <a:avLst>
              <a:gd fmla="val 3930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9"/>
          <p:cNvSpPr/>
          <p:nvPr/>
        </p:nvSpPr>
        <p:spPr>
          <a:xfrm>
            <a:off x="9610342" y="2148838"/>
            <a:ext cx="2093978" cy="109730"/>
          </a:xfrm>
          <a:prstGeom prst="rect">
            <a:avLst/>
          </a:prstGeom>
          <a:solidFill>
            <a:srgbClr val="C99A3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9"/>
          <p:cNvSpPr txBox="1"/>
          <p:nvPr/>
        </p:nvSpPr>
        <p:spPr>
          <a:xfrm>
            <a:off x="9747504" y="2488613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LEVEL 5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9747504" y="3004818"/>
            <a:ext cx="1819658" cy="254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700"/>
              <a:buFont typeface="Cambria"/>
              <a:buNone/>
            </a:pPr>
            <a:r>
              <a:rPr b="0" i="0" lang="en-US" sz="17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Immersive VR</a:t>
            </a:r>
            <a:endParaRPr/>
          </a:p>
        </p:txBody>
      </p:sp>
      <p:sp>
        <p:nvSpPr>
          <p:cNvPr id="291" name="Google Shape;291;p19"/>
          <p:cNvSpPr txBox="1"/>
          <p:nvPr/>
        </p:nvSpPr>
        <p:spPr>
          <a:xfrm>
            <a:off x="9747504" y="3659044"/>
            <a:ext cx="1819658" cy="134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$100 — $600</a:t>
            </a:r>
            <a:endParaRPr/>
          </a:p>
        </p:txBody>
      </p:sp>
      <p:sp>
        <p:nvSpPr>
          <p:cNvPr id="292" name="Google Shape;292;p19"/>
          <p:cNvSpPr txBox="1"/>
          <p:nvPr/>
        </p:nvSpPr>
        <p:spPr>
          <a:xfrm>
            <a:off x="9747504" y="3977640"/>
            <a:ext cx="1819658" cy="326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Procedures, team scenarios, physical skills</a:t>
            </a:r>
            <a:endParaRPr/>
          </a:p>
        </p:txBody>
      </p:sp>
      <p:sp>
        <p:nvSpPr>
          <p:cNvPr id="293" name="Google Shape;293;p19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0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DEMO</a:t>
            </a:r>
            <a:endParaRPr/>
          </a:p>
        </p:txBody>
      </p:sp>
      <p:sp>
        <p:nvSpPr>
          <p:cNvPr id="299" name="Google Shape;299;p20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Demo: Interactive Clinical Reasoning Case</a:t>
            </a:r>
            <a:endParaRPr/>
          </a:p>
        </p:txBody>
      </p:sp>
      <p:sp>
        <p:nvSpPr>
          <p:cNvPr id="300" name="Google Shape;300;p20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Try this on your phone now — no VR needed</a:t>
            </a:r>
            <a:endParaRPr/>
          </a:p>
        </p:txBody>
      </p:sp>
      <p:sp>
        <p:nvSpPr>
          <p:cNvPr id="301" name="Google Shape;301;p20"/>
          <p:cNvSpPr/>
          <p:nvPr/>
        </p:nvSpPr>
        <p:spPr>
          <a:xfrm>
            <a:off x="502919" y="2103120"/>
            <a:ext cx="6766561" cy="3840480"/>
          </a:xfrm>
          <a:prstGeom prst="roundRect">
            <a:avLst>
              <a:gd fmla="val 2143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0"/>
          <p:cNvSpPr txBox="1"/>
          <p:nvPr/>
        </p:nvSpPr>
        <p:spPr>
          <a:xfrm>
            <a:off x="822959" y="2390446"/>
            <a:ext cx="612648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F525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F5257"/>
                </a:solidFill>
                <a:latin typeface="Calibri"/>
                <a:ea typeface="Calibri"/>
                <a:cs typeface="Calibri"/>
                <a:sym typeface="Calibri"/>
              </a:rPr>
              <a:t>WHAT YOU'LL DO</a:t>
            </a:r>
            <a:endParaRPr/>
          </a:p>
        </p:txBody>
      </p:sp>
      <p:sp>
        <p:nvSpPr>
          <p:cNvPr id="303" name="Google Shape;303;p20"/>
          <p:cNvSpPr txBox="1"/>
          <p:nvPr/>
        </p:nvSpPr>
        <p:spPr>
          <a:xfrm>
            <a:off x="868680" y="2651759"/>
            <a:ext cx="6126480" cy="17740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19-year-old male with sharp chest pain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Interview the patient (text-based)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Order labs, interpret an ECG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Build your differential with reasoning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Write your assessment and plan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Receive feedback on your reasoning process</a:t>
            </a:r>
            <a:endParaRPr/>
          </a:p>
        </p:txBody>
      </p:sp>
      <p:sp>
        <p:nvSpPr>
          <p:cNvPr id="304" name="Google Shape;304;p20"/>
          <p:cNvSpPr/>
          <p:nvPr/>
        </p:nvSpPr>
        <p:spPr>
          <a:xfrm>
            <a:off x="7680959" y="2103120"/>
            <a:ext cx="4023362" cy="3840480"/>
          </a:xfrm>
          <a:prstGeom prst="roundRect">
            <a:avLst>
              <a:gd fmla="val 2143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0"/>
          <p:cNvSpPr txBox="1"/>
          <p:nvPr/>
        </p:nvSpPr>
        <p:spPr>
          <a:xfrm>
            <a:off x="8001000" y="2390446"/>
            <a:ext cx="3383280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TRY IT NOW</a:t>
            </a:r>
            <a:endParaRPr/>
          </a:p>
        </p:txBody>
      </p:sp>
      <p:sp>
        <p:nvSpPr>
          <p:cNvPr id="306" name="Google Shape;306;p20"/>
          <p:cNvSpPr/>
          <p:nvPr/>
        </p:nvSpPr>
        <p:spPr>
          <a:xfrm>
            <a:off x="8001000" y="2697478"/>
            <a:ext cx="3383280" cy="457202"/>
          </a:xfrm>
          <a:prstGeom prst="roundRect">
            <a:avLst>
              <a:gd fmla="val 50000" name="adj"/>
            </a:avLst>
          </a:prstGeom>
          <a:solidFill>
            <a:srgbClr val="0F5257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0">
            <a:hlinkClick r:id="rId3"/>
          </p:cNvPr>
          <p:cNvSpPr txBox="1"/>
          <p:nvPr/>
        </p:nvSpPr>
        <p:spPr>
          <a:xfrm>
            <a:off x="8001000" y="2814657"/>
            <a:ext cx="3383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400"/>
              <a:buFont typeface="Calibri"/>
              <a:buNone/>
            </a:pPr>
            <a:r>
              <a:rPr b="1" i="0" lang="en-US" sz="1400" u="sng" cap="none" strike="noStrike">
                <a:solidFill>
                  <a:srgbClr val="EDF4EF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▶  Clinical Reasoning Case</a:t>
            </a:r>
            <a:endParaRPr>
              <a:solidFill>
                <a:srgbClr val="EDF4EF"/>
              </a:solidFill>
            </a:endParaRPr>
          </a:p>
        </p:txBody>
      </p:sp>
      <p:sp>
        <p:nvSpPr>
          <p:cNvPr id="308" name="Google Shape;308;p20"/>
          <p:cNvSpPr/>
          <p:nvPr/>
        </p:nvSpPr>
        <p:spPr>
          <a:xfrm>
            <a:off x="8001000" y="3383279"/>
            <a:ext cx="3383280" cy="2240282"/>
          </a:xfrm>
          <a:prstGeom prst="roundRect">
            <a:avLst>
              <a:gd fmla="val 3673" name="adj"/>
            </a:avLst>
          </a:prstGeom>
          <a:solidFill>
            <a:srgbClr val="134749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8183880" y="3624886"/>
            <a:ext cx="3017522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KEY MESSAGE</a:t>
            </a:r>
            <a:endParaRPr/>
          </a:p>
        </p:txBody>
      </p:sp>
      <p:sp>
        <p:nvSpPr>
          <p:cNvPr id="310" name="Google Shape;310;p20"/>
          <p:cNvSpPr txBox="1"/>
          <p:nvPr/>
        </p:nvSpPr>
        <p:spPr>
          <a:xfrm>
            <a:off x="8183880" y="4411893"/>
            <a:ext cx="3017522" cy="41165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multiple choice. The reasoning IS the assessment.</a:t>
            </a:r>
            <a:endParaRPr/>
          </a:p>
        </p:txBody>
      </p:sp>
      <p:sp>
        <p:nvSpPr>
          <p:cNvPr id="311" name="Google Shape;311;p20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1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REFERENCE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Simulation Tools by Fidelity Level</a:t>
            </a:r>
            <a:endParaRPr/>
          </a:p>
        </p:txBody>
      </p:sp>
      <p:sp>
        <p:nvSpPr>
          <p:cNvPr id="318" name="Google Shape;318;p21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Full list with pricing in the Workshop Guide → Sections 5 &amp; 6</a:t>
            </a:r>
            <a:endParaRPr/>
          </a:p>
        </p:txBody>
      </p:sp>
      <p:sp>
        <p:nvSpPr>
          <p:cNvPr id="319" name="Google Shape;319;p21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2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REFERENCE</a:t>
            </a:r>
            <a:endParaRPr/>
          </a:p>
        </p:txBody>
      </p:sp>
      <p:sp>
        <p:nvSpPr>
          <p:cNvPr id="325" name="Google Shape;325;p22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VR Hardware — When It's Worth the Investment</a:t>
            </a:r>
            <a:endParaRPr/>
          </a:p>
        </p:txBody>
      </p:sp>
      <p:sp>
        <p:nvSpPr>
          <p:cNvPr id="326" name="Google Shape;326;p22"/>
          <p:cNvSpPr txBox="1"/>
          <p:nvPr/>
        </p:nvSpPr>
        <p:spPr>
          <a:xfrm>
            <a:off x="10881359" y="66573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6</a:t>
            </a:r>
            <a:endParaRPr/>
          </a:p>
        </p:txBody>
      </p:sp>
      <p:sp>
        <p:nvSpPr>
          <p:cNvPr id="327" name="Google Shape;327;p22"/>
          <p:cNvSpPr/>
          <p:nvPr/>
        </p:nvSpPr>
        <p:spPr>
          <a:xfrm>
            <a:off x="502919" y="4572000"/>
            <a:ext cx="5486402" cy="1645922"/>
          </a:xfrm>
          <a:prstGeom prst="roundRect">
            <a:avLst>
              <a:gd fmla="val 5000" name="adj"/>
            </a:avLst>
          </a:prstGeom>
          <a:solidFill>
            <a:srgbClr val="EDF4E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2"/>
          <p:cNvSpPr txBox="1"/>
          <p:nvPr/>
        </p:nvSpPr>
        <p:spPr>
          <a:xfrm>
            <a:off x="822958" y="4813606"/>
            <a:ext cx="484632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B4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6B4F"/>
                </a:solidFill>
                <a:latin typeface="Calibri"/>
                <a:ea typeface="Calibri"/>
                <a:cs typeface="Calibri"/>
                <a:sym typeface="Calibri"/>
              </a:rPr>
              <a:t>USE VR WHEN</a:t>
            </a:r>
            <a:endParaRPr/>
          </a:p>
        </p:txBody>
      </p:sp>
      <p:sp>
        <p:nvSpPr>
          <p:cNvPr id="329" name="Google Shape;329;p22"/>
          <p:cNvSpPr txBox="1"/>
          <p:nvPr/>
        </p:nvSpPr>
        <p:spPr>
          <a:xfrm>
            <a:off x="822958" y="5483159"/>
            <a:ext cx="4846323" cy="18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Procedural skills, team scenarios, high-acuity rehearsal, regular use</a:t>
            </a:r>
            <a:endParaRPr/>
          </a:p>
        </p:txBody>
      </p:sp>
      <p:sp>
        <p:nvSpPr>
          <p:cNvPr id="330" name="Google Shape;330;p22"/>
          <p:cNvSpPr/>
          <p:nvPr/>
        </p:nvSpPr>
        <p:spPr>
          <a:xfrm>
            <a:off x="6217920" y="4572000"/>
            <a:ext cx="5486402" cy="1645922"/>
          </a:xfrm>
          <a:prstGeom prst="roundRect">
            <a:avLst>
              <a:gd fmla="val 5000" name="adj"/>
            </a:avLst>
          </a:prstGeom>
          <a:solidFill>
            <a:srgbClr val="F8F2E5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2"/>
          <p:cNvSpPr txBox="1"/>
          <p:nvPr/>
        </p:nvSpPr>
        <p:spPr>
          <a:xfrm>
            <a:off x="6537958" y="4813606"/>
            <a:ext cx="4846323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DON'T USE VR WHEN</a:t>
            </a:r>
            <a:endParaRPr/>
          </a:p>
        </p:txBody>
      </p:sp>
      <p:sp>
        <p:nvSpPr>
          <p:cNvPr id="332" name="Google Shape;332;p22"/>
          <p:cNvSpPr txBox="1"/>
          <p:nvPr/>
        </p:nvSpPr>
        <p:spPr>
          <a:xfrm>
            <a:off x="6537958" y="5483159"/>
            <a:ext cx="4846323" cy="18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The learning goal is clinical reasoning — text/screen does the job</a:t>
            </a:r>
            <a:endParaRPr/>
          </a:p>
        </p:txBody>
      </p:sp>
      <p:sp>
        <p:nvSpPr>
          <p:cNvPr id="333" name="Google Shape;333;p22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3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OBJECTIVE 3 · RECOMMENDATION</a:t>
            </a:r>
            <a:endParaRPr/>
          </a:p>
        </p:txBody>
      </p:sp>
      <p:sp>
        <p:nvSpPr>
          <p:cNvPr id="339" name="Google Shape;339;p23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Recommended Starter Stack for Low-Resource Programs</a:t>
            </a:r>
            <a:endParaRPr/>
          </a:p>
        </p:txBody>
      </p:sp>
      <p:sp>
        <p:nvSpPr>
          <p:cNvPr id="340" name="Google Shape;340;p23"/>
          <p:cNvSpPr/>
          <p:nvPr/>
        </p:nvSpPr>
        <p:spPr>
          <a:xfrm>
            <a:off x="502919" y="2011678"/>
            <a:ext cx="2660907" cy="3566162"/>
          </a:xfrm>
          <a:prstGeom prst="roundRect">
            <a:avLst>
              <a:gd fmla="val 3093" name="adj"/>
            </a:avLst>
          </a:prstGeom>
          <a:solidFill>
            <a:srgbClr val="0A3538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3"/>
          <p:cNvSpPr txBox="1"/>
          <p:nvPr/>
        </p:nvSpPr>
        <p:spPr>
          <a:xfrm>
            <a:off x="731519" y="2527606"/>
            <a:ext cx="2203707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2BE6B"/>
                </a:solidFill>
                <a:latin typeface="Calibri"/>
                <a:ea typeface="Calibri"/>
                <a:cs typeface="Calibri"/>
                <a:sym typeface="Calibri"/>
              </a:rPr>
              <a:t>FREE ENTRY</a:t>
            </a:r>
            <a:endParaRPr/>
          </a:p>
        </p:txBody>
      </p:sp>
      <p:sp>
        <p:nvSpPr>
          <p:cNvPr id="342" name="Google Shape;342;p23"/>
          <p:cNvSpPr txBox="1"/>
          <p:nvPr/>
        </p:nvSpPr>
        <p:spPr>
          <a:xfrm>
            <a:off x="731519" y="3060699"/>
            <a:ext cx="2203707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$0</a:t>
            </a:r>
            <a:endParaRPr/>
          </a:p>
        </p:txBody>
      </p:sp>
      <p:sp>
        <p:nvSpPr>
          <p:cNvPr id="343" name="Google Shape;343;p23"/>
          <p:cNvSpPr txBox="1"/>
          <p:nvPr/>
        </p:nvSpPr>
        <p:spPr>
          <a:xfrm>
            <a:off x="731519" y="3840479"/>
            <a:ext cx="2203707" cy="41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DCEDE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DCEDEB"/>
                </a:solidFill>
                <a:latin typeface="Calibri"/>
                <a:ea typeface="Calibri"/>
                <a:cs typeface="Calibri"/>
                <a:sym typeface="Calibri"/>
              </a:rPr>
              <a:t>ChatGPT + BioDigital Human + Flip + NotebookLM + H5P</a:t>
            </a:r>
            <a:endParaRPr/>
          </a:p>
        </p:txBody>
      </p:sp>
      <p:sp>
        <p:nvSpPr>
          <p:cNvPr id="344" name="Google Shape;344;p23"/>
          <p:cNvSpPr/>
          <p:nvPr/>
        </p:nvSpPr>
        <p:spPr>
          <a:xfrm>
            <a:off x="3392423" y="2011678"/>
            <a:ext cx="2660906" cy="3566162"/>
          </a:xfrm>
          <a:prstGeom prst="roundRect">
            <a:avLst>
              <a:gd fmla="val 3093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3"/>
          <p:cNvSpPr txBox="1"/>
          <p:nvPr/>
        </p:nvSpPr>
        <p:spPr>
          <a:xfrm>
            <a:off x="3621023" y="2527606"/>
            <a:ext cx="2203706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MINIMAL</a:t>
            </a:r>
            <a:endParaRPr/>
          </a:p>
        </p:txBody>
      </p:sp>
      <p:sp>
        <p:nvSpPr>
          <p:cNvPr id="346" name="Google Shape;346;p23"/>
          <p:cNvSpPr txBox="1"/>
          <p:nvPr/>
        </p:nvSpPr>
        <p:spPr>
          <a:xfrm>
            <a:off x="3621023" y="3060699"/>
            <a:ext cx="2203706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$25</a:t>
            </a:r>
            <a:endParaRPr/>
          </a:p>
        </p:txBody>
      </p:sp>
      <p:sp>
        <p:nvSpPr>
          <p:cNvPr id="347" name="Google Shape;347;p23"/>
          <p:cNvSpPr txBox="1"/>
          <p:nvPr/>
        </p:nvSpPr>
        <p:spPr>
          <a:xfrm>
            <a:off x="3621023" y="3840479"/>
            <a:ext cx="2203706" cy="41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Above + Visible Body Atlas (includes AR)</a:t>
            </a:r>
            <a:endParaRPr/>
          </a:p>
        </p:txBody>
      </p:sp>
      <p:sp>
        <p:nvSpPr>
          <p:cNvPr id="348" name="Google Shape;348;p23"/>
          <p:cNvSpPr/>
          <p:nvPr/>
        </p:nvSpPr>
        <p:spPr>
          <a:xfrm>
            <a:off x="6281928" y="2011678"/>
            <a:ext cx="2660906" cy="3566162"/>
          </a:xfrm>
          <a:prstGeom prst="roundRect">
            <a:avLst>
              <a:gd fmla="val 3093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 txBox="1"/>
          <p:nvPr/>
        </p:nvSpPr>
        <p:spPr>
          <a:xfrm>
            <a:off x="6510528" y="2527606"/>
            <a:ext cx="2203706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ONE HEADSET</a:t>
            </a:r>
            <a:endParaRPr/>
          </a:p>
        </p:txBody>
      </p:sp>
      <p:sp>
        <p:nvSpPr>
          <p:cNvPr id="350" name="Google Shape;350;p23"/>
          <p:cNvSpPr txBox="1"/>
          <p:nvPr/>
        </p:nvSpPr>
        <p:spPr>
          <a:xfrm>
            <a:off x="6510528" y="3060699"/>
            <a:ext cx="2203706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~$125-175</a:t>
            </a:r>
            <a:endParaRPr/>
          </a:p>
        </p:txBody>
      </p:sp>
      <p:sp>
        <p:nvSpPr>
          <p:cNvPr id="351" name="Google Shape;351;p23"/>
          <p:cNvSpPr txBox="1"/>
          <p:nvPr/>
        </p:nvSpPr>
        <p:spPr>
          <a:xfrm>
            <a:off x="6510528" y="3840479"/>
            <a:ext cx="2203706" cy="41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Above + 1 refurbished Meta Quest 2</a:t>
            </a:r>
            <a:endParaRPr/>
          </a:p>
        </p:txBody>
      </p:sp>
      <p:sp>
        <p:nvSpPr>
          <p:cNvPr id="352" name="Google Shape;352;p23"/>
          <p:cNvSpPr/>
          <p:nvPr/>
        </p:nvSpPr>
        <p:spPr>
          <a:xfrm>
            <a:off x="9171430" y="2011678"/>
            <a:ext cx="2660906" cy="3566162"/>
          </a:xfrm>
          <a:prstGeom prst="roundRect">
            <a:avLst>
              <a:gd fmla="val 3093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3"/>
          <p:cNvSpPr txBox="1"/>
          <p:nvPr/>
        </p:nvSpPr>
        <p:spPr>
          <a:xfrm>
            <a:off x="9400030" y="2527606"/>
            <a:ext cx="2203706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SMALL PROGRAM</a:t>
            </a:r>
            <a:endParaRPr/>
          </a:p>
        </p:txBody>
      </p:sp>
      <p:sp>
        <p:nvSpPr>
          <p:cNvPr id="354" name="Google Shape;354;p23"/>
          <p:cNvSpPr txBox="1"/>
          <p:nvPr/>
        </p:nvSpPr>
        <p:spPr>
          <a:xfrm>
            <a:off x="9400030" y="2806700"/>
            <a:ext cx="2203706" cy="1016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~$700-1,100</a:t>
            </a:r>
            <a:endParaRPr/>
          </a:p>
        </p:txBody>
      </p:sp>
      <p:sp>
        <p:nvSpPr>
          <p:cNvPr id="355" name="Google Shape;355;p23"/>
          <p:cNvSpPr txBox="1"/>
          <p:nvPr/>
        </p:nvSpPr>
        <p:spPr>
          <a:xfrm>
            <a:off x="9400030" y="3840479"/>
            <a:ext cx="2203706" cy="41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Above + 2-3 Meta Quest 3S (~$350 each)</a:t>
            </a:r>
            <a:endParaRPr/>
          </a:p>
        </p:txBody>
      </p:sp>
      <p:sp>
        <p:nvSpPr>
          <p:cNvPr id="356" name="Google Shape;356;p23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4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4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4"/>
          <p:cNvSpPr/>
          <p:nvPr/>
        </p:nvSpPr>
        <p:spPr>
          <a:xfrm>
            <a:off x="4494276" y="960119"/>
            <a:ext cx="3200402" cy="658370"/>
          </a:xfrm>
          <a:prstGeom prst="roundRect">
            <a:avLst>
              <a:gd fmla="val 50000" name="adj"/>
            </a:avLst>
          </a:prstGeom>
          <a:solidFill>
            <a:srgbClr val="C99A3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4"/>
          <p:cNvSpPr txBox="1"/>
          <p:nvPr/>
        </p:nvSpPr>
        <p:spPr>
          <a:xfrm>
            <a:off x="4494276" y="1184727"/>
            <a:ext cx="3200402" cy="2091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3538"/>
                </a:solidFill>
                <a:latin typeface="Calibri"/>
                <a:ea typeface="Calibri"/>
                <a:cs typeface="Calibri"/>
                <a:sym typeface="Calibri"/>
              </a:rPr>
              <a:t>Think · Pair · Share — 3 min</a:t>
            </a:r>
            <a:endParaRPr/>
          </a:p>
        </p:txBody>
      </p:sp>
      <p:sp>
        <p:nvSpPr>
          <p:cNvPr id="365" name="Google Shape;365;p24"/>
          <p:cNvSpPr txBox="1"/>
          <p:nvPr/>
        </p:nvSpPr>
        <p:spPr>
          <a:xfrm>
            <a:off x="640079" y="2103118"/>
            <a:ext cx="10908794" cy="457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Match the tool to the goal</a:t>
            </a:r>
            <a:endParaRPr/>
          </a:p>
        </p:txBody>
      </p:sp>
      <p:sp>
        <p:nvSpPr>
          <p:cNvPr id="366" name="Google Shape;366;p24"/>
          <p:cNvSpPr txBox="1"/>
          <p:nvPr/>
        </p:nvSpPr>
        <p:spPr>
          <a:xfrm>
            <a:off x="1920238" y="299745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2697480" y="3022294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Think of a clinical skill your fellows need to learn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1920238" y="3774692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2697480" y="3799533"/>
            <a:ext cx="8503920" cy="2190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Which fidelity level would you choose? Text? Images? Screen? AR? VR?</a:t>
            </a:r>
            <a:endParaRPr/>
          </a:p>
        </p:txBody>
      </p:sp>
      <p:sp>
        <p:nvSpPr>
          <p:cNvPr id="370" name="Google Shape;370;p24"/>
          <p:cNvSpPr txBox="1"/>
          <p:nvPr/>
        </p:nvSpPr>
        <p:spPr>
          <a:xfrm>
            <a:off x="1920238" y="4551934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371" name="Google Shape;371;p24"/>
          <p:cNvSpPr txBox="1"/>
          <p:nvPr/>
        </p:nvSpPr>
        <p:spPr>
          <a:xfrm>
            <a:off x="2697480" y="4576774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Would the free option work? Or does this skill genuinely require VR?</a:t>
            </a:r>
            <a:endParaRPr/>
          </a:p>
        </p:txBody>
      </p:sp>
      <p:sp>
        <p:nvSpPr>
          <p:cNvPr id="372" name="Google Shape;372;p24"/>
          <p:cNvSpPr txBox="1"/>
          <p:nvPr/>
        </p:nvSpPr>
        <p:spPr>
          <a:xfrm>
            <a:off x="1920238" y="532917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373" name="Google Shape;373;p24"/>
          <p:cNvSpPr txBox="1"/>
          <p:nvPr/>
        </p:nvSpPr>
        <p:spPr>
          <a:xfrm>
            <a:off x="2697480" y="5354015"/>
            <a:ext cx="8503920" cy="219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Share your reasoning with your table group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640079" y="6363139"/>
            <a:ext cx="10908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300"/>
              <a:buFont typeface="Calibri"/>
              <a:buNone/>
            </a:pPr>
            <a:r>
              <a:rPr b="1" i="0" lang="en-US" sz="13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</a:t>
            </a:r>
            <a:endParaRPr>
              <a:solidFill>
                <a:srgbClr val="FFCF3F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5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5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5"/>
          <p:cNvSpPr txBox="1"/>
          <p:nvPr/>
        </p:nvSpPr>
        <p:spPr>
          <a:xfrm>
            <a:off x="914400" y="1663700"/>
            <a:ext cx="914400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7</a:t>
            </a:r>
            <a:endParaRPr/>
          </a:p>
        </p:txBody>
      </p:sp>
      <p:sp>
        <p:nvSpPr>
          <p:cNvPr id="382" name="Google Shape;382;p25"/>
          <p:cNvSpPr txBox="1"/>
          <p:nvPr/>
        </p:nvSpPr>
        <p:spPr>
          <a:xfrm>
            <a:off x="2194560" y="1595119"/>
            <a:ext cx="9052560" cy="558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b="0" i="0" lang="en-US" sz="3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Capstone Design Sprint</a:t>
            </a:r>
            <a:endParaRPr/>
          </a:p>
        </p:txBody>
      </p:sp>
      <p:sp>
        <p:nvSpPr>
          <p:cNvPr id="383" name="Google Shape;383;p25"/>
          <p:cNvSpPr txBox="1"/>
          <p:nvPr/>
        </p:nvSpPr>
        <p:spPr>
          <a:xfrm>
            <a:off x="2194559" y="2962909"/>
            <a:ext cx="8778242" cy="2921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000"/>
              <a:buFont typeface="Cambria"/>
              <a:buNone/>
            </a:pPr>
            <a:r>
              <a:rPr b="0" i="0" lang="en-US" sz="20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Turn one of your ideas into a plan you can take back to your program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/>
          <p:nvPr/>
        </p:nvSpPr>
        <p:spPr>
          <a:xfrm>
            <a:off x="502918" y="43363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CAPSTONE · 20 MIN</a:t>
            </a:r>
            <a:endParaRPr/>
          </a:p>
        </p:txBody>
      </p:sp>
      <p:sp>
        <p:nvSpPr>
          <p:cNvPr id="389" name="Google Shape;389;p26"/>
          <p:cNvSpPr txBox="1"/>
          <p:nvPr/>
        </p:nvSpPr>
        <p:spPr>
          <a:xfrm>
            <a:off x="502919" y="797559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Capstone Design Sprint — 20 min</a:t>
            </a:r>
            <a:endParaRPr/>
          </a:p>
        </p:txBody>
      </p:sp>
      <p:sp>
        <p:nvSpPr>
          <p:cNvPr id="390" name="Google Shape;390;p26"/>
          <p:cNvSpPr txBox="1"/>
          <p:nvPr/>
        </p:nvSpPr>
        <p:spPr>
          <a:xfrm>
            <a:off x="502919" y="1548128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Extend your earlier discussions into a complete plan</a:t>
            </a:r>
            <a:endParaRPr/>
          </a:p>
        </p:txBody>
      </p:sp>
      <p:sp>
        <p:nvSpPr>
          <p:cNvPr id="391" name="Google Shape;391;p26"/>
          <p:cNvSpPr/>
          <p:nvPr/>
        </p:nvSpPr>
        <p:spPr>
          <a:xfrm>
            <a:off x="502919" y="2011678"/>
            <a:ext cx="11201401" cy="1371602"/>
          </a:xfrm>
          <a:prstGeom prst="roundRect">
            <a:avLst>
              <a:gd fmla="val 6000" name="adj"/>
            </a:avLst>
          </a:prstGeom>
          <a:solidFill>
            <a:srgbClr val="F8F2E5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6"/>
          <p:cNvSpPr txBox="1"/>
          <p:nvPr/>
        </p:nvSpPr>
        <p:spPr>
          <a:xfrm>
            <a:off x="822960" y="2271574"/>
            <a:ext cx="10515601" cy="15686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WHAT THIS IS</a:t>
            </a:r>
            <a:endParaRPr/>
          </a:p>
        </p:txBody>
      </p:sp>
      <p:sp>
        <p:nvSpPr>
          <p:cNvPr id="393" name="Google Shape;393;p26"/>
          <p:cNvSpPr txBox="1"/>
          <p:nvPr/>
        </p:nvSpPr>
        <p:spPr>
          <a:xfrm>
            <a:off x="822960" y="2699754"/>
            <a:ext cx="10515601" cy="4617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You've been discussing tools and ideas after each section — now extend that into a full implementation plan. Pick the idea that feels most feasible.</a:t>
            </a:r>
            <a:endParaRPr/>
          </a:p>
        </p:txBody>
      </p:sp>
      <p:sp>
        <p:nvSpPr>
          <p:cNvPr id="394" name="Google Shape;394;p26"/>
          <p:cNvSpPr/>
          <p:nvPr/>
        </p:nvSpPr>
        <p:spPr>
          <a:xfrm>
            <a:off x="502919" y="3703320"/>
            <a:ext cx="2093979" cy="1965962"/>
          </a:xfrm>
          <a:prstGeom prst="roundRect">
            <a:avLst>
              <a:gd fmla="val 4186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248155" y="4113021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396" name="Google Shape;396;p26"/>
          <p:cNvSpPr txBox="1"/>
          <p:nvPr/>
        </p:nvSpPr>
        <p:spPr>
          <a:xfrm>
            <a:off x="594360" y="4904740"/>
            <a:ext cx="1911096" cy="431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Identify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a Need</a:t>
            </a:r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2779776" y="3703320"/>
            <a:ext cx="2093978" cy="1965962"/>
          </a:xfrm>
          <a:prstGeom prst="roundRect">
            <a:avLst>
              <a:gd fmla="val 4186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6"/>
          <p:cNvSpPr txBox="1"/>
          <p:nvPr/>
        </p:nvSpPr>
        <p:spPr>
          <a:xfrm>
            <a:off x="3525010" y="4113021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399" name="Google Shape;399;p26"/>
          <p:cNvSpPr txBox="1"/>
          <p:nvPr/>
        </p:nvSpPr>
        <p:spPr>
          <a:xfrm>
            <a:off x="2871216" y="4904740"/>
            <a:ext cx="1911096" cy="431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Define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Learning Goals</a:t>
            </a: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5056632" y="3703320"/>
            <a:ext cx="2093978" cy="1965962"/>
          </a:xfrm>
          <a:prstGeom prst="roundRect">
            <a:avLst>
              <a:gd fmla="val 4186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6"/>
          <p:cNvSpPr txBox="1"/>
          <p:nvPr/>
        </p:nvSpPr>
        <p:spPr>
          <a:xfrm>
            <a:off x="5801867" y="4113021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402" name="Google Shape;402;p26"/>
          <p:cNvSpPr txBox="1"/>
          <p:nvPr/>
        </p:nvSpPr>
        <p:spPr>
          <a:xfrm>
            <a:off x="5148071" y="4904740"/>
            <a:ext cx="1911097" cy="431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Select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a Tool</a:t>
            </a:r>
            <a:endParaRPr/>
          </a:p>
        </p:txBody>
      </p:sp>
      <p:sp>
        <p:nvSpPr>
          <p:cNvPr id="403" name="Google Shape;403;p26"/>
          <p:cNvSpPr/>
          <p:nvPr/>
        </p:nvSpPr>
        <p:spPr>
          <a:xfrm>
            <a:off x="7333488" y="3703320"/>
            <a:ext cx="2093978" cy="1965962"/>
          </a:xfrm>
          <a:prstGeom prst="roundRect">
            <a:avLst>
              <a:gd fmla="val 4186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6"/>
          <p:cNvSpPr txBox="1"/>
          <p:nvPr/>
        </p:nvSpPr>
        <p:spPr>
          <a:xfrm>
            <a:off x="8078723" y="4113021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405" name="Google Shape;405;p26"/>
          <p:cNvSpPr txBox="1"/>
          <p:nvPr/>
        </p:nvSpPr>
        <p:spPr>
          <a:xfrm>
            <a:off x="7424928" y="4904740"/>
            <a:ext cx="1911097" cy="431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Map Pedagogy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to Technology</a:t>
            </a:r>
            <a:endParaRPr/>
          </a:p>
        </p:txBody>
      </p:sp>
      <p:sp>
        <p:nvSpPr>
          <p:cNvPr id="406" name="Google Shape;406;p26"/>
          <p:cNvSpPr/>
          <p:nvPr/>
        </p:nvSpPr>
        <p:spPr>
          <a:xfrm>
            <a:off x="9610342" y="3703320"/>
            <a:ext cx="2093978" cy="1965962"/>
          </a:xfrm>
          <a:prstGeom prst="roundRect">
            <a:avLst>
              <a:gd fmla="val 4186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6"/>
          <p:cNvSpPr txBox="1"/>
          <p:nvPr/>
        </p:nvSpPr>
        <p:spPr>
          <a:xfrm>
            <a:off x="10355580" y="4113021"/>
            <a:ext cx="603506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/>
          </a:p>
        </p:txBody>
      </p:sp>
      <p:sp>
        <p:nvSpPr>
          <p:cNvPr id="408" name="Google Shape;408;p26"/>
          <p:cNvSpPr txBox="1"/>
          <p:nvPr/>
        </p:nvSpPr>
        <p:spPr>
          <a:xfrm>
            <a:off x="9701783" y="4904740"/>
            <a:ext cx="1911096" cy="431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Sketch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500"/>
              <a:buFont typeface="Cambria"/>
              <a:buNone/>
            </a:pPr>
            <a:r>
              <a:rPr b="0" i="0" lang="en-US" sz="15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Implementation</a:t>
            </a:r>
            <a:endParaRPr/>
          </a:p>
        </p:txBody>
      </p:sp>
      <p:sp>
        <p:nvSpPr>
          <p:cNvPr id="409" name="Google Shape;409;p26"/>
          <p:cNvSpPr/>
          <p:nvPr/>
        </p:nvSpPr>
        <p:spPr>
          <a:xfrm>
            <a:off x="502919" y="5897879"/>
            <a:ext cx="11201401" cy="594362"/>
          </a:xfrm>
          <a:prstGeom prst="roundRect">
            <a:avLst>
              <a:gd fmla="val 13846" name="adj"/>
            </a:avLst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6"/>
          <p:cNvSpPr txBox="1"/>
          <p:nvPr/>
        </p:nvSpPr>
        <p:spPr>
          <a:xfrm>
            <a:off x="502918" y="6100379"/>
            <a:ext cx="11201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400"/>
              <a:buFont typeface="Calibri"/>
              <a:buNone/>
            </a:pPr>
            <a:r>
              <a:rPr b="1" i="0" lang="en-US" sz="14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 → Section 7 (Worksheet)</a:t>
            </a:r>
            <a:endParaRPr>
              <a:solidFill>
                <a:srgbClr val="FFCF3F"/>
              </a:solidFill>
            </a:endParaRPr>
          </a:p>
        </p:txBody>
      </p:sp>
      <p:sp>
        <p:nvSpPr>
          <p:cNvPr id="411" name="Google Shape;411;p26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7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/>
          <p:nvPr/>
        </p:nvSpPr>
        <p:spPr>
          <a:xfrm>
            <a:off x="4722876" y="1234438"/>
            <a:ext cx="2743202" cy="658371"/>
          </a:xfrm>
          <a:prstGeom prst="roundRect">
            <a:avLst>
              <a:gd fmla="val 50000" name="adj"/>
            </a:avLst>
          </a:prstGeom>
          <a:solidFill>
            <a:srgbClr val="C99A3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7"/>
          <p:cNvSpPr txBox="1"/>
          <p:nvPr/>
        </p:nvSpPr>
        <p:spPr>
          <a:xfrm>
            <a:off x="4722876" y="1459046"/>
            <a:ext cx="2743202" cy="20915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A3538"/>
                </a:solidFill>
                <a:latin typeface="Calibri"/>
                <a:ea typeface="Calibri"/>
                <a:cs typeface="Calibri"/>
                <a:sym typeface="Calibri"/>
              </a:rPr>
              <a:t>Share-Out — 5 min</a:t>
            </a:r>
            <a:endParaRPr/>
          </a:p>
        </p:txBody>
      </p:sp>
      <p:sp>
        <p:nvSpPr>
          <p:cNvPr id="420" name="Google Shape;420;p27"/>
          <p:cNvSpPr txBox="1"/>
          <p:nvPr/>
        </p:nvSpPr>
        <p:spPr>
          <a:xfrm>
            <a:off x="2194560" y="263169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/>
          </a:p>
        </p:txBody>
      </p:sp>
      <p:sp>
        <p:nvSpPr>
          <p:cNvPr id="421" name="Google Shape;421;p27"/>
          <p:cNvSpPr txBox="1"/>
          <p:nvPr/>
        </p:nvSpPr>
        <p:spPr>
          <a:xfrm>
            <a:off x="2971799" y="2646637"/>
            <a:ext cx="7955282" cy="2388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2-3 groups share their plan (60 seconds each)</a:t>
            </a:r>
            <a:endParaRPr/>
          </a:p>
        </p:txBody>
      </p:sp>
      <p:sp>
        <p:nvSpPr>
          <p:cNvPr id="422" name="Google Shape;422;p27"/>
          <p:cNvSpPr txBox="1"/>
          <p:nvPr/>
        </p:nvSpPr>
        <p:spPr>
          <a:xfrm>
            <a:off x="2194560" y="350037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2971799" y="3515316"/>
            <a:ext cx="7955282" cy="2388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What's your educational need?</a:t>
            </a:r>
            <a:endParaRPr/>
          </a:p>
        </p:txBody>
      </p:sp>
      <p:sp>
        <p:nvSpPr>
          <p:cNvPr id="424" name="Google Shape;424;p27"/>
          <p:cNvSpPr txBox="1"/>
          <p:nvPr/>
        </p:nvSpPr>
        <p:spPr>
          <a:xfrm>
            <a:off x="2194560" y="4369053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/>
          </a:p>
        </p:txBody>
      </p:sp>
      <p:sp>
        <p:nvSpPr>
          <p:cNvPr id="425" name="Google Shape;425;p27"/>
          <p:cNvSpPr txBox="1"/>
          <p:nvPr/>
        </p:nvSpPr>
        <p:spPr>
          <a:xfrm>
            <a:off x="2971799" y="4383997"/>
            <a:ext cx="7955282" cy="2388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tool did you pick, and why?</a:t>
            </a:r>
            <a:endParaRPr/>
          </a:p>
        </p:txBody>
      </p:sp>
      <p:sp>
        <p:nvSpPr>
          <p:cNvPr id="426" name="Google Shape;426;p27"/>
          <p:cNvSpPr txBox="1"/>
          <p:nvPr/>
        </p:nvSpPr>
        <p:spPr>
          <a:xfrm>
            <a:off x="2194560" y="5237734"/>
            <a:ext cx="566930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/>
          </a:p>
        </p:txBody>
      </p:sp>
      <p:sp>
        <p:nvSpPr>
          <p:cNvPr id="427" name="Google Shape;427;p27"/>
          <p:cNvSpPr txBox="1"/>
          <p:nvPr/>
        </p:nvSpPr>
        <p:spPr>
          <a:xfrm>
            <a:off x="2971799" y="5252677"/>
            <a:ext cx="7955282" cy="2388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What's one barrier and how will you handle it?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F0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28"/>
          <p:cNvSpPr txBox="1"/>
          <p:nvPr/>
        </p:nvSpPr>
        <p:spPr>
          <a:xfrm>
            <a:off x="502918" y="479351"/>
            <a:ext cx="5486403" cy="15686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7625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9E7625"/>
                </a:solidFill>
                <a:latin typeface="Calibri"/>
                <a:ea typeface="Calibri"/>
                <a:cs typeface="Calibri"/>
                <a:sym typeface="Calibri"/>
              </a:rPr>
              <a:t>WRAP-UP · 2 MIN</a:t>
            </a:r>
            <a:endParaRPr/>
          </a:p>
        </p:txBody>
      </p:sp>
      <p:sp>
        <p:nvSpPr>
          <p:cNvPr id="433" name="Google Shape;433;p28"/>
          <p:cNvSpPr txBox="1"/>
          <p:nvPr/>
        </p:nvSpPr>
        <p:spPr>
          <a:xfrm>
            <a:off x="502919" y="843278"/>
            <a:ext cx="11155682" cy="508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3538"/>
              </a:buClr>
              <a:buSzPts val="3400"/>
              <a:buFont typeface="Cambria"/>
              <a:buNone/>
            </a:pPr>
            <a:r>
              <a:rPr b="0" i="0" lang="en-US" sz="3400" u="none" cap="none" strike="noStrike">
                <a:solidFill>
                  <a:srgbClr val="0A3538"/>
                </a:solidFill>
                <a:latin typeface="Cambria"/>
                <a:ea typeface="Cambria"/>
                <a:cs typeface="Cambria"/>
                <a:sym typeface="Cambria"/>
              </a:rPr>
              <a:t>Wrap-Up</a:t>
            </a:r>
            <a:endParaRPr/>
          </a:p>
        </p:txBody>
      </p:sp>
      <p:sp>
        <p:nvSpPr>
          <p:cNvPr id="434" name="Google Shape;434;p28"/>
          <p:cNvSpPr txBox="1"/>
          <p:nvPr/>
        </p:nvSpPr>
        <p:spPr>
          <a:xfrm>
            <a:off x="502919" y="1593849"/>
            <a:ext cx="10972801" cy="2413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1600"/>
              <a:buFont typeface="Cambria"/>
              <a:buNone/>
            </a:pPr>
            <a:r>
              <a:rPr b="0" i="0" lang="en-US" sz="1600" u="none" cap="none" strike="noStrike">
                <a:solidFill>
                  <a:srgbClr val="5F7173"/>
                </a:solidFill>
                <a:latin typeface="Cambria"/>
                <a:ea typeface="Cambria"/>
                <a:cs typeface="Cambria"/>
                <a:sym typeface="Cambria"/>
              </a:rPr>
              <a:t>Start with one tool, one need, one small experiment</a:t>
            </a:r>
            <a:endParaRPr/>
          </a:p>
        </p:txBody>
      </p:sp>
      <p:sp>
        <p:nvSpPr>
          <p:cNvPr id="435" name="Google Shape;435;p28"/>
          <p:cNvSpPr/>
          <p:nvPr/>
        </p:nvSpPr>
        <p:spPr>
          <a:xfrm>
            <a:off x="502919" y="2103120"/>
            <a:ext cx="11201401" cy="3017522"/>
          </a:xfrm>
          <a:prstGeom prst="roundRect">
            <a:avLst>
              <a:gd fmla="val 2727" name="adj"/>
            </a:avLst>
          </a:prstGeom>
          <a:solidFill>
            <a:srgbClr val="FFFFFF"/>
          </a:solidFill>
          <a:ln cap="flat" cmpd="sng" w="12700">
            <a:solidFill>
              <a:srgbClr val="D3DD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8"/>
          <p:cNvSpPr txBox="1"/>
          <p:nvPr/>
        </p:nvSpPr>
        <p:spPr>
          <a:xfrm>
            <a:off x="914400" y="2423159"/>
            <a:ext cx="10424160" cy="18347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2A2C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Everything from today is in the Workshop Guide — bookmark it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C2A2C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The Zero Dollar Starter Kit: 9 free tools you can use Monday morning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C2A2C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All resource links, prompt templates, and the worksheet stay available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C2A2C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You don't need a grant, an IT ticket, or a technology expert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C2A2C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1C2A2C"/>
                </a:solidFill>
                <a:latin typeface="Calibri"/>
                <a:ea typeface="Calibri"/>
                <a:cs typeface="Calibri"/>
                <a:sym typeface="Calibri"/>
              </a:rPr>
              <a:t>You need to know what your learners need — and you already know that</a:t>
            </a:r>
            <a:endParaRPr/>
          </a:p>
        </p:txBody>
      </p:sp>
      <p:sp>
        <p:nvSpPr>
          <p:cNvPr id="437" name="Google Shape;437;p28"/>
          <p:cNvSpPr/>
          <p:nvPr/>
        </p:nvSpPr>
        <p:spPr>
          <a:xfrm>
            <a:off x="502919" y="5349240"/>
            <a:ext cx="11201401" cy="731522"/>
          </a:xfrm>
          <a:prstGeom prst="roundRect">
            <a:avLst>
              <a:gd fmla="val 11250" name="adj"/>
            </a:avLst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502918" y="5621721"/>
            <a:ext cx="11201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500"/>
              <a:buFont typeface="Calibri"/>
              <a:buNone/>
            </a:pPr>
            <a:r>
              <a:rPr b="1" i="0" lang="en-US" sz="1500" u="sng" cap="none" strike="noStrike">
                <a:solidFill>
                  <a:srgbClr val="FFCF3F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Workshop Guide → Section 8 (All Resources)</a:t>
            </a:r>
            <a:endParaRPr>
              <a:solidFill>
                <a:srgbClr val="FFCF3F"/>
              </a:solidFill>
            </a:endParaRPr>
          </a:p>
        </p:txBody>
      </p:sp>
      <p:sp>
        <p:nvSpPr>
          <p:cNvPr id="439" name="Google Shape;439;p28"/>
          <p:cNvSpPr txBox="1"/>
          <p:nvPr/>
        </p:nvSpPr>
        <p:spPr>
          <a:xfrm>
            <a:off x="502919" y="6547611"/>
            <a:ext cx="82296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717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F7173"/>
                </a:solidFill>
                <a:latin typeface="Calibri"/>
                <a:ea typeface="Calibri"/>
                <a:cs typeface="Calibri"/>
                <a:sym typeface="Calibri"/>
              </a:rPr>
              <a:t>Digital Learning Unlocked  ·  2026 APP Fellowship Conference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3538"/>
        </a:solid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9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0A3538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9"/>
          <p:cNvSpPr/>
          <p:nvPr/>
        </p:nvSpPr>
        <p:spPr>
          <a:xfrm rot="720000">
            <a:off x="6703924" y="-914401"/>
            <a:ext cx="12188954" cy="8686801"/>
          </a:xfrm>
          <a:prstGeom prst="rect">
            <a:avLst/>
          </a:prstGeom>
          <a:solidFill>
            <a:srgbClr val="0F5257">
              <a:alpha val="45098"/>
            </a:srgbClr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5545835" y="1617978"/>
            <a:ext cx="1097282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DB</a:t>
            </a:r>
            <a:endParaRPr/>
          </a:p>
        </p:txBody>
      </p:sp>
      <p:sp>
        <p:nvSpPr>
          <p:cNvPr id="447" name="Google Shape;447;p29"/>
          <p:cNvSpPr txBox="1"/>
          <p:nvPr/>
        </p:nvSpPr>
        <p:spPr>
          <a:xfrm>
            <a:off x="640079" y="2733038"/>
            <a:ext cx="10908794" cy="660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0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/>
          </a:p>
        </p:txBody>
      </p:sp>
      <p:sp>
        <p:nvSpPr>
          <p:cNvPr id="448" name="Google Shape;448;p29"/>
          <p:cNvSpPr txBox="1"/>
          <p:nvPr/>
        </p:nvSpPr>
        <p:spPr>
          <a:xfrm>
            <a:off x="640079" y="3743959"/>
            <a:ext cx="10908794" cy="330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2BE6B"/>
              </a:buClr>
              <a:buSzPts val="2200"/>
              <a:buFont typeface="Cambria"/>
              <a:buNone/>
            </a:pPr>
            <a:r>
              <a:rPr b="0" i="0" lang="en-US" sz="2200" u="none" cap="none" strike="noStrike">
                <a:solidFill>
                  <a:srgbClr val="E2BE6B"/>
                </a:solidFill>
                <a:latin typeface="Cambria"/>
                <a:ea typeface="Cambria"/>
                <a:cs typeface="Cambria"/>
                <a:sym typeface="Cambria"/>
              </a:rPr>
              <a:t>Diana Brewer, PA-C</a:t>
            </a:r>
            <a:endParaRPr/>
          </a:p>
        </p:txBody>
      </p:sp>
      <p:sp>
        <p:nvSpPr>
          <p:cNvPr id="449" name="Google Shape;449;p29"/>
          <p:cNvSpPr txBox="1"/>
          <p:nvPr/>
        </p:nvSpPr>
        <p:spPr>
          <a:xfrm>
            <a:off x="640079" y="4477320"/>
            <a:ext cx="10908794" cy="189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D8D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8D8D7"/>
                </a:solidFill>
                <a:latin typeface="Calibri"/>
                <a:ea typeface="Calibri"/>
                <a:cs typeface="Calibri"/>
                <a:sym typeface="Calibri"/>
              </a:rPr>
              <a:t>Knight Cancer Institute Hem/Onc APP Fellowship Director, OHSU  ·  Co-Founder &amp; CMO, Sapient Clinician</a:t>
            </a:r>
            <a:endParaRPr/>
          </a:p>
        </p:txBody>
      </p:sp>
      <p:sp>
        <p:nvSpPr>
          <p:cNvPr id="450" name="Google Shape;450;p29"/>
          <p:cNvSpPr txBox="1"/>
          <p:nvPr/>
        </p:nvSpPr>
        <p:spPr>
          <a:xfrm>
            <a:off x="640079" y="5004501"/>
            <a:ext cx="10908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sng" cap="none" strike="noStrike">
                <a:solidFill>
                  <a:srgbClr val="C8D8D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brewerd@ohsu.edu</a:t>
            </a:r>
            <a:endParaRPr>
              <a:solidFill>
                <a:srgbClr val="C8D8D7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