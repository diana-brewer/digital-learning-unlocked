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3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3538"/>
          </a:solidFill>
          <a:ln/>
        </p:spPr>
      </p:sp>
      <p:sp>
        <p:nvSpPr>
          <p:cNvPr id="3" name="Shape 1"/>
          <p:cNvSpPr/>
          <p:nvPr/>
        </p:nvSpPr>
        <p:spPr>
          <a:xfrm rot="720000">
            <a:off x="6703924" y="-914400"/>
            <a:ext cx="12188952" cy="8686800"/>
          </a:xfrm>
          <a:prstGeom prst="rect">
            <a:avLst/>
          </a:prstGeom>
          <a:solidFill>
            <a:srgbClr val="0F525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188720" y="-1188720"/>
            <a:ext cx="3840480" cy="3840480"/>
          </a:xfrm>
          <a:prstGeom prst="oval">
            <a:avLst/>
          </a:prstGeom>
          <a:ln w="177800">
            <a:solidFill>
              <a:srgbClr val="C99A3C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11512" y="4846320"/>
            <a:ext cx="3108960" cy="3108960"/>
          </a:xfrm>
          <a:prstGeom prst="oval">
            <a:avLst/>
          </a:prstGeom>
          <a:ln w="12700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317236" y="914400"/>
            <a:ext cx="1554480" cy="1554480"/>
          </a:xfrm>
          <a:prstGeom prst="oval">
            <a:avLst/>
          </a:prstGeom>
          <a:ln w="38100">
            <a:solidFill>
              <a:srgbClr val="C99A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17236" y="9144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2B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DLU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Learning Unlocked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640080" y="379476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E2B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Affordable Tools and Tech for Next-Gen APP Education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" y="46177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D8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 Brewer, PA-C  ·  September 2026 APP Fellowship Conference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3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3538"/>
          </a:solidFill>
          <a:ln/>
        </p:spPr>
      </p:sp>
      <p:sp>
        <p:nvSpPr>
          <p:cNvPr id="3" name="Shape 1"/>
          <p:cNvSpPr/>
          <p:nvPr/>
        </p:nvSpPr>
        <p:spPr>
          <a:xfrm rot="720000">
            <a:off x="6703924" y="-914400"/>
            <a:ext cx="12188952" cy="8686800"/>
          </a:xfrm>
          <a:prstGeom prst="rect">
            <a:avLst/>
          </a:prstGeom>
          <a:solidFill>
            <a:srgbClr val="0F525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188720" y="-1188720"/>
            <a:ext cx="3840480" cy="3840480"/>
          </a:xfrm>
          <a:prstGeom prst="oval">
            <a:avLst/>
          </a:prstGeom>
          <a:ln w="177800">
            <a:solidFill>
              <a:srgbClr val="C99A3C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11512" y="4846320"/>
            <a:ext cx="3108960" cy="3108960"/>
          </a:xfrm>
          <a:prstGeom prst="oval">
            <a:avLst/>
          </a:prstGeom>
          <a:ln w="12700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371600"/>
            <a:ext cx="914400" cy="914400"/>
          </a:xfrm>
          <a:prstGeom prst="oval">
            <a:avLst/>
          </a:prstGeom>
          <a:solidFill>
            <a:srgbClr val="FFFFFF"/>
          </a:solidFill>
          <a:ln w="31750">
            <a:solidFill>
              <a:srgbClr val="C99A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371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194560" y="14173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Welcome &amp; Framing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2194560" y="278892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i="1" dirty="0">
                <a:solidFill>
                  <a:srgbClr val="E2B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don't need to be a technology expert.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i="1" dirty="0">
                <a:solidFill>
                  <a:srgbClr val="E2B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need to be a clinician who knows what your learners need.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858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Conflict of Interest &amp; Session Format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539496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0F52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COI: </a:t>
            </a:r>
            <a:pPr indent="0" marL="0">
              <a:buNone/>
            </a:pPr>
            <a:r>
              <a:rPr lang="en-US" sz="15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 Brewer is a co-founder of Sapient Clinician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session is </a:t>
            </a:r>
            <a:pPr indent="0" marL="0">
              <a:buNone/>
            </a:pPr>
            <a:r>
              <a:rPr lang="en-US" sz="1500" b="1" dirty="0">
                <a:solidFill>
                  <a:srgbClr val="0F52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vendor-neutral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3520440"/>
            <a:ext cx="4754880" cy="1188720"/>
          </a:xfrm>
          <a:prstGeom prst="roundRect">
            <a:avLst>
              <a:gd name="adj" fmla="val 6923"/>
            </a:avLst>
          </a:prstGeom>
          <a:solidFill>
            <a:srgbClr val="EDF3F3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52044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[QR code → Workshop Guide page]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737360"/>
            <a:ext cx="544068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965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0F52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SESSION WORKS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629400" y="2304288"/>
            <a:ext cx="4800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min: 40 min presentation + 30 min workshop + 5 min wrap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Workshop Guide open on your phone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· Pair · Share after each section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stays available after the conference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5257800"/>
            <a:ext cx="11201400" cy="1051560"/>
          </a:xfrm>
          <a:prstGeom prst="roundRect">
            <a:avLst>
              <a:gd name="adj" fmla="val 7826"/>
            </a:avLst>
          </a:prstGeom>
          <a:solidFill>
            <a:srgbClr val="0A3538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25780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E2B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Bookmark the Workshop Guide — share it with colleagues, use it Monday morning.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Learning Unlocked  ·  2026 APP Fellowship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3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3538"/>
          </a:solidFill>
          <a:ln/>
        </p:spPr>
      </p:sp>
      <p:sp>
        <p:nvSpPr>
          <p:cNvPr id="3" name="Shape 1"/>
          <p:cNvSpPr/>
          <p:nvPr/>
        </p:nvSpPr>
        <p:spPr>
          <a:xfrm rot="720000">
            <a:off x="6703924" y="-914400"/>
            <a:ext cx="12188952" cy="8686800"/>
          </a:xfrm>
          <a:prstGeom prst="rect">
            <a:avLst/>
          </a:prstGeom>
          <a:solidFill>
            <a:srgbClr val="0F525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188720" y="-1188720"/>
            <a:ext cx="3840480" cy="3840480"/>
          </a:xfrm>
          <a:prstGeom prst="oval">
            <a:avLst/>
          </a:prstGeom>
          <a:ln w="177800">
            <a:solidFill>
              <a:srgbClr val="C99A3C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11512" y="4846320"/>
            <a:ext cx="3108960" cy="3108960"/>
          </a:xfrm>
          <a:prstGeom prst="oval">
            <a:avLst/>
          </a:prstGeom>
          <a:ln w="12700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371600"/>
            <a:ext cx="914400" cy="914400"/>
          </a:xfrm>
          <a:prstGeom prst="oval">
            <a:avLst/>
          </a:prstGeom>
          <a:solidFill>
            <a:srgbClr val="FFFFFF"/>
          </a:solidFill>
          <a:ln w="31750">
            <a:solidFill>
              <a:srgbClr val="C99A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371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194560" y="14173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1 — Digital Tools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2194560" y="283464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2B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or low-cost platforms for creating interactive content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1 ·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Branching Clinical Scenario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71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this on your phone now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103120"/>
            <a:ext cx="6766560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33172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0F52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265176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65-year-old with acute confusion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decisions, see consequences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H5P (free, open-source)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programming required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a clinical action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reasoning path IS the assessment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680960" y="2103120"/>
            <a:ext cx="4023360" cy="3017520"/>
          </a:xfrm>
          <a:prstGeom prst="roundRect">
            <a:avLst>
              <a:gd name="adj" fmla="val 2727"/>
            </a:avLst>
          </a:prstGeom>
          <a:solidFill>
            <a:srgbClr val="0A3538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1000" y="2331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E2B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NOW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01000" y="2697480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0F5257"/>
          </a:solidFill>
          <a:ln/>
        </p:spPr>
      </p:sp>
      <p:sp>
        <p:nvSpPr>
          <p:cNvPr id="11" name="Text 9"/>
          <p:cNvSpPr/>
          <p:nvPr/>
        </p:nvSpPr>
        <p:spPr>
          <a:xfrm>
            <a:off x="8001000" y="26974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Branching Scenario Demo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01000" y="333756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recreate: $0  ·  Time to build: ~1 hour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01000" y="41148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B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Guide → Section 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Learning Unlocked  ·  2026 APP Fellowship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1 · 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Reference — Content Creation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71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list with pricing and links in the Workshop Guide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057400"/>
          <a:ext cx="11201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88920"/>
                <a:gridCol w="6035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2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2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25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/ ~$14/mo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Infographics, visual cases, AI-assisted design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H5P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(OSS)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Branching scenarios, interactive content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Nearpod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/ $120/yr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interactive lectures, formative assessment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Pear Deck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/ $150/yr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Interactive slides with embedded questions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Gamma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/ $10/mo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AI-generated presentations from a prompt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MedEdPORTAL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Peer-reviewed, ready-to-use teaching modules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5349240"/>
            <a:ext cx="11201400" cy="1005840"/>
          </a:xfrm>
          <a:prstGeom prst="roundRect">
            <a:avLst>
              <a:gd name="adj" fmla="val 8182"/>
            </a:avLst>
          </a:prstGeom>
          <a:solidFill>
            <a:srgbClr val="F8F2E5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53492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 </a:t>
            </a:r>
            <a:pPr indent="0" marL="0">
              <a:buNone/>
            </a:pPr>
            <a:r>
              <a:rPr lang="en-US" sz="135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tools (Anki, Quizlet, Brainscape) support memorization, NOT assessment. In the AI era, any assessment that asks students to select an answer can be solved by AI.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Learning Unlocked  ·  2026 APP Fellowship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3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3538"/>
          </a:solidFill>
          <a:ln/>
        </p:spPr>
      </p:sp>
      <p:sp>
        <p:nvSpPr>
          <p:cNvPr id="3" name="Shape 1"/>
          <p:cNvSpPr/>
          <p:nvPr/>
        </p:nvSpPr>
        <p:spPr>
          <a:xfrm rot="720000">
            <a:off x="6703924" y="-914400"/>
            <a:ext cx="12188952" cy="8686800"/>
          </a:xfrm>
          <a:prstGeom prst="rect">
            <a:avLst/>
          </a:prstGeom>
          <a:solidFill>
            <a:srgbClr val="0F525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188720" y="-1188720"/>
            <a:ext cx="3840480" cy="3840480"/>
          </a:xfrm>
          <a:prstGeom prst="oval">
            <a:avLst/>
          </a:prstGeom>
          <a:ln w="177800">
            <a:solidFill>
              <a:srgbClr val="C99A3C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11512" y="4846320"/>
            <a:ext cx="3108960" cy="3108960"/>
          </a:xfrm>
          <a:prstGeom prst="oval">
            <a:avLst/>
          </a:prstGeom>
          <a:ln w="12700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94276" y="960120"/>
            <a:ext cx="3200400" cy="658368"/>
          </a:xfrm>
          <a:prstGeom prst="roundRect">
            <a:avLst>
              <a:gd name="adj" fmla="val 50000"/>
            </a:avLst>
          </a:prstGeom>
          <a:solidFill>
            <a:srgbClr val="C99A3C"/>
          </a:solidFill>
          <a:ln/>
        </p:spPr>
      </p:sp>
      <p:sp>
        <p:nvSpPr>
          <p:cNvPr id="7" name="Text 5"/>
          <p:cNvSpPr/>
          <p:nvPr/>
        </p:nvSpPr>
        <p:spPr>
          <a:xfrm>
            <a:off x="4494276" y="96012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3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· Pair · Share — 3 min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 to your table group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2377440" y="3017520"/>
            <a:ext cx="566928" cy="566928"/>
          </a:xfrm>
          <a:prstGeom prst="oval">
            <a:avLst/>
          </a:prstGeom>
          <a:solidFill>
            <a:srgbClr val="0F5257"/>
          </a:solidFill>
          <a:ln w="19050">
            <a:solidFill>
              <a:srgbClr val="C99A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77440" y="3017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154680" y="297180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one tool you already use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377440" y="3886200"/>
            <a:ext cx="566928" cy="566928"/>
          </a:xfrm>
          <a:prstGeom prst="oval">
            <a:avLst/>
          </a:prstGeom>
          <a:solidFill>
            <a:srgbClr val="0F5257"/>
          </a:solidFill>
          <a:ln w="19050">
            <a:solidFill>
              <a:srgbClr val="C99A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77440" y="3886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154680" y="38404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one tool from the list you're curious about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377440" y="4754880"/>
            <a:ext cx="566928" cy="566928"/>
          </a:xfrm>
          <a:prstGeom prst="oval">
            <a:avLst/>
          </a:prstGeom>
          <a:solidFill>
            <a:srgbClr val="0F5257"/>
          </a:solidFill>
          <a:ln w="19050">
            <a:solidFill>
              <a:srgbClr val="C99A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77440" y="4754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154680" y="47091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one educational challenge you wish you had a tool for?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" y="61264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2B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Guide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3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3538"/>
          </a:solidFill>
          <a:ln/>
        </p:spPr>
      </p:sp>
      <p:sp>
        <p:nvSpPr>
          <p:cNvPr id="3" name="Shape 1"/>
          <p:cNvSpPr/>
          <p:nvPr/>
        </p:nvSpPr>
        <p:spPr>
          <a:xfrm rot="720000">
            <a:off x="6703924" y="-914400"/>
            <a:ext cx="12188952" cy="8686800"/>
          </a:xfrm>
          <a:prstGeom prst="rect">
            <a:avLst/>
          </a:prstGeom>
          <a:solidFill>
            <a:srgbClr val="0F525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188720" y="-1188720"/>
            <a:ext cx="3840480" cy="3840480"/>
          </a:xfrm>
          <a:prstGeom prst="oval">
            <a:avLst/>
          </a:prstGeom>
          <a:ln w="177800">
            <a:solidFill>
              <a:srgbClr val="C99A3C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11512" y="4846320"/>
            <a:ext cx="3108960" cy="3108960"/>
          </a:xfrm>
          <a:prstGeom prst="oval">
            <a:avLst/>
          </a:prstGeom>
          <a:ln w="12700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371600"/>
            <a:ext cx="914400" cy="914400"/>
          </a:xfrm>
          <a:prstGeom prst="oval">
            <a:avLst/>
          </a:prstGeom>
          <a:solidFill>
            <a:srgbClr val="FFFFFF"/>
          </a:solidFill>
          <a:ln w="31750">
            <a:solidFill>
              <a:srgbClr val="C99A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371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194560" y="14173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2 — AI Chatbots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2194560" y="283464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2B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Conversational tools that generate content — and can hallucinate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 · FRAMING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Pedagogical Challenge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71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AI era, we must rethink assessment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103120"/>
            <a:ext cx="11201400" cy="1737360"/>
          </a:xfrm>
          <a:prstGeom prst="roundRect">
            <a:avLst>
              <a:gd name="adj" fmla="val 4737"/>
            </a:avLst>
          </a:prstGeom>
          <a:solidFill>
            <a:srgbClr val="0A3538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3317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E2B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MESSAGE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we use AI to create multiple-choice quizzes, students will use AI to answer them.
</a:t>
            </a:r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That's not education — that's an arms race we've already lost.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02920" y="4114800"/>
            <a:ext cx="112014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AI to create cognitively demanding, authentic learning experiences</a:t>
            </a:r>
            <a:endParaRPr lang="en-US" sz="15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AI can't do for the student: </a:t>
            </a:r>
            <a:endParaRPr lang="en-US" sz="15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50" i="1" dirty="0">
                <a:solidFill>
                  <a:srgbClr val="0F52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encounters, reflective writing,</a:t>
            </a:r>
            <a:endParaRPr lang="en-US" sz="15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50" i="1" dirty="0">
                <a:solidFill>
                  <a:srgbClr val="0F52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reasoning cases, formative feedback on authentic work.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502920" y="589788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9E76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AI to build the scaffolding, not to replace the thinking.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Learning Unlocked  ·  2026 APP Fellowship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 · 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Conversational Chatbots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71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list with pricing in the Workshop Guide → Section 3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48840"/>
          <a:ext cx="112014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880360"/>
                <a:gridCol w="6217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2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2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FEATURES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25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/ $20/mo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versatile. File upload. Voice mode. Custom GPTs.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/ $17/mo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 long content, complex reasoning. 200K context.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/ $20/mo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Workspace integration. Deep Research with citations.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w/ X / ~$30/mo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web search. No enterprise/EDU plan.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/ $10/mo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M365 integration. Many institutions already include it.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Learning Unlocked  ·  2026 APP Fellowship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3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3538"/>
          </a:solidFill>
          <a:ln/>
        </p:spPr>
      </p:sp>
      <p:sp>
        <p:nvSpPr>
          <p:cNvPr id="3" name="Shape 1"/>
          <p:cNvSpPr/>
          <p:nvPr/>
        </p:nvSpPr>
        <p:spPr>
          <a:xfrm rot="720000">
            <a:off x="6703924" y="-914400"/>
            <a:ext cx="12188952" cy="8686800"/>
          </a:xfrm>
          <a:prstGeom prst="rect">
            <a:avLst/>
          </a:prstGeom>
          <a:solidFill>
            <a:srgbClr val="0F525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188720" y="-1188720"/>
            <a:ext cx="3840480" cy="3840480"/>
          </a:xfrm>
          <a:prstGeom prst="oval">
            <a:avLst/>
          </a:prstGeom>
          <a:ln w="177800">
            <a:solidFill>
              <a:srgbClr val="C99A3C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11512" y="4846320"/>
            <a:ext cx="3108960" cy="3108960"/>
          </a:xfrm>
          <a:prstGeom prst="oval">
            <a:avLst/>
          </a:prstGeom>
          <a:ln w="12700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371600"/>
            <a:ext cx="914400" cy="914400"/>
          </a:xfrm>
          <a:prstGeom prst="oval">
            <a:avLst/>
          </a:prstGeom>
          <a:solidFill>
            <a:srgbClr val="FFFFFF"/>
          </a:solidFill>
          <a:ln w="31750">
            <a:solidFill>
              <a:srgbClr val="C99A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371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194560" y="14173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2 — Grounding AI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2194560" y="283464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2B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Preventing hallucinations by grounding in your source material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 · 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Aggregation &amp; Grounding Tools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71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without writing code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011680"/>
            <a:ext cx="11201400" cy="2011680"/>
          </a:xfrm>
          <a:prstGeom prst="roundRect">
            <a:avLst>
              <a:gd name="adj" fmla="val 4091"/>
            </a:avLst>
          </a:prstGeom>
          <a:solidFill>
            <a:srgbClr val="0A3538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E2B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IMPORTANT TOOL IN THIS SESSION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NotebookLM — FREE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68680" y="301752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CED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your source documents → AI responses grounded ONLY in what you uploaded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CED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answer isn't in your documents, it says so. Zero hallucination risk.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DCED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study guides, FAQs, and audio podcast discussions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297680"/>
          <a:ext cx="112014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651760"/>
                <a:gridCol w="64465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2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2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25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Perplexity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/ $20/mo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answer engine that cites every source. Best for EBM exercises.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DeepSeek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 model with visible chain-of-thought. Self-hostable for privacy.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Learning Unlocked  ·  2026 APP Fellowship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 · WORKFLOW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Grounded AI Workflow — No Code Required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2103120"/>
            <a:ext cx="2093976" cy="3383280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48156" y="2395728"/>
            <a:ext cx="603504" cy="603504"/>
          </a:xfrm>
          <a:prstGeom prst="oval">
            <a:avLst/>
          </a:prstGeom>
          <a:solidFill>
            <a:srgbClr val="0F5257"/>
          </a:solidFill>
          <a:ln w="19050">
            <a:solidFill>
              <a:srgbClr val="C99A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48156" y="23957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3200400"/>
            <a:ext cx="20939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Prepare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12648" y="3657600"/>
            <a:ext cx="1874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your source material: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guidelines, case notes,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articles, lecture slides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79776" y="2103120"/>
            <a:ext cx="2093976" cy="3383280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25012" y="2395728"/>
            <a:ext cx="603504" cy="603504"/>
          </a:xfrm>
          <a:prstGeom prst="oval">
            <a:avLst/>
          </a:prstGeom>
          <a:solidFill>
            <a:srgbClr val="0F5257"/>
          </a:solidFill>
          <a:ln w="19050">
            <a:solidFill>
              <a:srgbClr val="C99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23957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779776" y="3200400"/>
            <a:ext cx="20939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889504" y="3657600"/>
            <a:ext cx="1874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to NotebookLM (free)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ChatGPT/Claude with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upload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56632" y="2103120"/>
            <a:ext cx="2093976" cy="3383280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01868" y="2395728"/>
            <a:ext cx="603504" cy="603504"/>
          </a:xfrm>
          <a:prstGeom prst="oval">
            <a:avLst/>
          </a:prstGeom>
          <a:solidFill>
            <a:srgbClr val="0F5257"/>
          </a:solidFill>
          <a:ln w="19050">
            <a:solidFill>
              <a:srgbClr val="C99A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01868" y="23957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56632" y="3200400"/>
            <a:ext cx="20939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166360" y="3657600"/>
            <a:ext cx="1874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this instruction: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"Base your response only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attached documents"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33488" y="2103120"/>
            <a:ext cx="2093976" cy="3383280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78724" y="2395728"/>
            <a:ext cx="603504" cy="603504"/>
          </a:xfrm>
          <a:prstGeom prst="oval">
            <a:avLst/>
          </a:prstGeom>
          <a:solidFill>
            <a:srgbClr val="0F5257"/>
          </a:solidFill>
          <a:ln w="19050">
            <a:solidFill>
              <a:srgbClr val="C99A3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78724" y="23957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333488" y="3200400"/>
            <a:ext cx="20939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443216" y="3657600"/>
            <a:ext cx="1874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Spot-check lab values,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dosages, clinical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against your source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610344" y="2103120"/>
            <a:ext cx="2093976" cy="3383280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355580" y="2395728"/>
            <a:ext cx="603504" cy="603504"/>
          </a:xfrm>
          <a:prstGeom prst="oval">
            <a:avLst/>
          </a:prstGeom>
          <a:solidFill>
            <a:srgbClr val="0F5257"/>
          </a:solidFill>
          <a:ln w="19050">
            <a:solidFill>
              <a:srgbClr val="C99A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355580" y="23957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610344" y="3200400"/>
            <a:ext cx="20939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Reuse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720072" y="3657600"/>
            <a:ext cx="1874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the notebook.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becomes your personal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case library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Learning Unlocked  ·  2026 APP Fellowship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 ·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Demo: NotebookLM Grounding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71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 the problem, then the solution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103120"/>
            <a:ext cx="6766560" cy="374904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33172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0F52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SCRIPT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6126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ChatGPT WITHOUT sources → show hallucination</a:t>
            </a:r>
            <a:endParaRPr lang="en-US" sz="15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Open NotebookLM with pericarditis guidelines</a:t>
            </a:r>
            <a:endParaRPr lang="en-US" sz="15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Same question → grounded, cited response</a:t>
            </a:r>
            <a:endParaRPr lang="en-US" sz="15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Generate clinical reasoning exercise + rubric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Audio Overview (podcast) — play 15 seconds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680960" y="2103120"/>
            <a:ext cx="4023360" cy="3749040"/>
          </a:xfrm>
          <a:prstGeom prst="roundRect">
            <a:avLst>
              <a:gd name="adj" fmla="val 2195"/>
            </a:avLst>
          </a:prstGeom>
          <a:solidFill>
            <a:srgbClr val="0A3538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1000" y="2331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E2B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NOW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01000" y="2697480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0F5257"/>
          </a:solidFill>
          <a:ln/>
        </p:spPr>
      </p:sp>
      <p:sp>
        <p:nvSpPr>
          <p:cNvPr id="11" name="Text 9"/>
          <p:cNvSpPr/>
          <p:nvPr/>
        </p:nvSpPr>
        <p:spPr>
          <a:xfrm>
            <a:off x="8001000" y="26974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NotebookLM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01000" y="33375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B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Guide → Section 4 (prompts)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Learning Unlocked  ·  2026 APP Fellowship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2 · TRY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Copy-Paste Prompt Templates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71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these now — in the Workshop Guide → Section 4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148840"/>
            <a:ext cx="5413248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3774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6517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 Clinical Reasoning Case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4290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NotebookLM or ChatGPT with file upload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81928" y="2148840"/>
            <a:ext cx="5413248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01968" y="23774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01968" y="26517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Simulated Patient Encounter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601968" y="34290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ChatGPT voice mode or Claude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206240"/>
            <a:ext cx="5413248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434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47091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Structured Feedback Rubric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2960" y="5486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Evaluates reasoning, not just answers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81928" y="4206240"/>
            <a:ext cx="5413248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01968" y="4434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01968" y="47091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Reflective Writing Prompts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601968" y="5486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prompts AI can't answer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Learning Unlocked  ·  2026 APP Fellowship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3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3538"/>
          </a:solidFill>
          <a:ln/>
        </p:spPr>
      </p:sp>
      <p:sp>
        <p:nvSpPr>
          <p:cNvPr id="3" name="Shape 1"/>
          <p:cNvSpPr/>
          <p:nvPr/>
        </p:nvSpPr>
        <p:spPr>
          <a:xfrm rot="720000">
            <a:off x="6703924" y="-914400"/>
            <a:ext cx="12188952" cy="8686800"/>
          </a:xfrm>
          <a:prstGeom prst="rect">
            <a:avLst/>
          </a:prstGeom>
          <a:solidFill>
            <a:srgbClr val="0F525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188720" y="-1188720"/>
            <a:ext cx="3840480" cy="3840480"/>
          </a:xfrm>
          <a:prstGeom prst="oval">
            <a:avLst/>
          </a:prstGeom>
          <a:ln w="177800">
            <a:solidFill>
              <a:srgbClr val="C99A3C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11512" y="4846320"/>
            <a:ext cx="3108960" cy="3108960"/>
          </a:xfrm>
          <a:prstGeom prst="oval">
            <a:avLst/>
          </a:prstGeom>
          <a:ln w="12700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94276" y="960120"/>
            <a:ext cx="3200400" cy="658368"/>
          </a:xfrm>
          <a:prstGeom prst="roundRect">
            <a:avLst>
              <a:gd name="adj" fmla="val 50000"/>
            </a:avLst>
          </a:prstGeom>
          <a:solidFill>
            <a:srgbClr val="C99A3C"/>
          </a:solidFill>
          <a:ln/>
        </p:spPr>
      </p:sp>
      <p:sp>
        <p:nvSpPr>
          <p:cNvPr id="7" name="Text 5"/>
          <p:cNvSpPr/>
          <p:nvPr/>
        </p:nvSpPr>
        <p:spPr>
          <a:xfrm>
            <a:off x="4494276" y="96012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3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· Pair · Share — 3 min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now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920240" y="2834640"/>
            <a:ext cx="566928" cy="566928"/>
          </a:xfrm>
          <a:prstGeom prst="oval">
            <a:avLst/>
          </a:prstGeom>
          <a:solidFill>
            <a:srgbClr val="0F5257"/>
          </a:solidFill>
          <a:ln w="19050">
            <a:solidFill>
              <a:srgbClr val="C99A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20240" y="2834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697480" y="278892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phone, open ChatGPT, Claude, or Gemini (all free)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1920240" y="3611880"/>
            <a:ext cx="566928" cy="566928"/>
          </a:xfrm>
          <a:prstGeom prst="oval">
            <a:avLst/>
          </a:prstGeom>
          <a:solidFill>
            <a:srgbClr val="0F5257"/>
          </a:solidFill>
          <a:ln w="19050">
            <a:solidFill>
              <a:srgbClr val="C99A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20240" y="3611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97480" y="35661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and paste Prompt #1 or #2 from the Workshop Guide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920240" y="4389120"/>
            <a:ext cx="566928" cy="566928"/>
          </a:xfrm>
          <a:prstGeom prst="oval">
            <a:avLst/>
          </a:prstGeom>
          <a:solidFill>
            <a:srgbClr val="0F5257"/>
          </a:solidFill>
          <a:ln w="19050">
            <a:solidFill>
              <a:srgbClr val="C99A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20240" y="4389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697480" y="434340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have a clinical guideline, upload it first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920240" y="5166360"/>
            <a:ext cx="566928" cy="566928"/>
          </a:xfrm>
          <a:prstGeom prst="oval">
            <a:avLst/>
          </a:prstGeom>
          <a:solidFill>
            <a:srgbClr val="0F5257"/>
          </a:solidFill>
          <a:ln w="19050">
            <a:solidFill>
              <a:srgbClr val="C99A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920240" y="5166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697480" y="512064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with your table — what worked? What surprised you?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0080" y="62636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2B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Guide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3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3538"/>
          </a:solidFill>
          <a:ln/>
        </p:spPr>
      </p:sp>
      <p:sp>
        <p:nvSpPr>
          <p:cNvPr id="3" name="Shape 1"/>
          <p:cNvSpPr/>
          <p:nvPr/>
        </p:nvSpPr>
        <p:spPr>
          <a:xfrm rot="720000">
            <a:off x="6703924" y="-914400"/>
            <a:ext cx="12188952" cy="8686800"/>
          </a:xfrm>
          <a:prstGeom prst="rect">
            <a:avLst/>
          </a:prstGeom>
          <a:solidFill>
            <a:srgbClr val="0F525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188720" y="-1188720"/>
            <a:ext cx="3840480" cy="3840480"/>
          </a:xfrm>
          <a:prstGeom prst="oval">
            <a:avLst/>
          </a:prstGeom>
          <a:ln w="177800">
            <a:solidFill>
              <a:srgbClr val="C99A3C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11512" y="4846320"/>
            <a:ext cx="3108960" cy="3108960"/>
          </a:xfrm>
          <a:prstGeom prst="oval">
            <a:avLst/>
          </a:prstGeom>
          <a:ln w="12700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371600"/>
            <a:ext cx="914400" cy="914400"/>
          </a:xfrm>
          <a:prstGeom prst="oval">
            <a:avLst/>
          </a:prstGeom>
          <a:solidFill>
            <a:srgbClr val="FFFFFF"/>
          </a:solidFill>
          <a:ln w="31750">
            <a:solidFill>
              <a:srgbClr val="C99A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371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194560" y="14173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3 — Simulation Spectrum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2194560" y="283464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2B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 the technology to the learning goal — from text to VR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3 · FRAMING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858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Clinician's Perspective on Simulation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920240"/>
            <a:ext cx="11201400" cy="3931920"/>
          </a:xfrm>
          <a:prstGeom prst="roundRect">
            <a:avLst>
              <a:gd name="adj" fmla="val 2093"/>
            </a:avLst>
          </a:prstGeom>
          <a:solidFill>
            <a:srgbClr val="0A3538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402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E2B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TRENCHES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Immersion doesn't require a headset.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338328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DCED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well-designed text-and-audio case — where a learner interviews a patient, orders labs, interprets an ECG, and builds a differential — can teach clinical reasoning as effectively as a $500 VR setup.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498348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E2B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matters is the thinking the learner does, not the fidelity of the interface.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Learning Unlocked  ·  2026 APP Fellowship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3 · SPECTRUM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Fidelity Spectrum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71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most expensive simulation is not the best simulation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148840"/>
            <a:ext cx="2093976" cy="3566160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48840"/>
            <a:ext cx="2093976" cy="109728"/>
          </a:xfrm>
          <a:prstGeom prst="rect">
            <a:avLst/>
          </a:prstGeom>
          <a:solidFill>
            <a:srgbClr val="0F525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395728"/>
            <a:ext cx="1819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1819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 &amp; Audio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3566160"/>
            <a:ext cx="1819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— $20/mo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3977640"/>
            <a:ext cx="1819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Interview, labs, differential, images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779776" y="2148840"/>
            <a:ext cx="2093976" cy="3566160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79776" y="2148840"/>
            <a:ext cx="2093976" cy="109728"/>
          </a:xfrm>
          <a:prstGeom prst="rect">
            <a:avLst/>
          </a:prstGeom>
          <a:solidFill>
            <a:srgbClr val="0F5257"/>
          </a:solidFill>
          <a:ln/>
        </p:spPr>
      </p:sp>
      <p:sp>
        <p:nvSpPr>
          <p:cNvPr id="13" name="Text 11"/>
          <p:cNvSpPr/>
          <p:nvPr/>
        </p:nvSpPr>
        <p:spPr>
          <a:xfrm>
            <a:off x="2916936" y="2395728"/>
            <a:ext cx="1819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916936" y="2743200"/>
            <a:ext cx="1819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Image-Based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916936" y="3566160"/>
            <a:ext cx="1819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— $25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916936" y="3977640"/>
            <a:ext cx="1819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ECGs, radiology, lab interpretation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56632" y="2148840"/>
            <a:ext cx="2093976" cy="3566160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56632" y="2148840"/>
            <a:ext cx="2093976" cy="109728"/>
          </a:xfrm>
          <a:prstGeom prst="rect">
            <a:avLst/>
          </a:prstGeom>
          <a:solidFill>
            <a:srgbClr val="0F5257"/>
          </a:solidFill>
          <a:ln/>
        </p:spPr>
      </p:sp>
      <p:sp>
        <p:nvSpPr>
          <p:cNvPr id="19" name="Text 17"/>
          <p:cNvSpPr/>
          <p:nvPr/>
        </p:nvSpPr>
        <p:spPr>
          <a:xfrm>
            <a:off x="5193792" y="2395728"/>
            <a:ext cx="1819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93792" y="2743200"/>
            <a:ext cx="1819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Screen-Based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193792" y="3566160"/>
            <a:ext cx="1819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trial — inst.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193792" y="3977640"/>
            <a:ext cx="1819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patients, branching scenarios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333488" y="2148840"/>
            <a:ext cx="2093976" cy="3566160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33488" y="2148840"/>
            <a:ext cx="2093976" cy="109728"/>
          </a:xfrm>
          <a:prstGeom prst="rect">
            <a:avLst/>
          </a:prstGeom>
          <a:solidFill>
            <a:srgbClr val="0F5257"/>
          </a:solidFill>
          <a:ln/>
        </p:spPr>
      </p:sp>
      <p:sp>
        <p:nvSpPr>
          <p:cNvPr id="25" name="Text 23"/>
          <p:cNvSpPr/>
          <p:nvPr/>
        </p:nvSpPr>
        <p:spPr>
          <a:xfrm>
            <a:off x="7470648" y="2395728"/>
            <a:ext cx="1819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470648" y="2743200"/>
            <a:ext cx="1819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 (Phone)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470648" y="3566160"/>
            <a:ext cx="1819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— $25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470648" y="3977640"/>
            <a:ext cx="1819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anatomy on phone, no headset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610344" y="2148840"/>
            <a:ext cx="2093976" cy="3566160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610344" y="2148840"/>
            <a:ext cx="2093976" cy="109728"/>
          </a:xfrm>
          <a:prstGeom prst="rect">
            <a:avLst/>
          </a:prstGeom>
          <a:solidFill>
            <a:srgbClr val="C99A3C"/>
          </a:solidFill>
          <a:ln/>
        </p:spPr>
      </p:sp>
      <p:sp>
        <p:nvSpPr>
          <p:cNvPr id="31" name="Text 29"/>
          <p:cNvSpPr/>
          <p:nvPr/>
        </p:nvSpPr>
        <p:spPr>
          <a:xfrm>
            <a:off x="9747504" y="2395728"/>
            <a:ext cx="1819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747504" y="2743200"/>
            <a:ext cx="1819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Immersive VR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9747504" y="3566160"/>
            <a:ext cx="1819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 — $600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747504" y="3977640"/>
            <a:ext cx="1819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Procedures, team scenarios, physical skills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Learning Unlocked  ·  2026 APP Fellowship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3 ·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Interactive Clinical Reasoning Case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71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this on your phone now — no VR needed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103120"/>
            <a:ext cx="6766560" cy="384048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33172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0F52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DO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2651760"/>
            <a:ext cx="6126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19-year-old male with sharp chest pain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the patient (text-based)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labs, interpret an ECG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differential with reasoning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assessment and plan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feedback on your reasoning process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680960" y="2103120"/>
            <a:ext cx="4023360" cy="3840480"/>
          </a:xfrm>
          <a:prstGeom prst="roundRect">
            <a:avLst>
              <a:gd name="adj" fmla="val 2143"/>
            </a:avLst>
          </a:prstGeom>
          <a:solidFill>
            <a:srgbClr val="0A3538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1000" y="2331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E2B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NOW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01000" y="2697480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0F5257"/>
          </a:solidFill>
          <a:ln/>
        </p:spPr>
      </p:sp>
      <p:sp>
        <p:nvSpPr>
          <p:cNvPr id="11" name="Text 9"/>
          <p:cNvSpPr/>
          <p:nvPr/>
        </p:nvSpPr>
        <p:spPr>
          <a:xfrm>
            <a:off x="8001000" y="26974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Clinical Reasoning Case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01000" y="3383280"/>
            <a:ext cx="3383280" cy="2240280"/>
          </a:xfrm>
          <a:prstGeom prst="roundRect">
            <a:avLst>
              <a:gd name="adj" fmla="val 3673"/>
            </a:avLst>
          </a:prstGeom>
          <a:solidFill>
            <a:srgbClr val="134749"/>
          </a:solidFill>
          <a:ln/>
        </p:spPr>
      </p:sp>
      <p:sp>
        <p:nvSpPr>
          <p:cNvPr id="13" name="Text 11"/>
          <p:cNvSpPr/>
          <p:nvPr/>
        </p:nvSpPr>
        <p:spPr>
          <a:xfrm>
            <a:off x="8183880" y="3566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E2B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183880" y="3886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multiple choice. The reasoning IS the assessment.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Learning Unlocked  ·  2026 APP Fellowship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3 · 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Tools by Fidelity Level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71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list with pricing in the Workshop Guide → Sections 5 &amp; 6</a:t>
            </a:r>
            <a:endParaRPr lang="en-US" sz="1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65960"/>
          <a:ext cx="112014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743200"/>
                <a:gridCol w="2194560"/>
                <a:gridCol w="41605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FIDELITY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2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2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2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25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Text/Audio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 (patient sim)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History-taking, communication practice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Text/Audio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Flip (video reflection)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 presentations, peer feedback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Text/Audio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Sketchy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 mnemonic learning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Text/Audio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Xuron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virtual patient encounters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Text/Audio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SimConverse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communication skills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Text/Audio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Geeky Medics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/ Premium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OSCE cases and exam prep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Text/Audio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 library + clinical cases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Text/Audio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Sapient Clinician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reasoning assessment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Image/Screen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H5P (branching)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Branching clinical decision trees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Image/Screen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Body Interact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trial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patient simulator (targets PA)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3D Anatomy/AR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BioDigital Human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Browser-based 3D anatomy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3D Anatomy/AR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Visible Body Atlas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 one-time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3D anatomy + AR on phone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Institutional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Explicitly targets PA/APP programs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Institutional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150+ VR patient scenarios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Learning Unlocked  ·  2026 APP Fellowship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3 · 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VR Hardware — When It's Worth the Investment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881360" y="502920"/>
            <a:ext cx="566928" cy="566928"/>
          </a:xfrm>
          <a:prstGeom prst="oval">
            <a:avLst/>
          </a:prstGeom>
          <a:solidFill>
            <a:srgbClr val="0F5257"/>
          </a:solidFill>
          <a:ln w="19050">
            <a:solidFill>
              <a:srgbClr val="C99A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88136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2014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514600"/>
                <a:gridCol w="5029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HARDWARE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2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25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ENABLES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25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Cardboard / phone VR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$5–$25/viewer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VR demos, 360° anatomy. No controllers.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Quest 2 (refurbished)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~$100–$150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Lowest-cost standalone VR. Runs most medical apps.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Quest 3S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$349.99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value for new purchase. Color passthrough AR.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A35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Quest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$599.99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A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Premium. Not necessary for most programs.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D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3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572000"/>
            <a:ext cx="5486400" cy="1645920"/>
          </a:xfrm>
          <a:prstGeom prst="roundRect">
            <a:avLst>
              <a:gd name="adj" fmla="val 5000"/>
            </a:avLst>
          </a:prstGeom>
          <a:solidFill>
            <a:srgbClr val="EDF4E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7548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2F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VR WHEN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" y="50749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Procedural skills, team scenarios, high-acuity rehearsal, regular use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17920" y="4572000"/>
            <a:ext cx="5486400" cy="1645920"/>
          </a:xfrm>
          <a:prstGeom prst="roundRect">
            <a:avLst>
              <a:gd name="adj" fmla="val 5000"/>
            </a:avLst>
          </a:prstGeom>
          <a:solidFill>
            <a:srgbClr val="F8F2E5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47548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USE VR WHEN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537960" y="50749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learning goal is clinical reasoning — text/screen does the job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Learning Unlocked  ·  2026 APP Fellowship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3 · RECOMMENDATION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Starter Stack for Low-Resource Programs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2660904" cy="3566160"/>
          </a:xfrm>
          <a:prstGeom prst="roundRect">
            <a:avLst>
              <a:gd name="adj" fmla="val 3093"/>
            </a:avLst>
          </a:prstGeom>
          <a:solidFill>
            <a:srgbClr val="0A3538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331720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2B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ENTRY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88036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31520" y="3840480"/>
            <a:ext cx="22037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CED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+ BioDigital Human + Flip + NotebookLM + H5P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92424" y="2011680"/>
            <a:ext cx="2660904" cy="35661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21024" y="2331720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21024" y="288036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$25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621024" y="3840480"/>
            <a:ext cx="22037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+ Visible Body Atlas (includes AR)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81928" y="2011680"/>
            <a:ext cx="2660904" cy="35661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10528" y="2331720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HEADSET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10528" y="288036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~$125-175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510528" y="3840480"/>
            <a:ext cx="22037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+ 1 refurbished Meta Quest 2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71432" y="2011680"/>
            <a:ext cx="2660904" cy="35661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00032" y="2331720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PROGRAM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400032" y="288036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~$700-1,100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9400032" y="3840480"/>
            <a:ext cx="22037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+ 2-3 Meta Quest 3S (~$350 each)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Learning Unlocked  ·  2026 APP Fellowship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3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3538"/>
          </a:solidFill>
          <a:ln/>
        </p:spPr>
      </p:sp>
      <p:sp>
        <p:nvSpPr>
          <p:cNvPr id="3" name="Shape 1"/>
          <p:cNvSpPr/>
          <p:nvPr/>
        </p:nvSpPr>
        <p:spPr>
          <a:xfrm rot="720000">
            <a:off x="6703924" y="-914400"/>
            <a:ext cx="12188952" cy="8686800"/>
          </a:xfrm>
          <a:prstGeom prst="rect">
            <a:avLst/>
          </a:prstGeom>
          <a:solidFill>
            <a:srgbClr val="0F525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188720" y="-1188720"/>
            <a:ext cx="3840480" cy="3840480"/>
          </a:xfrm>
          <a:prstGeom prst="oval">
            <a:avLst/>
          </a:prstGeom>
          <a:ln w="177800">
            <a:solidFill>
              <a:srgbClr val="C99A3C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11512" y="4846320"/>
            <a:ext cx="3108960" cy="3108960"/>
          </a:xfrm>
          <a:prstGeom prst="oval">
            <a:avLst/>
          </a:prstGeom>
          <a:ln w="12700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94276" y="960120"/>
            <a:ext cx="3200400" cy="658368"/>
          </a:xfrm>
          <a:prstGeom prst="roundRect">
            <a:avLst>
              <a:gd name="adj" fmla="val 50000"/>
            </a:avLst>
          </a:prstGeom>
          <a:solidFill>
            <a:srgbClr val="C99A3C"/>
          </a:solidFill>
          <a:ln/>
        </p:spPr>
      </p:sp>
      <p:sp>
        <p:nvSpPr>
          <p:cNvPr id="7" name="Text 5"/>
          <p:cNvSpPr/>
          <p:nvPr/>
        </p:nvSpPr>
        <p:spPr>
          <a:xfrm>
            <a:off x="4494276" y="96012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3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· Pair · Share — 3 min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 the tool to the goal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920240" y="2834640"/>
            <a:ext cx="566928" cy="566928"/>
          </a:xfrm>
          <a:prstGeom prst="oval">
            <a:avLst/>
          </a:prstGeom>
          <a:solidFill>
            <a:srgbClr val="0F5257"/>
          </a:solidFill>
          <a:ln w="19050">
            <a:solidFill>
              <a:srgbClr val="C99A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20240" y="2834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697480" y="278892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a clinical skill your fellows need to learn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1920240" y="3611880"/>
            <a:ext cx="566928" cy="566928"/>
          </a:xfrm>
          <a:prstGeom prst="oval">
            <a:avLst/>
          </a:prstGeom>
          <a:solidFill>
            <a:srgbClr val="0F5257"/>
          </a:solidFill>
          <a:ln w="19050">
            <a:solidFill>
              <a:srgbClr val="C99A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20240" y="3611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97480" y="35661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fidelity level would you choose? Text? Images? Screen? AR? VR?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920240" y="4389120"/>
            <a:ext cx="566928" cy="566928"/>
          </a:xfrm>
          <a:prstGeom prst="oval">
            <a:avLst/>
          </a:prstGeom>
          <a:solidFill>
            <a:srgbClr val="0F5257"/>
          </a:solidFill>
          <a:ln w="19050">
            <a:solidFill>
              <a:srgbClr val="C99A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20240" y="4389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697480" y="434340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the free option work? Or does this skill genuinely require VR?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920240" y="5166360"/>
            <a:ext cx="566928" cy="566928"/>
          </a:xfrm>
          <a:prstGeom prst="oval">
            <a:avLst/>
          </a:prstGeom>
          <a:solidFill>
            <a:srgbClr val="0F5257"/>
          </a:solidFill>
          <a:ln w="19050">
            <a:solidFill>
              <a:srgbClr val="C99A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920240" y="5166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697480" y="512064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your reasoning with your table group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0080" y="62636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2B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Guide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3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3538"/>
          </a:solidFill>
          <a:ln/>
        </p:spPr>
      </p:sp>
      <p:sp>
        <p:nvSpPr>
          <p:cNvPr id="3" name="Shape 1"/>
          <p:cNvSpPr/>
          <p:nvPr/>
        </p:nvSpPr>
        <p:spPr>
          <a:xfrm rot="720000">
            <a:off x="6703924" y="-914400"/>
            <a:ext cx="12188952" cy="8686800"/>
          </a:xfrm>
          <a:prstGeom prst="rect">
            <a:avLst/>
          </a:prstGeom>
          <a:solidFill>
            <a:srgbClr val="0F525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188720" y="-1188720"/>
            <a:ext cx="3840480" cy="3840480"/>
          </a:xfrm>
          <a:prstGeom prst="oval">
            <a:avLst/>
          </a:prstGeom>
          <a:ln w="177800">
            <a:solidFill>
              <a:srgbClr val="C99A3C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11512" y="4846320"/>
            <a:ext cx="3108960" cy="3108960"/>
          </a:xfrm>
          <a:prstGeom prst="oval">
            <a:avLst/>
          </a:prstGeom>
          <a:ln w="12700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371600"/>
            <a:ext cx="914400" cy="914400"/>
          </a:xfrm>
          <a:prstGeom prst="oval">
            <a:avLst/>
          </a:prstGeom>
          <a:solidFill>
            <a:srgbClr val="FFFFFF"/>
          </a:solidFill>
          <a:ln w="31750">
            <a:solidFill>
              <a:srgbClr val="C99A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371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194560" y="14173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Capstone Design Sprint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2194560" y="283464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2B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 one of your ideas into a plan you can take back to your program</a:t>
            </a:r>
            <a:endParaRPr lang="en-US" sz="2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· 20 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Capstone Design Sprint — 20 min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71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Extend your earlier discussions into a complete plan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011680"/>
            <a:ext cx="11201400" cy="1371600"/>
          </a:xfrm>
          <a:prstGeom prst="roundRect">
            <a:avLst>
              <a:gd name="adj" fmla="val 6000"/>
            </a:avLst>
          </a:prstGeom>
          <a:solidFill>
            <a:srgbClr val="F8F2E5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212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542032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been discussing tools and ideas after each section — now extend that into a full implementation plan. Pick the idea that feels most feasible.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703320"/>
            <a:ext cx="209397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48156" y="3931920"/>
            <a:ext cx="603504" cy="603504"/>
          </a:xfrm>
          <a:prstGeom prst="oval">
            <a:avLst/>
          </a:prstGeom>
          <a:solidFill>
            <a:srgbClr val="0F5257"/>
          </a:solidFill>
          <a:ln w="19050">
            <a:solidFill>
              <a:srgbClr val="C99A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48156" y="39319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4663440"/>
            <a:ext cx="1911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Identify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779776" y="3703320"/>
            <a:ext cx="209397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25012" y="3931920"/>
            <a:ext cx="603504" cy="603504"/>
          </a:xfrm>
          <a:prstGeom prst="oval">
            <a:avLst/>
          </a:prstGeom>
          <a:solidFill>
            <a:srgbClr val="0F5257"/>
          </a:solidFill>
          <a:ln w="19050">
            <a:solidFill>
              <a:srgbClr val="C99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25012" y="39319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871216" y="4663440"/>
            <a:ext cx="1911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Goals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56632" y="3703320"/>
            <a:ext cx="209397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1868" y="3931920"/>
            <a:ext cx="603504" cy="603504"/>
          </a:xfrm>
          <a:prstGeom prst="oval">
            <a:avLst/>
          </a:prstGeom>
          <a:solidFill>
            <a:srgbClr val="0F5257"/>
          </a:solidFill>
          <a:ln w="19050">
            <a:solidFill>
              <a:srgbClr val="C99A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01868" y="39319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148072" y="4663440"/>
            <a:ext cx="1911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333488" y="3703320"/>
            <a:ext cx="209397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78724" y="3931920"/>
            <a:ext cx="603504" cy="603504"/>
          </a:xfrm>
          <a:prstGeom prst="oval">
            <a:avLst/>
          </a:prstGeom>
          <a:solidFill>
            <a:srgbClr val="0F5257"/>
          </a:solidFill>
          <a:ln w="19050">
            <a:solidFill>
              <a:srgbClr val="C99A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78724" y="39319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24928" y="4663440"/>
            <a:ext cx="1911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Pedagogy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Technology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610344" y="3703320"/>
            <a:ext cx="209397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355580" y="3931920"/>
            <a:ext cx="603504" cy="603504"/>
          </a:xfrm>
          <a:prstGeom prst="oval">
            <a:avLst/>
          </a:prstGeom>
          <a:solidFill>
            <a:srgbClr val="0F5257"/>
          </a:solidFill>
          <a:ln w="19050">
            <a:solidFill>
              <a:srgbClr val="C99A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355580" y="39319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701784" y="4663440"/>
            <a:ext cx="1911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Sketch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02920" y="5897880"/>
            <a:ext cx="11201400" cy="594360"/>
          </a:xfrm>
          <a:prstGeom prst="roundRect">
            <a:avLst>
              <a:gd name="adj" fmla="val 13846"/>
            </a:avLst>
          </a:prstGeom>
          <a:solidFill>
            <a:srgbClr val="0A3538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" y="5897880"/>
            <a:ext cx="11201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2B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Guide → Section 7 (Worksheet)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Learning Unlocked  ·  2026 APP Fellowship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A3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3538"/>
          </a:solidFill>
          <a:ln/>
        </p:spPr>
      </p:sp>
      <p:sp>
        <p:nvSpPr>
          <p:cNvPr id="3" name="Shape 1"/>
          <p:cNvSpPr/>
          <p:nvPr/>
        </p:nvSpPr>
        <p:spPr>
          <a:xfrm rot="720000">
            <a:off x="6703924" y="-914400"/>
            <a:ext cx="12188952" cy="8686800"/>
          </a:xfrm>
          <a:prstGeom prst="rect">
            <a:avLst/>
          </a:prstGeom>
          <a:solidFill>
            <a:srgbClr val="0F525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188720" y="-1188720"/>
            <a:ext cx="3840480" cy="3840480"/>
          </a:xfrm>
          <a:prstGeom prst="oval">
            <a:avLst/>
          </a:prstGeom>
          <a:ln w="177800">
            <a:solidFill>
              <a:srgbClr val="C99A3C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11512" y="4846320"/>
            <a:ext cx="3108960" cy="3108960"/>
          </a:xfrm>
          <a:prstGeom prst="oval">
            <a:avLst/>
          </a:prstGeom>
          <a:ln w="12700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22876" y="1234440"/>
            <a:ext cx="2743200" cy="658368"/>
          </a:xfrm>
          <a:prstGeom prst="roundRect">
            <a:avLst>
              <a:gd name="adj" fmla="val 50000"/>
            </a:avLst>
          </a:prstGeom>
          <a:solidFill>
            <a:srgbClr val="C99A3C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123444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35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Share-Out — 5 min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194560" y="2468880"/>
            <a:ext cx="566928" cy="566928"/>
          </a:xfrm>
          <a:prstGeom prst="oval">
            <a:avLst/>
          </a:prstGeom>
          <a:solidFill>
            <a:srgbClr val="0F5257"/>
          </a:solidFill>
          <a:ln w="19050">
            <a:solidFill>
              <a:srgbClr val="C99A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971800" y="2423160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groups share their plan (60 seconds each)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2194560" y="3337560"/>
            <a:ext cx="566928" cy="566928"/>
          </a:xfrm>
          <a:prstGeom prst="oval">
            <a:avLst/>
          </a:prstGeom>
          <a:solidFill>
            <a:srgbClr val="0F5257"/>
          </a:solidFill>
          <a:ln w="19050">
            <a:solidFill>
              <a:srgbClr val="C99A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94560" y="3337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971800" y="3291840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your educational need?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2194560" y="4206240"/>
            <a:ext cx="566928" cy="566928"/>
          </a:xfrm>
          <a:prstGeom prst="oval">
            <a:avLst/>
          </a:prstGeom>
          <a:solidFill>
            <a:srgbClr val="0F5257"/>
          </a:solidFill>
          <a:ln w="19050">
            <a:solidFill>
              <a:srgbClr val="C99A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94560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971800" y="4160520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tool did you pick, and why?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2194560" y="5074920"/>
            <a:ext cx="566928" cy="566928"/>
          </a:xfrm>
          <a:prstGeom prst="oval">
            <a:avLst/>
          </a:prstGeom>
          <a:solidFill>
            <a:srgbClr val="0F5257"/>
          </a:solidFill>
          <a:ln w="19050">
            <a:solidFill>
              <a:srgbClr val="C99A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94560" y="5074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971800" y="5029200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one barrier and how will you handle it?</a:t>
            </a:r>
            <a:endParaRPr lang="en-US" sz="1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9E7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 · 2 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858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35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Wrap-Up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14630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71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with one tool, one need, one small experiment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103120"/>
            <a:ext cx="11201400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3DD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23160"/>
            <a:ext cx="10424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today is in the Workshop Guide — bookmark it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Zero Dollar Starter Kit: 9 free tools you can use Monday morning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resource links, prompt templates, and the worksheet stay available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a grant, an IT ticket, or a technology expert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C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to know what your learners need — and you already know that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" y="5349240"/>
            <a:ext cx="11201400" cy="731520"/>
          </a:xfrm>
          <a:prstGeom prst="roundRect">
            <a:avLst>
              <a:gd name="adj" fmla="val 11250"/>
            </a:avLst>
          </a:prstGeom>
          <a:solidFill>
            <a:srgbClr val="0A3538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5349240"/>
            <a:ext cx="11201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2B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Guide → Section 8 (All Resources)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Learning Unlocked  ·  2026 APP Fellowship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35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3538"/>
          </a:solidFill>
          <a:ln/>
        </p:spPr>
      </p:sp>
      <p:sp>
        <p:nvSpPr>
          <p:cNvPr id="3" name="Shape 1"/>
          <p:cNvSpPr/>
          <p:nvPr/>
        </p:nvSpPr>
        <p:spPr>
          <a:xfrm rot="720000">
            <a:off x="6703924" y="-914400"/>
            <a:ext cx="12188952" cy="8686800"/>
          </a:xfrm>
          <a:prstGeom prst="rect">
            <a:avLst/>
          </a:prstGeom>
          <a:solidFill>
            <a:srgbClr val="0F525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188720" y="-1188720"/>
            <a:ext cx="3840480" cy="3840480"/>
          </a:xfrm>
          <a:prstGeom prst="oval">
            <a:avLst/>
          </a:prstGeom>
          <a:ln w="177800">
            <a:solidFill>
              <a:srgbClr val="C99A3C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11512" y="4846320"/>
            <a:ext cx="3108960" cy="3108960"/>
          </a:xfrm>
          <a:prstGeom prst="oval">
            <a:avLst/>
          </a:prstGeom>
          <a:ln w="12700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45836" y="1234440"/>
            <a:ext cx="1097280" cy="1097280"/>
          </a:xfrm>
          <a:prstGeom prst="oval">
            <a:avLst/>
          </a:prstGeom>
          <a:ln w="31750">
            <a:solidFill>
              <a:srgbClr val="C99A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45836" y="12344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2B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60604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36576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E2B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Diana Brewer, PA-C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43434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D8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Knight Cancer Institute Hem/Onc APP Fellowship Director, OHSU  ·  Co-Founder &amp; CMO, Sapient Clinician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89204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brewerd@ohsu.edu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Learning Unlocked</dc:title>
  <dc:subject>PptxGenJS Presentation</dc:subject>
  <dc:creator>Diana Brewer</dc:creator>
  <cp:lastModifiedBy>Diana Brewer</cp:lastModifiedBy>
  <cp:revision>1</cp:revision>
  <dcterms:created xsi:type="dcterms:W3CDTF">2026-07-31T19:18:43Z</dcterms:created>
  <dcterms:modified xsi:type="dcterms:W3CDTF">2026-07-31T19:18:43Z</dcterms:modified>
</cp:coreProperties>
</file>