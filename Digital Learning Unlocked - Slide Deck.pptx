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lm.google.com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case-demo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apientclinician.co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2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Digital Learning Unlocked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4A55A"/>
                </a:solidFill>
                <a:latin typeface="Calibri"/>
              </a:defRPr>
            </a:pPr>
            <a:r>
              <a:t>Affordable Tools and Tech for Next-Gen APP Education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Diana Brewer, PA-C  ·  September 2026 APP Fellowship Conference  ·  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Welcome &amp;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Conflict of Interest &amp; Session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COI: Diana Brewer is co-founder of Sapient Clinician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This session is vendor-neutral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75 min: 43 min presentation + 30 min workshop + 2 min wrap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Keep the Workshop Guide open on your phone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Think · Pair · Share after each section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Everything stays available after the conference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2860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A6B7E"/>
                </a:solidFill>
                <a:latin typeface="Calibri"/>
              </a:defRPr>
            </a:pPr>
            <a:r>
              <a:t>[QR code → Workshop Guide page]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2560320"/>
            <a:ext cx="3200400" cy="3200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1 — Digital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Free or low-cost platforms for creating interactive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Demo: Branching Clinical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Try this on your phone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486400" cy="4114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0800" cy="41148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5F7C"/>
                </a:solidFill>
                <a:latin typeface="Calibri"/>
              </a:defRPr>
            </a:pPr>
            <a: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65-year-old with acute confusion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Make decisions, see consequences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Built with H5P (free, open-source)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No programming required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Every decision is a clinical action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The reasoning path IS the assessment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371600"/>
            <a:ext cx="5029200" cy="18288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50800" cy="1828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554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TRY IT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5F7C"/>
                </a:solidFill>
                <a:latin typeface="Calibri"/>
                <a:hlinkClick r:id="rId2"/>
              </a:rPr>
              <a:t>▶ Branching Scenario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Cost to recreate: $0  ·  Time to build: ~1 hour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5F7C"/>
                </a:solidFill>
                <a:latin typeface="Calibri"/>
                <a:hlinkClick r:id="rId3"/>
              </a:rPr>
              <a:t>Workshop Guide → Section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Tool Reference — Content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Full list with pricing and links in the Workshop Guide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640080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Canva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~$14/mo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Infographics, visual cases, AI-assisted design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H5P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8659"/>
                          </a:solidFill>
                          <a:latin typeface="Calibri"/>
                        </a:defRPr>
                      </a:pPr>
                      <a:r>
                        <a:t>Free (OSS)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Branching scenarios, interactive 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Nearpod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$120/yr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Live interactive lectures, formative assessment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Pear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$150/yr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Interactive slides with embedded 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Gamma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$10/mo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AI-generated presentations from a prompt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MedEdPORTAL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8659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Peer-reviewed, ready-to-use teaching modules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303520"/>
            <a:ext cx="11247120" cy="109728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303520"/>
            <a:ext cx="50800" cy="109728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37667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833A"/>
                </a:solidFill>
                <a:latin typeface="Calibri"/>
              </a:defRPr>
            </a:pPr>
            <a:r>
              <a:t>IMPORTANT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6692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Study tools (Anki, Quizlet, Brainscape) support memorization, NOT assessment. In the AI era, any assessment that asks students to select an answer can be solved by 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Think · Pair · Share — 3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0800" cy="36576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Turn to your table group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one tool you already use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one tool from the list you're curious about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What's one educational challenge you wish you had a tool for?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5F7C"/>
                </a:solidFill>
                <a:latin typeface="Calibri"/>
                <a:hlinkClick r:id="rId2"/>
              </a:rPr>
              <a:t>Workshop 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2 — AI Chatbots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Conversational tools that generate content — and can hallucinate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Pedagogical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In the AI era, we must rethink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0800" cy="36576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THE CORE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If we use AI to create multiple-choice quizzes, students will use AI to answer them.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That's not education — that's an arms race we've already lost.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Use AI to create cognitively demanding, authentic learning experiences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that AI can't do for the student: simulated encounters, reflective writing,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clinical reasoning cases, formative feedback on authentic work.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Use AI to build the scaffolding, not to replace the thinking.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Conversational Chatbots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Full list with pricing in the Workshop Guide → Section 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713232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Features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ChatGPT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$20/mo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Most versatile. File upload. Voice mode. Custom GPTs.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Claude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$17/mo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Best for long content, complex reasoning. 200K context.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$20/mo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Google Workspace integration. Deep Research with citations.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Grok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w/ X / ~$30/mo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Real-time web search. No enterprise/EDU plan.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Copilot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$10/mo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M365 integration. Many institutions already include it.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2 — Grounding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Preventing hallucinations by grounding in your source material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Aggregation &amp; Grounding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RAG without writing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2743200"/>
          </a:xfrm>
          <a:prstGeom prst="rect">
            <a:avLst/>
          </a:prstGeom>
          <a:solidFill>
            <a:srgbClr val="F0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0800" cy="2743200"/>
          </a:xfrm>
          <a:prstGeom prst="rect">
            <a:avLst/>
          </a:prstGeom>
          <a:solidFill>
            <a:srgbClr val="2D8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8659"/>
                </a:solidFill>
                <a:latin typeface="Calibri"/>
              </a:defRPr>
            </a:pPr>
            <a:r>
              <a:t>⭐ THE MOST IMPORTANT TOOL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4258"/>
                </a:solidFill>
                <a:latin typeface="Calibri"/>
              </a:defRPr>
            </a:pPr>
            <a:r>
              <a:t>Google NotebookLM — 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• Upload your source documents → AI responses grounded ONLY in what you uploaded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• If the answer isn't in your documents, it says so. Zero hallucination risk.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• Generates study guides, FAQs, and audio podcast discussions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389120"/>
          <a:ext cx="1124712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6400800"/>
              </a:tblGrid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Perplexity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/ $20/mo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AI answer engine that cites every source. Best for EBM exercises.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8659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Reasoning model with visible chain-of-thought. Self-hostable for privacy.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Grounded AI Workflow — No Code Required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4592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64592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828800"/>
            <a:ext cx="731520" cy="73152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258"/>
                </a:solidFill>
                <a:latin typeface="Calibri"/>
              </a:defRPr>
            </a:pPr>
            <a:r>
              <a:t>Prepare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6B7E"/>
                </a:solidFill>
                <a:latin typeface="Calibri"/>
              </a:defRPr>
            </a:pPr>
            <a:r>
              <a:t>Gather your source material:</a:t>
            </a:r>
            <a:br/>
            <a:r>
              <a:t>guidelines, case notes,</a:t>
            </a:r>
            <a:br/>
            <a:r>
              <a:t>articles, lecture slides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64592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64592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74720" y="1828800"/>
            <a:ext cx="731520" cy="73152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258"/>
                </a:solidFill>
                <a:latin typeface="Calibri"/>
              </a:defRPr>
            </a:pPr>
            <a:r>
              <a:t>Upload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29184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6B7E"/>
                </a:solidFill>
                <a:latin typeface="Calibri"/>
              </a:defRPr>
            </a:pPr>
            <a:r>
              <a:t>Upload to NotebookLM (free)</a:t>
            </a:r>
            <a:br/>
            <a:r>
              <a:t>or ChatGPT/Claude with</a:t>
            </a:r>
            <a:br/>
            <a:r>
              <a:t>file upload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164592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0" y="164592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52160" y="1828800"/>
            <a:ext cx="731520" cy="73152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258"/>
                </a:solidFill>
                <a:latin typeface="Calibri"/>
              </a:defRPr>
            </a:pPr>
            <a:r>
              <a:t>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329184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6B7E"/>
                </a:solidFill>
                <a:latin typeface="Calibri"/>
              </a:defRPr>
            </a:pPr>
            <a:r>
              <a:t>Add this instruction:</a:t>
            </a:r>
            <a:br/>
            <a:r>
              <a:t>"Base your response only</a:t>
            </a:r>
            <a:br/>
            <a:r>
              <a:t>on the attached documents"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0" y="164592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80" y="164592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9600" y="1828800"/>
            <a:ext cx="731520" cy="73152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258"/>
                </a:solidFill>
                <a:latin typeface="Calibri"/>
              </a:defRPr>
            </a:pPr>
            <a:r>
              <a:t>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9184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6B7E"/>
                </a:solidFill>
                <a:latin typeface="Calibri"/>
              </a:defRPr>
            </a:pPr>
            <a:r>
              <a:t>Spot-check lab values,</a:t>
            </a:r>
            <a:br/>
            <a:r>
              <a:t>drug dosages, clinical</a:t>
            </a:r>
            <a:br/>
            <a:r>
              <a:t>facts against your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75520" y="164592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75520" y="164592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07040" y="1828800"/>
            <a:ext cx="731520" cy="73152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7432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258"/>
                </a:solidFill>
                <a:latin typeface="Calibri"/>
              </a:defRPr>
            </a:pPr>
            <a:r>
              <a:t>Reuse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29184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6B7E"/>
                </a:solidFill>
                <a:latin typeface="Calibri"/>
              </a:defRPr>
            </a:pPr>
            <a:r>
              <a:t>Save the notebook.</a:t>
            </a:r>
            <a:br/>
            <a:r>
              <a:t>It becomes your personal</a:t>
            </a:r>
            <a:br/>
            <a:r>
              <a:t>AI case library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Demo: NotebookLM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Show the problem, then the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486400" cy="4114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0800" cy="41148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5F7C"/>
                </a:solidFill>
                <a:latin typeface="Calibri"/>
              </a:defRPr>
            </a:pPr>
            <a:r>
              <a:t>DEMO 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1. ChatGPT WITHOUT sources → show hallucination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2. Open NotebookLM with pericarditis guidelines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3. Same question → grounded, cited response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4. Generate clinical reasoning exercise + rubric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5. Audio Overview (podcast) — play 15 seconds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371600"/>
            <a:ext cx="5029200" cy="18288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50800" cy="1828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554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OPEN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5F7C"/>
                </a:solidFill>
                <a:latin typeface="Calibri"/>
                <a:hlinkClick r:id="rId2"/>
              </a:rPr>
              <a:t>▶ NotebookLM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5F7C"/>
                </a:solidFill>
                <a:latin typeface="Calibri"/>
                <a:hlinkClick r:id="rId3"/>
              </a:rPr>
              <a:t>Workshop Guide → Section 4 (prompts)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Copy-Paste Prompt Templates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Try these now — in the Workshop Guide → Section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0800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447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Prompt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4447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Grounded Clinical Reasoning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6B7E"/>
                </a:solidFill>
                <a:latin typeface="Calibri"/>
              </a:defRPr>
            </a:pPr>
            <a:r>
              <a:t>For NotebookLM or ChatGPT with file upload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60320"/>
            <a:ext cx="10972800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560320"/>
            <a:ext cx="50800" cy="100584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334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Prompt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6334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Simulated Patient Encounter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6B7E"/>
                </a:solidFill>
                <a:latin typeface="Calibri"/>
              </a:defRPr>
            </a:pPr>
            <a:r>
              <a:t>For ChatGPT voice mode or Claude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10972800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49039"/>
            <a:ext cx="50800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22191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Prompt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822191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Structured Feedback Rubric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0623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6B7E"/>
                </a:solidFill>
                <a:latin typeface="Calibri"/>
              </a:defRPr>
            </a:pPr>
            <a:r>
              <a:t>Evaluates reasoning, not just answers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937760"/>
            <a:ext cx="10972800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937760"/>
            <a:ext cx="50800" cy="100584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109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Prompt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0109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Reflective Writing Prompts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394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6B7E"/>
                </a:solidFill>
                <a:latin typeface="Calibri"/>
              </a:defRPr>
            </a:pPr>
            <a:r>
              <a:t>Creates prompts AI can't answer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Think · Pair · Share — 3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0800" cy="36576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On your phone, open ChatGPT, Claude, or Gemini (all free)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Copy and paste Prompt #1 or #2 from the Workshop Guide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If you have a clinical guideline, upload it first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with your table — what worked? What surprised you?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5F7C"/>
                </a:solidFill>
                <a:latin typeface="Calibri"/>
                <a:hlinkClick r:id="rId2"/>
              </a:rPr>
              <a:t>Workshop Guide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3 — Simulation Spectrum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Match the technology to the learning goal — from text to VR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 Clinician's Perspective on Simulation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0800" cy="36576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FROM THE TRENCHES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Immersion doesn't require a headset.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A well-designed text-and-audio case — where a learner interviews a patient,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orders labs, interprets an ECG, and builds a differential — can teach clinical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reasoning as effectively as a $500 VR setup.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What matters is the thinking the learner does, not the fidelity of the interface.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Fidelity Spectrum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The most expensive simulation is not the best simulation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19456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194560" cy="508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4258"/>
                </a:solidFill>
                <a:latin typeface="Calibri"/>
              </a:defRPr>
            </a:pPr>
            <a:r>
              <a:t>Text &amp; Audio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— $20/mo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Interview, labs, differential, images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371600"/>
            <a:ext cx="219456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0" y="137160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4258"/>
                </a:solidFill>
                <a:latin typeface="Calibri"/>
              </a:defRPr>
            </a:pPr>
            <a:r>
              <a:t>Image-Based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— $25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ECGs, radiology, lab interpretation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371600"/>
            <a:ext cx="219456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0" y="1371600"/>
            <a:ext cx="2194560" cy="508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4258"/>
                </a:solidFill>
                <a:latin typeface="Calibri"/>
              </a:defRPr>
            </a:pPr>
            <a:r>
              <a:t>Screen-Based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trial — inst.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Virtual patients, branching scenarios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1371600"/>
            <a:ext cx="219456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0" y="1371600"/>
            <a:ext cx="219456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4258"/>
                </a:solidFill>
                <a:latin typeface="Calibri"/>
              </a:defRPr>
            </a:pPr>
            <a:r>
              <a:t>AR (Phone)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— $25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3D anatomy on phone, no headset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1371600"/>
            <a:ext cx="2194560" cy="3840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0" y="1371600"/>
            <a:ext cx="2194560" cy="508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66960" y="1554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920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4258"/>
                </a:solidFill>
                <a:latin typeface="Calibri"/>
              </a:defRPr>
            </a:pPr>
            <a:r>
              <a:t>Immersive VR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$100 — $600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Procedures, team scenarios, physical skills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Demo: Interactive Clinical Reasoning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Try this on your phone now — no VR needed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486400" cy="4114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0800" cy="41148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5F7C"/>
                </a:solidFill>
                <a:latin typeface="Calibri"/>
              </a:defRPr>
            </a:pPr>
            <a:r>
              <a:t>WHAT YOU'LL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19-year-old male with sharp chest pain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Interview the patient (text-based)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Order labs, interpret an ECG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Build your differential with reasoning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Write your assessment and plan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• Receive feedback on your reasoning process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371600"/>
            <a:ext cx="5029200" cy="18288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50800" cy="1828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554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66A28"/>
                </a:solidFill>
                <a:latin typeface="Calibri"/>
              </a:defRPr>
            </a:pPr>
            <a:r>
              <a:t>TRY IT 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5F7C"/>
                </a:solidFill>
                <a:latin typeface="Calibri"/>
                <a:hlinkClick r:id="rId2"/>
              </a:rPr>
              <a:t>▶ Clinical Reasoning Case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3474720"/>
            <a:ext cx="5029200" cy="1828800"/>
          </a:xfrm>
          <a:prstGeom prst="rect">
            <a:avLst/>
          </a:prstGeom>
          <a:solidFill>
            <a:srgbClr val="F0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3474720"/>
            <a:ext cx="50800" cy="1828800"/>
          </a:xfrm>
          <a:prstGeom prst="rect">
            <a:avLst/>
          </a:prstGeom>
          <a:solidFill>
            <a:srgbClr val="2D8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8659"/>
                </a:solidFill>
                <a:latin typeface="Calibri"/>
              </a:defRPr>
            </a:pPr>
            <a:r>
              <a:t>KEY MESSAGE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0233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2332"/>
                </a:solidFill>
                <a:latin typeface="Calibri"/>
              </a:defRPr>
            </a:pPr>
            <a:r>
              <a:t>No multiple choice. The reasoning IS the assessment. This is authentic assessment in the AI era.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Simulation Tools by Fidelity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Full list with pricing in the Workshop Guide → Sections 5 &amp;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286000"/>
                <a:gridCol w="438912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Fidelity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Text/Audio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ChatGPT (patient sim)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History-taking, communication practice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Text/Audio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Flip (video reflection)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Case presentations, peer 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Image/Screen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H5P (branching)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Branching clinical decision trees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Image/Screen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Body Interact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 trial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Virtual patient simulator (targets PA)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3D Anatomy/AR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BioDigital Human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Browser-based 3D anatomy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3D Anatomy/AR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Visible Body Atlas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$25 one-time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3D anatomy + AR on phone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VR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OMS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Institutional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Explicitly targets PA/APP programs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VR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SimX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Institutional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150+ VR patient 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Oval 6"/>
          <p:cNvSpPr/>
          <p:nvPr/>
        </p:nvSpPr>
        <p:spPr>
          <a:xfrm>
            <a:off x="45720" y="320040"/>
            <a:ext cx="365760" cy="36576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VR Hardware — When It's Worth the Investment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5760720"/>
              </a:tblGrid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Hardware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Enables</a:t>
                      </a:r>
                    </a:p>
                  </a:txBody>
                  <a:tcPr>
                    <a:solidFill>
                      <a:srgbClr val="2D5F7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Google Cardboard / phone VR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$5–$25/viewer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Basic VR demos, 360° anatomy. No controllers.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Meta Quest 2 (refurbished)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~$100–$150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Lowest-cost standalone VR. Runs most medical apps.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Meta Quest 3S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$349.99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Best value for new purchase. Color passthrough AR.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D5F7C"/>
                          </a:solidFill>
                          <a:latin typeface="Calibri"/>
                        </a:defRPr>
                      </a:pPr>
                      <a:r>
                        <a:t>Meta Quest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$599.99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  <a:latin typeface="Calibri"/>
                        </a:defRPr>
                      </a:pPr>
                      <a:r>
                        <a:t>Premium. Not necessary for most programs.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solidFill>
            <a:srgbClr val="F0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50800" cy="1828800"/>
          </a:xfrm>
          <a:prstGeom prst="rect">
            <a:avLst/>
          </a:prstGeom>
          <a:solidFill>
            <a:srgbClr val="2D8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6451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8659"/>
                </a:solidFill>
                <a:latin typeface="Calibri"/>
              </a:defRPr>
            </a:pPr>
            <a:r>
              <a:t>USE VR 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937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Procedural skills, team scenarios, high-acuity rehearsal, regular 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4572000"/>
            <a:ext cx="5486400" cy="18288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4572000"/>
            <a:ext cx="50800" cy="1828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6451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833A"/>
                </a:solidFill>
                <a:latin typeface="Calibri"/>
              </a:defRPr>
            </a:pPr>
            <a:r>
              <a:t>DON'T USE VR WHEN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93776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The learning goal is clinical reasoning — text/screen does the job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Recommended Starter Stack for Low-Resource Programs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0800" cy="1097280"/>
          </a:xfrm>
          <a:prstGeom prst="rect">
            <a:avLst/>
          </a:prstGeom>
          <a:solidFill>
            <a:srgbClr val="2D8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8659"/>
                </a:solidFill>
                <a:latin typeface="Calibri"/>
              </a:defRPr>
            </a:pPr>
            <a:r>
              <a:t>Free Entry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8659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46304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ChatGPT + BioDigital Human + Flip + NotebookLM + H5P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972800" cy="10972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50800" cy="1097280"/>
          </a:xfrm>
          <a:prstGeom prst="rect">
            <a:avLst/>
          </a:prstGeom>
          <a:solidFill>
            <a:srgbClr val="3A7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A7A9A"/>
                </a:solidFill>
                <a:latin typeface="Calibri"/>
              </a:defRPr>
            </a:pPr>
            <a:r>
              <a:t>Minimal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8659"/>
                </a:solidFill>
                <a:latin typeface="Calibri"/>
              </a:defRPr>
            </a:pPr>
            <a:r>
              <a:t>$25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7432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Above + Visible Body Atlas (includes AR)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31920"/>
            <a:ext cx="50800" cy="109728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23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F7C"/>
                </a:solidFill>
                <a:latin typeface="Calibri"/>
              </a:defRPr>
            </a:pPr>
            <a:r>
              <a:t>One Headset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8659"/>
                </a:solidFill>
                <a:latin typeface="Calibri"/>
              </a:defRPr>
            </a:pPr>
            <a:r>
              <a:t>~$125-175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0233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Above + 1 refurbished Meta Quest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12079"/>
            <a:ext cx="10972800" cy="10972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12079"/>
            <a:ext cx="50800" cy="109728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3035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833A"/>
                </a:solidFill>
                <a:latin typeface="Calibri"/>
              </a:defRPr>
            </a:pPr>
            <a:r>
              <a:t>Small Program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30351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8659"/>
                </a:solidFill>
                <a:latin typeface="Calibri"/>
              </a:defRPr>
            </a:pPr>
            <a:r>
              <a:t>~$700-1,100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303519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Above + 2-3 Meta Quest 3S (~$350 each)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Think · Pair · Share — 3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0800" cy="365760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Think of a clinical skill your fellows need to learn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Which fidelity level would you choose? Text? Images? Screen? AR? VR?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Would the free option work? Or does this skill genuinely require VR?</a:t>
            </a:r>
          </a:p>
          <a:p>
            <a:pPr>
              <a:spcAft>
                <a:spcPts val="14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your reasoning with your table 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5F7C"/>
                </a:solidFill>
                <a:latin typeface="Calibri"/>
                <a:hlinkClick r:id="rId2"/>
              </a:rPr>
              <a:t>Workshop Guide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Capstone Design Sprint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Turn one of your ideas into a plan you can take back to your program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Capstone Design Sprint — 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Extend your earlier discussions into a complete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13716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50800" cy="13716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833A"/>
                </a:solidFill>
                <a:latin typeface="Calibri"/>
              </a:defRPr>
            </a:pPr>
            <a:r>
              <a:t>WHAT THIS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2332"/>
                </a:solidFill>
                <a:latin typeface="Calibri"/>
              </a:defRPr>
            </a:pPr>
            <a:r>
              <a:t>You've been discussing tools and ideas after each section — now extend that into a full implementation plan. Pick the idea that feels most feasible.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17520"/>
            <a:ext cx="2103120" cy="1828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017520"/>
            <a:ext cx="210312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5880" y="3200400"/>
            <a:ext cx="640080" cy="6400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4258"/>
                </a:solidFill>
                <a:latin typeface="Calibri"/>
              </a:defRPr>
            </a:pPr>
            <a:r>
              <a:t>Identify</a:t>
            </a:r>
            <a:br/>
            <a:r>
              <a:t>a Need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3017520"/>
            <a:ext cx="2103120" cy="1828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26080" y="3017520"/>
            <a:ext cx="210312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1880" y="3200400"/>
            <a:ext cx="640080" cy="6400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023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4258"/>
                </a:solidFill>
                <a:latin typeface="Calibri"/>
              </a:defRPr>
            </a:pPr>
            <a:r>
              <a:t>Define</a:t>
            </a:r>
            <a:br/>
            <a:r>
              <a:t>Learning Goals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3017520"/>
            <a:ext cx="2103120" cy="1828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12080" y="3017520"/>
            <a:ext cx="210312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97880" y="3200400"/>
            <a:ext cx="640080" cy="6400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023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4258"/>
                </a:solidFill>
                <a:latin typeface="Calibri"/>
              </a:defRPr>
            </a:pPr>
            <a:r>
              <a:t>Select</a:t>
            </a:r>
            <a:br/>
            <a:r>
              <a:t>a Tool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3017520"/>
            <a:ext cx="2103120" cy="1828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3017520"/>
            <a:ext cx="210312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83879" y="3200400"/>
            <a:ext cx="640080" cy="6400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19" y="4023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4258"/>
                </a:solidFill>
                <a:latin typeface="Calibri"/>
              </a:defRPr>
            </a:pPr>
            <a:r>
              <a:t>Map Pedagogy</a:t>
            </a:r>
            <a:br/>
            <a:r>
              <a:t>to Technology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3017520"/>
            <a:ext cx="2103120" cy="1828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017520"/>
            <a:ext cx="2103120" cy="508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469880" y="3200400"/>
            <a:ext cx="640080" cy="6400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0233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4258"/>
                </a:solidFill>
                <a:latin typeface="Calibri"/>
              </a:defRPr>
            </a:pPr>
            <a:r>
              <a:t>Sketch</a:t>
            </a:r>
            <a:br/>
            <a:r>
              <a:t>Implementation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5F7C"/>
                </a:solidFill>
                <a:latin typeface="Calibri"/>
                <a:hlinkClick r:id="rId2"/>
              </a:rPr>
              <a:t>Workshop Guide → Section 7 (Worksheet)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Share-Out — 5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200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• 2-3 groups share their plan (60 seconds each)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• What's your educational need?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• What tool did you pick, and why?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• What's one barrier and how will you handle it?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Start with one tool, one need, one small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• Everything from today is in the Workshop Guide — bookmark it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• The Zero Dollar Starter Kit: 9 free tools you can use Monday morning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• All resource links, prompt templates, and the worksheet stay available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• You don't need a grant, an IT ticket, or a technology expert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• You need to know what your learners need — and you already know that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D5F7C"/>
                </a:solidFill>
                <a:latin typeface="Calibri"/>
                <a:hlinkClick r:id="rId2"/>
              </a:rPr>
              <a:t>Workshop Guide → Section 8 (All Resources)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2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4A55A"/>
                </a:solidFill>
                <a:latin typeface="Calibri"/>
              </a:defRPr>
            </a:pPr>
            <a:r>
              <a:t>Diana Brewer, PA-C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Chief Medical Officer, Sapient Clinician  ·  APP Fellowship Director, OHSU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1148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4A55A"/>
                </a:solidFill>
                <a:latin typeface="Calibri"/>
                <a:hlinkClick r:id="rId2"/>
              </a:rPr>
              <a:t>contact@sapientclinician.com  ·  sapientclinician.com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