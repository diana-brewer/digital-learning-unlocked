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9" r:id="rId31"/>
    <p:sldId id="281" r:id="rId33"/>
    <p:sldId id="282" r:id="rId34"/>
    <p:sldId id="283" r:id="rId35"/>
    <p:sldId id="284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1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.google.com/notebook/db46c5da-59d3-4a7b-8c29-52e5588b39a1" TargetMode="External"/><Relationship Id="rId3" Type="http://schemas.openxmlformats.org/officeDocument/2006/relationships/hyperlink" Target="https://diana-brewer.github.io/digital-learning-unlocked/index.html#topic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case-demo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COI: Diana Brewer is a co-founder of Sapient Clinician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This session is vendor-neutral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60 min: ~35 min presentation + 20 min workshop + 5 min share &amp; wrap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Keep the Workshop Guide open on your phone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Think · Pair · Share after each section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Everything stays available after the conference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11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2" name="2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14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1 — Digital Tools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Free or low-cost platforms for creating interactive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Demo: Branching Clinical Scenario</a:t>
            </a:r>
          </a:p>
        </p:txBody>
      </p:sp>
      <p:sp>
        <p:nvSpPr>
          <p:cNvPr id="11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Try this on your phone now</a:t>
            </a:r>
          </a:p>
        </p:txBody>
      </p:sp>
      <p:sp>
        <p:nvSpPr>
          <p:cNvPr id="120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2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t>WHAT IT IS</a:t>
            </a:r>
          </a:p>
        </p:txBody>
      </p:sp>
      <p:sp>
        <p:nvSpPr>
          <p:cNvPr id="123" name="TextBox 7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65-year-old with acute confusion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Make decisions, see consequences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Built with H5P (free, open-source)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No programming required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Every decision is a clinical action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The reasoning path IS the assessment</a:t>
            </a:r>
          </a:p>
        </p:txBody>
      </p:sp>
      <p:sp>
        <p:nvSpPr>
          <p:cNvPr id="124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TRY IT NOW</a:t>
            </a:r>
          </a:p>
        </p:txBody>
      </p:sp>
      <p:sp>
        <p:nvSpPr>
          <p:cNvPr id="127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▶ Branching Scenario Demo</a:t>
            </a:r>
          </a:p>
        </p:txBody>
      </p:sp>
      <p:sp>
        <p:nvSpPr>
          <p:cNvPr id="128" name="TextBox 12"/>
          <p:cNvSpPr txBox="1"/>
          <p:nvPr/>
        </p:nvSpPr>
        <p:spPr>
          <a:xfrm>
            <a:off x="6903719" y="2743200"/>
            <a:ext cx="448056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Cost to recreate: $0  ·  Time to build: ~1 hour</a:t>
            </a:r>
          </a:p>
        </p:txBody>
      </p:sp>
      <p:sp>
        <p:nvSpPr>
          <p:cNvPr id="129" name="TextBox 13"/>
          <p:cNvSpPr txBox="1"/>
          <p:nvPr/>
        </p:nvSpPr>
        <p:spPr>
          <a:xfrm>
            <a:off x="6903719" y="3657600"/>
            <a:ext cx="4480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Workshop Guide → Section 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2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Tool Reference — Content Creation</a:t>
            </a:r>
          </a:p>
        </p:txBody>
      </p:sp>
      <p:sp>
        <p:nvSpPr>
          <p:cNvPr id="133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Full list with pricing and links in the Workshop Guide</a:t>
            </a:r>
          </a:p>
        </p:txBody>
      </p:sp>
      <p:graphicFrame>
        <p:nvGraphicFramePr>
          <p:cNvPr id="134" name="Table 4"/>
          <p:cNvGraphicFramePr/>
          <p:nvPr/>
        </p:nvGraphicFramePr>
        <p:xfrm>
          <a:off x="457200" y="1371600"/>
          <a:ext cx="11247120" cy="2240279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286000"/>
                <a:gridCol w="2560320"/>
                <a:gridCol w="640080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Canva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~$14/mo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Infographics, visual cases, AI-assisted design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H5P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8659"/>
                          </a:solidFill>
                        </a:rPr>
                        <a:t>Free (OSS)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Branching scenarios, interactive content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Nearpod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$120/yr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Live interactive lectures, formative assessment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Pear Deck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$150/yr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Interactive slides with embedded questions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Gamma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AI-generated presentations from a prompt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MedEdPORTAL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8659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Peer-reviewed, ready-to-use teaching modules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5" name="Rectangle 5"/>
          <p:cNvSpPr/>
          <p:nvPr/>
        </p:nvSpPr>
        <p:spPr>
          <a:xfrm>
            <a:off x="457199" y="5303520"/>
            <a:ext cx="11247122" cy="1097281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6" name="Rectangle 6"/>
          <p:cNvSpPr/>
          <p:nvPr/>
        </p:nvSpPr>
        <p:spPr>
          <a:xfrm>
            <a:off x="457200" y="5303520"/>
            <a:ext cx="50800" cy="109728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7" name="TextBox 7"/>
          <p:cNvSpPr txBox="1"/>
          <p:nvPr/>
        </p:nvSpPr>
        <p:spPr>
          <a:xfrm>
            <a:off x="731520" y="5376671"/>
            <a:ext cx="107899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IMPORTANT</a:t>
            </a:r>
          </a:p>
        </p:txBody>
      </p:sp>
      <p:sp>
        <p:nvSpPr>
          <p:cNvPr id="138" name="TextBox 8"/>
          <p:cNvSpPr txBox="1"/>
          <p:nvPr/>
        </p:nvSpPr>
        <p:spPr>
          <a:xfrm>
            <a:off x="731520" y="5669279"/>
            <a:ext cx="10789920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Study tools (Anki, Quizlet, Brainscape) support memorization, NOT assessment. In the AI era, any assessment that asks students to select an answer can be solved by AI.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— 2 min</a:t>
            </a:r>
          </a:p>
        </p:txBody>
      </p:sp>
      <p:sp>
        <p:nvSpPr>
          <p:cNvPr id="14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Turn to your table group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Share one tool you already use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Share one tool from the list you're curious about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What's one educational challenge you wish you had a tool for?</a:t>
            </a:r>
          </a:p>
        </p:txBody>
      </p:sp>
      <p:sp>
        <p:nvSpPr>
          <p:cNvPr id="145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Pedagogical Challenge</a:t>
            </a:r>
          </a:p>
        </p:txBody>
      </p:sp>
      <p:sp>
        <p:nvSpPr>
          <p:cNvPr id="15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In the AI era, we must rethink assessment</a:t>
            </a:r>
          </a:p>
        </p:txBody>
      </p:sp>
      <p:sp>
        <p:nvSpPr>
          <p:cNvPr id="156" name="Rectangle 4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7" name="Rectangle 5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8" name="TextBox 6"/>
          <p:cNvSpPr txBox="1"/>
          <p:nvPr/>
        </p:nvSpPr>
        <p:spPr>
          <a:xfrm>
            <a:off x="960119" y="1554480"/>
            <a:ext cx="99669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THE CORE MESSAGE</a:t>
            </a:r>
          </a:p>
        </p:txBody>
      </p:sp>
      <p:sp>
        <p:nvSpPr>
          <p:cNvPr id="159" name="TextBox 7"/>
          <p:cNvSpPr txBox="1"/>
          <p:nvPr/>
        </p:nvSpPr>
        <p:spPr>
          <a:xfrm>
            <a:off x="960119" y="2011679"/>
            <a:ext cx="9966962" cy="3088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If we use AI to create multiple-choice quizzes, students will use AI to answer them.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That's not education — that's an arms race we've already lost.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Use AI to create cognitively demanding, authentic learning experiences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that AI can't do for the student: simulated encounters, reflective writing,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clinical reasoning cases, formative feedback on authentic work.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Use AI to build the scaffolding, not to replace the thinking.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Objective 2 — Conversational Chatbots</a:t>
            </a:r>
          </a:p>
        </p:txBody>
      </p:sp>
      <p:sp>
        <p:nvSpPr>
          <p:cNvPr id="163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Conversational tools that generate content — and can hallucinate · Full list with pricing in the Workshop Guide → Section 3</a:t>
            </a:r>
          </a:p>
        </p:txBody>
      </p:sp>
      <p:graphicFrame>
        <p:nvGraphicFramePr>
          <p:cNvPr id="164" name="Table 4"/>
          <p:cNvGraphicFramePr/>
          <p:nvPr/>
        </p:nvGraphicFramePr>
        <p:xfrm>
          <a:off x="457200" y="1371600"/>
          <a:ext cx="11247120" cy="1920239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8800"/>
                <a:gridCol w="2286000"/>
                <a:gridCol w="7132319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Key Features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ChatGPT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$20/mo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Most versatile. File upload. Voice mode. Custom GPTs.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Claude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$17/mo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Best for long content, complex reasoning. 200K context.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Gemini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$20/mo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Google Workspace integration. Deep Research with citations.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Grok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w/ X / ~$30/mo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Real-time web search. No enterprise/EDU plan.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Copilot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M365 integration. Many institutions already include it.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66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7" name="4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169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2 — Grounding AI</a:t>
            </a:r>
          </a:p>
        </p:txBody>
      </p:sp>
      <p:sp>
        <p:nvSpPr>
          <p:cNvPr id="170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Preventing hallucinations by grounding in your source material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Data Aggregation &amp; Grounding Tools</a:t>
            </a:r>
          </a:p>
        </p:txBody>
      </p:sp>
      <p:sp>
        <p:nvSpPr>
          <p:cNvPr id="174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RAG without writing code</a:t>
            </a:r>
          </a:p>
        </p:txBody>
      </p:sp>
      <p:sp>
        <p:nvSpPr>
          <p:cNvPr id="175" name="Rectangle 4"/>
          <p:cNvSpPr/>
          <p:nvPr/>
        </p:nvSpPr>
        <p:spPr>
          <a:xfrm>
            <a:off x="457199" y="1371600"/>
            <a:ext cx="11247122" cy="2743200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Rectangle 5"/>
          <p:cNvSpPr/>
          <p:nvPr/>
        </p:nvSpPr>
        <p:spPr>
          <a:xfrm>
            <a:off x="457200" y="1371600"/>
            <a:ext cx="50800" cy="2743200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TextBox 6"/>
          <p:cNvSpPr txBox="1"/>
          <p:nvPr/>
        </p:nvSpPr>
        <p:spPr>
          <a:xfrm>
            <a:off x="777239" y="1554480"/>
            <a:ext cx="1042416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t>⭐ THE MOST IMPORTANT TOOL IN THIS SESSION</a:t>
            </a:r>
          </a:p>
        </p:txBody>
      </p:sp>
      <p:sp>
        <p:nvSpPr>
          <p:cNvPr id="178" name="TextBox 7"/>
          <p:cNvSpPr txBox="1"/>
          <p:nvPr/>
        </p:nvSpPr>
        <p:spPr>
          <a:xfrm>
            <a:off x="777239" y="1920239"/>
            <a:ext cx="10424161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1E4258"/>
                </a:solidFill>
              </a:defRPr>
            </a:lvl1pPr>
          </a:lstStyle>
          <a:p>
            <a:pPr/>
            <a:r>
              <a:t>Google NotebookLM — FREE</a:t>
            </a:r>
          </a:p>
        </p:txBody>
      </p:sp>
      <p:sp>
        <p:nvSpPr>
          <p:cNvPr id="179" name="TextBox 8"/>
          <p:cNvSpPr txBox="1"/>
          <p:nvPr/>
        </p:nvSpPr>
        <p:spPr>
          <a:xfrm>
            <a:off x="777239" y="2468879"/>
            <a:ext cx="10424161" cy="10117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A2332"/>
                </a:solidFill>
              </a:defRPr>
            </a:pPr>
            <a:r>
              <a:t>• Upload your source documents → AI responses grounded ONLY in what you uploaded</a:t>
            </a:r>
          </a:p>
          <a:p>
            <a:pPr>
              <a:spcBef>
                <a:spcPts val="800"/>
              </a:spcBef>
              <a:defRPr sz="1600">
                <a:solidFill>
                  <a:srgbClr val="1A2332"/>
                </a:solidFill>
              </a:defRPr>
            </a:pPr>
            <a:r>
              <a:t>• If the answer isn't in your documents, it says so. Zero hallucination risk.</a:t>
            </a:r>
          </a:p>
          <a:p>
            <a:pPr>
              <a:spcBef>
                <a:spcPts val="800"/>
              </a:spcBef>
              <a:defRPr sz="1600">
                <a:solidFill>
                  <a:srgbClr val="1A2332"/>
                </a:solidFill>
              </a:defRPr>
            </a:pPr>
            <a:r>
              <a:t>• Generates study guides, FAQs, and audio podcast discussions</a:t>
            </a:r>
          </a:p>
        </p:txBody>
      </p:sp>
      <p:graphicFrame>
        <p:nvGraphicFramePr>
          <p:cNvPr id="180" name="Table 9"/>
          <p:cNvGraphicFramePr/>
          <p:nvPr/>
        </p:nvGraphicFramePr>
        <p:xfrm>
          <a:off x="457200" y="4389120"/>
          <a:ext cx="11247120" cy="96012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286000"/>
                <a:gridCol w="2560320"/>
                <a:gridCol w="640080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Perplexity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$20/mo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AI answer engine that cites every source. Best for EBM exercises.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DeepSeek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8659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Reasoning model with visible chain-of-thought. Self-hostable for privacy.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Grounded AI Workflow — No Code Required</a:t>
            </a:r>
          </a:p>
        </p:txBody>
      </p:sp>
      <p:sp>
        <p:nvSpPr>
          <p:cNvPr id="184" name="Rectangle 3"/>
          <p:cNvSpPr/>
          <p:nvPr/>
        </p:nvSpPr>
        <p:spPr>
          <a:xfrm>
            <a:off x="36575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4"/>
          <p:cNvSpPr/>
          <p:nvPr/>
        </p:nvSpPr>
        <p:spPr>
          <a:xfrm>
            <a:off x="36575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8" name="Oval 5"/>
          <p:cNvGrpSpPr/>
          <p:nvPr/>
        </p:nvGrpSpPr>
        <p:grpSpPr>
          <a:xfrm>
            <a:off x="1097280" y="1828799"/>
            <a:ext cx="731521" cy="731522"/>
            <a:chOff x="0" y="0"/>
            <a:chExt cx="731520" cy="731520"/>
          </a:xfrm>
        </p:grpSpPr>
        <p:sp>
          <p:nvSpPr>
            <p:cNvPr id="186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7" name="1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89" name="TextBox 6"/>
          <p:cNvSpPr txBox="1"/>
          <p:nvPr/>
        </p:nvSpPr>
        <p:spPr>
          <a:xfrm>
            <a:off x="502920" y="2743200"/>
            <a:ext cx="192023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Prepare</a:t>
            </a:r>
          </a:p>
        </p:txBody>
      </p:sp>
      <p:sp>
        <p:nvSpPr>
          <p:cNvPr id="190" name="TextBox 7"/>
          <p:cNvSpPr txBox="1"/>
          <p:nvPr/>
        </p:nvSpPr>
        <p:spPr>
          <a:xfrm>
            <a:off x="502920" y="3291840"/>
            <a:ext cx="1920239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Gather your source material:</a:t>
            </a:r>
            <a:br/>
            <a:r>
              <a:t>guidelines, case notes,</a:t>
            </a:r>
            <a:br/>
            <a:r>
              <a:t>articles, lecture slides</a:t>
            </a:r>
          </a:p>
        </p:txBody>
      </p:sp>
      <p:sp>
        <p:nvSpPr>
          <p:cNvPr id="191" name="Rectangle 8"/>
          <p:cNvSpPr/>
          <p:nvPr/>
        </p:nvSpPr>
        <p:spPr>
          <a:xfrm>
            <a:off x="274319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9"/>
          <p:cNvSpPr/>
          <p:nvPr/>
        </p:nvSpPr>
        <p:spPr>
          <a:xfrm>
            <a:off x="274319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5" name="Oval 10"/>
          <p:cNvGrpSpPr/>
          <p:nvPr/>
        </p:nvGrpSpPr>
        <p:grpSpPr>
          <a:xfrm>
            <a:off x="3474720" y="1828799"/>
            <a:ext cx="731521" cy="731522"/>
            <a:chOff x="0" y="0"/>
            <a:chExt cx="731520" cy="731520"/>
          </a:xfrm>
        </p:grpSpPr>
        <p:sp>
          <p:nvSpPr>
            <p:cNvPr id="193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2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6" name="TextBox 11"/>
          <p:cNvSpPr txBox="1"/>
          <p:nvPr/>
        </p:nvSpPr>
        <p:spPr>
          <a:xfrm>
            <a:off x="288035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Upload</a:t>
            </a:r>
          </a:p>
        </p:txBody>
      </p:sp>
      <p:sp>
        <p:nvSpPr>
          <p:cNvPr id="197" name="TextBox 12"/>
          <p:cNvSpPr txBox="1"/>
          <p:nvPr/>
        </p:nvSpPr>
        <p:spPr>
          <a:xfrm>
            <a:off x="288035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Upload to NotebookLM (free)</a:t>
            </a:r>
            <a:br/>
            <a:r>
              <a:t>or ChatGPT/Claude with</a:t>
            </a:r>
            <a:br/>
            <a:r>
              <a:t>file upload</a:t>
            </a:r>
          </a:p>
        </p:txBody>
      </p:sp>
      <p:sp>
        <p:nvSpPr>
          <p:cNvPr id="198" name="Rectangle 13"/>
          <p:cNvSpPr/>
          <p:nvPr/>
        </p:nvSpPr>
        <p:spPr>
          <a:xfrm>
            <a:off x="512064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Rectangle 14"/>
          <p:cNvSpPr/>
          <p:nvPr/>
        </p:nvSpPr>
        <p:spPr>
          <a:xfrm>
            <a:off x="512064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2" name="Oval 15"/>
          <p:cNvGrpSpPr/>
          <p:nvPr/>
        </p:nvGrpSpPr>
        <p:grpSpPr>
          <a:xfrm>
            <a:off x="5852159" y="1828799"/>
            <a:ext cx="731521" cy="731522"/>
            <a:chOff x="0" y="0"/>
            <a:chExt cx="731520" cy="731520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1" name="3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203" name="TextBox 16"/>
          <p:cNvSpPr txBox="1"/>
          <p:nvPr/>
        </p:nvSpPr>
        <p:spPr>
          <a:xfrm>
            <a:off x="525779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Ground</a:t>
            </a:r>
          </a:p>
        </p:txBody>
      </p:sp>
      <p:sp>
        <p:nvSpPr>
          <p:cNvPr id="204" name="TextBox 17"/>
          <p:cNvSpPr txBox="1"/>
          <p:nvPr/>
        </p:nvSpPr>
        <p:spPr>
          <a:xfrm>
            <a:off x="525779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Add this instruction:</a:t>
            </a:r>
            <a:br/>
            <a:r>
              <a:t>"Base your response only</a:t>
            </a:r>
            <a:br/>
            <a:r>
              <a:t>on the attached documents"</a:t>
            </a:r>
          </a:p>
        </p:txBody>
      </p:sp>
      <p:sp>
        <p:nvSpPr>
          <p:cNvPr id="205" name="Rectangle 18"/>
          <p:cNvSpPr/>
          <p:nvPr/>
        </p:nvSpPr>
        <p:spPr>
          <a:xfrm>
            <a:off x="749808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Rectangle 19"/>
          <p:cNvSpPr/>
          <p:nvPr/>
        </p:nvSpPr>
        <p:spPr>
          <a:xfrm>
            <a:off x="749808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9" name="Oval 20"/>
          <p:cNvGrpSpPr/>
          <p:nvPr/>
        </p:nvGrpSpPr>
        <p:grpSpPr>
          <a:xfrm>
            <a:off x="8229599" y="1828799"/>
            <a:ext cx="731522" cy="731522"/>
            <a:chOff x="0" y="0"/>
            <a:chExt cx="731520" cy="731520"/>
          </a:xfrm>
        </p:grpSpPr>
        <p:sp>
          <p:nvSpPr>
            <p:cNvPr id="207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8" name="4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10" name="TextBox 21"/>
          <p:cNvSpPr txBox="1"/>
          <p:nvPr/>
        </p:nvSpPr>
        <p:spPr>
          <a:xfrm>
            <a:off x="763523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Verify</a:t>
            </a:r>
          </a:p>
        </p:txBody>
      </p:sp>
      <p:sp>
        <p:nvSpPr>
          <p:cNvPr id="211" name="TextBox 22"/>
          <p:cNvSpPr txBox="1"/>
          <p:nvPr/>
        </p:nvSpPr>
        <p:spPr>
          <a:xfrm>
            <a:off x="763523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Spot-check lab values,</a:t>
            </a:r>
            <a:br/>
            <a:r>
              <a:t>drug dosages, clinical</a:t>
            </a:r>
            <a:br/>
            <a:r>
              <a:t>facts against your source</a:t>
            </a:r>
          </a:p>
        </p:txBody>
      </p:sp>
      <p:sp>
        <p:nvSpPr>
          <p:cNvPr id="212" name="Rectangle 23"/>
          <p:cNvSpPr/>
          <p:nvPr/>
        </p:nvSpPr>
        <p:spPr>
          <a:xfrm>
            <a:off x="9875519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24"/>
          <p:cNvSpPr/>
          <p:nvPr/>
        </p:nvSpPr>
        <p:spPr>
          <a:xfrm>
            <a:off x="9875519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Oval 25"/>
          <p:cNvGrpSpPr/>
          <p:nvPr/>
        </p:nvGrpSpPr>
        <p:grpSpPr>
          <a:xfrm>
            <a:off x="10607040" y="1828799"/>
            <a:ext cx="731521" cy="731522"/>
            <a:chOff x="0" y="0"/>
            <a:chExt cx="731520" cy="731520"/>
          </a:xfrm>
        </p:grpSpPr>
        <p:sp>
          <p:nvSpPr>
            <p:cNvPr id="214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5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17" name="TextBox 26"/>
          <p:cNvSpPr txBox="1"/>
          <p:nvPr/>
        </p:nvSpPr>
        <p:spPr>
          <a:xfrm>
            <a:off x="1001267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Reuse</a:t>
            </a:r>
          </a:p>
        </p:txBody>
      </p:sp>
      <p:sp>
        <p:nvSpPr>
          <p:cNvPr id="218" name="TextBox 27"/>
          <p:cNvSpPr txBox="1"/>
          <p:nvPr/>
        </p:nvSpPr>
        <p:spPr>
          <a:xfrm>
            <a:off x="1001267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Save the notebook.</a:t>
            </a:r>
            <a:br/>
            <a:r>
              <a:t>It becomes your personal</a:t>
            </a:r>
            <a:br/>
            <a:r>
              <a:t>AI case library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Live Demo: NotebookLM Grounding</a:t>
            </a:r>
          </a:p>
        </p:txBody>
      </p:sp>
      <p:sp>
        <p:nvSpPr>
          <p:cNvPr id="222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Show the problem, then the solution</a:t>
            </a:r>
          </a:p>
        </p:txBody>
      </p:sp>
      <p:sp>
        <p:nvSpPr>
          <p:cNvPr id="223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4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5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t>DEMO SCRIPT</a:t>
            </a:r>
          </a:p>
        </p:txBody>
      </p:sp>
      <p:sp>
        <p:nvSpPr>
          <p:cNvPr id="226" name="TextBox 7"/>
          <p:cNvSpPr txBox="1"/>
          <p:nvPr/>
        </p:nvSpPr>
        <p:spPr>
          <a:xfrm>
            <a:off x="960119" y="1920239"/>
            <a:ext cx="4937762" cy="1783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1. ChatGPT WITHOUT sources → show hallucination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2. Open NotebookLM with pericarditis guidelines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3. Same question → grounded, cited response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4. Generate clinical reasoning exercise + rubric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5. Audio Overview (podcast) — play 15 seconds</a:t>
            </a:r>
          </a:p>
        </p:txBody>
      </p:sp>
      <p:sp>
        <p:nvSpPr>
          <p:cNvPr id="227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8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9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OPEN NOW</a:t>
            </a:r>
          </a:p>
        </p:txBody>
      </p:sp>
      <p:sp>
        <p:nvSpPr>
          <p:cNvPr id="230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▶ NotebookLM</a:t>
            </a:r>
          </a:p>
        </p:txBody>
      </p:sp>
      <p:sp>
        <p:nvSpPr>
          <p:cNvPr id="231" name="TextBox 12"/>
          <p:cNvSpPr txBox="1"/>
          <p:nvPr/>
        </p:nvSpPr>
        <p:spPr>
          <a:xfrm>
            <a:off x="6903719" y="3657600"/>
            <a:ext cx="4480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Workshop Guide → Section 4 (prompts)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Copy-Paste Prompt Templates</a:t>
            </a:r>
          </a:p>
        </p:txBody>
      </p:sp>
      <p:sp>
        <p:nvSpPr>
          <p:cNvPr id="23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Try these now — in the Workshop Guide → Section 4</a:t>
            </a:r>
          </a:p>
        </p:txBody>
      </p:sp>
      <p:sp>
        <p:nvSpPr>
          <p:cNvPr id="236" name="Rectangle 4"/>
          <p:cNvSpPr/>
          <p:nvPr/>
        </p:nvSpPr>
        <p:spPr>
          <a:xfrm>
            <a:off x="640080" y="1371600"/>
            <a:ext cx="10972801" cy="1005839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7" name="Rectangle 5"/>
          <p:cNvSpPr/>
          <p:nvPr/>
        </p:nvSpPr>
        <p:spPr>
          <a:xfrm>
            <a:off x="640080" y="1371600"/>
            <a:ext cx="50801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8" name="TextBox 6"/>
          <p:cNvSpPr txBox="1"/>
          <p:nvPr/>
        </p:nvSpPr>
        <p:spPr>
          <a:xfrm>
            <a:off x="960119" y="1444752"/>
            <a:ext cx="12801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Prompt 1</a:t>
            </a:r>
          </a:p>
        </p:txBody>
      </p:sp>
      <p:sp>
        <p:nvSpPr>
          <p:cNvPr id="239" name="TextBox 7"/>
          <p:cNvSpPr txBox="1"/>
          <p:nvPr/>
        </p:nvSpPr>
        <p:spPr>
          <a:xfrm>
            <a:off x="2331719" y="1444752"/>
            <a:ext cx="44805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4258"/>
                </a:solidFill>
              </a:defRPr>
            </a:lvl1pPr>
          </a:lstStyle>
          <a:p>
            <a:pPr/>
            <a:r>
              <a:t>Grounded Clinical Reasoning Case</a:t>
            </a:r>
          </a:p>
        </p:txBody>
      </p:sp>
      <p:sp>
        <p:nvSpPr>
          <p:cNvPr id="240" name="TextBox 8"/>
          <p:cNvSpPr txBox="1"/>
          <p:nvPr/>
        </p:nvSpPr>
        <p:spPr>
          <a:xfrm>
            <a:off x="960119" y="1828800"/>
            <a:ext cx="9052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5A6B7E"/>
                </a:solidFill>
              </a:defRPr>
            </a:lvl1pPr>
          </a:lstStyle>
          <a:p>
            <a:pPr/>
            <a:r>
              <a:t>For NotebookLM or ChatGPT with file upload</a:t>
            </a:r>
          </a:p>
        </p:txBody>
      </p:sp>
      <p:sp>
        <p:nvSpPr>
          <p:cNvPr id="241" name="Rectangle 9"/>
          <p:cNvSpPr/>
          <p:nvPr/>
        </p:nvSpPr>
        <p:spPr>
          <a:xfrm>
            <a:off x="640080" y="2560320"/>
            <a:ext cx="10972801" cy="100584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" name="Rectangle 10"/>
          <p:cNvSpPr/>
          <p:nvPr/>
        </p:nvSpPr>
        <p:spPr>
          <a:xfrm>
            <a:off x="640080" y="2560320"/>
            <a:ext cx="50801" cy="100584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3" name="TextBox 11"/>
          <p:cNvSpPr txBox="1"/>
          <p:nvPr/>
        </p:nvSpPr>
        <p:spPr>
          <a:xfrm>
            <a:off x="960119" y="2633472"/>
            <a:ext cx="12801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Prompt 2</a:t>
            </a:r>
          </a:p>
        </p:txBody>
      </p:sp>
      <p:sp>
        <p:nvSpPr>
          <p:cNvPr id="244" name="TextBox 12"/>
          <p:cNvSpPr txBox="1"/>
          <p:nvPr/>
        </p:nvSpPr>
        <p:spPr>
          <a:xfrm>
            <a:off x="2331719" y="2633472"/>
            <a:ext cx="44805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4258"/>
                </a:solidFill>
              </a:defRPr>
            </a:lvl1pPr>
          </a:lstStyle>
          <a:p>
            <a:pPr/>
            <a:r>
              <a:t>Simulated Patient Encounter</a:t>
            </a:r>
          </a:p>
        </p:txBody>
      </p:sp>
      <p:sp>
        <p:nvSpPr>
          <p:cNvPr id="245" name="TextBox 13"/>
          <p:cNvSpPr txBox="1"/>
          <p:nvPr/>
        </p:nvSpPr>
        <p:spPr>
          <a:xfrm>
            <a:off x="960119" y="3017520"/>
            <a:ext cx="905256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5A6B7E"/>
                </a:solidFill>
              </a:defRPr>
            </a:lvl1pPr>
          </a:lstStyle>
          <a:p>
            <a:pPr/>
            <a:r>
              <a:t>For ChatGPT voice mode or Claude</a:t>
            </a:r>
          </a:p>
        </p:txBody>
      </p:sp>
      <p:sp>
        <p:nvSpPr>
          <p:cNvPr id="246" name="Rectangle 14"/>
          <p:cNvSpPr/>
          <p:nvPr/>
        </p:nvSpPr>
        <p:spPr>
          <a:xfrm>
            <a:off x="640080" y="3749038"/>
            <a:ext cx="10972801" cy="100584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7" name="Rectangle 15"/>
          <p:cNvSpPr/>
          <p:nvPr/>
        </p:nvSpPr>
        <p:spPr>
          <a:xfrm>
            <a:off x="640080" y="3749038"/>
            <a:ext cx="50801" cy="100584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8" name="TextBox 16"/>
          <p:cNvSpPr txBox="1"/>
          <p:nvPr/>
        </p:nvSpPr>
        <p:spPr>
          <a:xfrm>
            <a:off x="960119" y="3822191"/>
            <a:ext cx="12801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Prompt 3</a:t>
            </a:r>
          </a:p>
        </p:txBody>
      </p:sp>
      <p:sp>
        <p:nvSpPr>
          <p:cNvPr id="249" name="TextBox 17"/>
          <p:cNvSpPr txBox="1"/>
          <p:nvPr/>
        </p:nvSpPr>
        <p:spPr>
          <a:xfrm>
            <a:off x="2331719" y="3822191"/>
            <a:ext cx="44805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4258"/>
                </a:solidFill>
              </a:defRPr>
            </a:lvl1pPr>
          </a:lstStyle>
          <a:p>
            <a:pPr/>
            <a:r>
              <a:t>Structured Feedback Rubric</a:t>
            </a:r>
          </a:p>
        </p:txBody>
      </p:sp>
      <p:sp>
        <p:nvSpPr>
          <p:cNvPr id="250" name="TextBox 18"/>
          <p:cNvSpPr txBox="1"/>
          <p:nvPr/>
        </p:nvSpPr>
        <p:spPr>
          <a:xfrm>
            <a:off x="960119" y="4206238"/>
            <a:ext cx="905256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5A6B7E"/>
                </a:solidFill>
              </a:defRPr>
            </a:lvl1pPr>
          </a:lstStyle>
          <a:p>
            <a:pPr/>
            <a:r>
              <a:t>Evaluates reasoning, not just answers</a:t>
            </a:r>
          </a:p>
        </p:txBody>
      </p:sp>
      <p:sp>
        <p:nvSpPr>
          <p:cNvPr id="251" name="Rectangle 19"/>
          <p:cNvSpPr/>
          <p:nvPr/>
        </p:nvSpPr>
        <p:spPr>
          <a:xfrm>
            <a:off x="640080" y="4937759"/>
            <a:ext cx="10972801" cy="100584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2" name="Rectangle 20"/>
          <p:cNvSpPr/>
          <p:nvPr/>
        </p:nvSpPr>
        <p:spPr>
          <a:xfrm>
            <a:off x="640080" y="4937759"/>
            <a:ext cx="50801" cy="100584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3" name="TextBox 21"/>
          <p:cNvSpPr txBox="1"/>
          <p:nvPr/>
        </p:nvSpPr>
        <p:spPr>
          <a:xfrm>
            <a:off x="960119" y="5010911"/>
            <a:ext cx="128016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Prompt 4</a:t>
            </a:r>
          </a:p>
        </p:txBody>
      </p:sp>
      <p:sp>
        <p:nvSpPr>
          <p:cNvPr id="254" name="TextBox 22"/>
          <p:cNvSpPr txBox="1"/>
          <p:nvPr/>
        </p:nvSpPr>
        <p:spPr>
          <a:xfrm>
            <a:off x="2331719" y="5010911"/>
            <a:ext cx="44805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4258"/>
                </a:solidFill>
              </a:defRPr>
            </a:lvl1pPr>
          </a:lstStyle>
          <a:p>
            <a:pPr/>
            <a:r>
              <a:t>Reflective Writing Prompts</a:t>
            </a:r>
          </a:p>
        </p:txBody>
      </p:sp>
      <p:sp>
        <p:nvSpPr>
          <p:cNvPr id="255" name="TextBox 23"/>
          <p:cNvSpPr txBox="1"/>
          <p:nvPr/>
        </p:nvSpPr>
        <p:spPr>
          <a:xfrm>
            <a:off x="960119" y="5394959"/>
            <a:ext cx="905256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5A6B7E"/>
                </a:solidFill>
              </a:defRPr>
            </a:lvl1pPr>
          </a:lstStyle>
          <a:p>
            <a:pPr/>
            <a:r>
              <a:t>Creates prompts AI can't answer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— 2 min</a:t>
            </a:r>
          </a:p>
        </p:txBody>
      </p:sp>
      <p:sp>
        <p:nvSpPr>
          <p:cNvPr id="259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0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1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On your phone, open ChatGPT, Claude, or Gemini (all free)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Copy and paste Prompt #1 or #2 from the Workshop Guide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If you have a clinical guideline, upload it first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Share with your table — what worked? What surprised you?</a:t>
            </a:r>
          </a:p>
        </p:txBody>
      </p:sp>
      <p:sp>
        <p:nvSpPr>
          <p:cNvPr id="262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3 — Simulation Spectrum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Match the technology to the learning goal — from text to VR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A Clinician's Perspective on Simulation</a:t>
            </a:r>
          </a:p>
        </p:txBody>
      </p:sp>
      <p:sp>
        <p:nvSpPr>
          <p:cNvPr id="27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4" name="TextBox 5"/>
          <p:cNvSpPr txBox="1"/>
          <p:nvPr/>
        </p:nvSpPr>
        <p:spPr>
          <a:xfrm>
            <a:off x="960119" y="1554480"/>
            <a:ext cx="99669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FROM THE TRENCHES</a:t>
            </a:r>
          </a:p>
        </p:txBody>
      </p:sp>
      <p:sp>
        <p:nvSpPr>
          <p:cNvPr id="275" name="TextBox 6"/>
          <p:cNvSpPr txBox="1"/>
          <p:nvPr/>
        </p:nvSpPr>
        <p:spPr>
          <a:xfrm>
            <a:off x="960119" y="2011679"/>
            <a:ext cx="9966962" cy="2695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Immersion doesn't require a headset.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A well-designed text-and-audio case — where a learner interviews a patient,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orders labs, interprets an ECG, and builds a differential — can teach clinical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reasoning as effectively as a $500 VR setup.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What matters is the thinking the learner does, not the fidelity of the interface.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Fidelity Spectrum</a:t>
            </a:r>
          </a:p>
        </p:txBody>
      </p:sp>
      <p:sp>
        <p:nvSpPr>
          <p:cNvPr id="27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The most expensive simulation is not the best simulation</a:t>
            </a:r>
          </a:p>
        </p:txBody>
      </p:sp>
      <p:sp>
        <p:nvSpPr>
          <p:cNvPr id="280" name="Rectangle 4"/>
          <p:cNvSpPr/>
          <p:nvPr/>
        </p:nvSpPr>
        <p:spPr>
          <a:xfrm>
            <a:off x="365759" y="1371600"/>
            <a:ext cx="2194562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1" name="Rectangle 5"/>
          <p:cNvSpPr/>
          <p:nvPr/>
        </p:nvSpPr>
        <p:spPr>
          <a:xfrm>
            <a:off x="365759" y="1371600"/>
            <a:ext cx="2194562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2" name="TextBox 6"/>
          <p:cNvSpPr txBox="1"/>
          <p:nvPr/>
        </p:nvSpPr>
        <p:spPr>
          <a:xfrm>
            <a:off x="502920" y="1554480"/>
            <a:ext cx="1920239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1</a:t>
            </a:r>
          </a:p>
        </p:txBody>
      </p:sp>
      <p:sp>
        <p:nvSpPr>
          <p:cNvPr id="283" name="TextBox 7"/>
          <p:cNvSpPr txBox="1"/>
          <p:nvPr/>
        </p:nvSpPr>
        <p:spPr>
          <a:xfrm>
            <a:off x="502920" y="1920239"/>
            <a:ext cx="1920239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Text &amp; Audio</a:t>
            </a:r>
          </a:p>
        </p:txBody>
      </p:sp>
      <p:sp>
        <p:nvSpPr>
          <p:cNvPr id="284" name="TextBox 8"/>
          <p:cNvSpPr txBox="1"/>
          <p:nvPr/>
        </p:nvSpPr>
        <p:spPr>
          <a:xfrm>
            <a:off x="502920" y="2560320"/>
            <a:ext cx="1920239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— $20/mo</a:t>
            </a:r>
          </a:p>
        </p:txBody>
      </p:sp>
      <p:sp>
        <p:nvSpPr>
          <p:cNvPr id="285" name="TextBox 9"/>
          <p:cNvSpPr txBox="1"/>
          <p:nvPr/>
        </p:nvSpPr>
        <p:spPr>
          <a:xfrm>
            <a:off x="502920" y="3017520"/>
            <a:ext cx="1920239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Interview, labs, differential, images</a:t>
            </a:r>
          </a:p>
        </p:txBody>
      </p:sp>
      <p:sp>
        <p:nvSpPr>
          <p:cNvPr id="286" name="Rectangle 10"/>
          <p:cNvSpPr/>
          <p:nvPr/>
        </p:nvSpPr>
        <p:spPr>
          <a:xfrm>
            <a:off x="2743199" y="1371600"/>
            <a:ext cx="2194562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7" name="Rectangle 11"/>
          <p:cNvSpPr/>
          <p:nvPr/>
        </p:nvSpPr>
        <p:spPr>
          <a:xfrm>
            <a:off x="2743199" y="1371600"/>
            <a:ext cx="2194562" cy="50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8" name="TextBox 12"/>
          <p:cNvSpPr txBox="1"/>
          <p:nvPr/>
        </p:nvSpPr>
        <p:spPr>
          <a:xfrm>
            <a:off x="288035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2</a:t>
            </a:r>
          </a:p>
        </p:txBody>
      </p:sp>
      <p:sp>
        <p:nvSpPr>
          <p:cNvPr id="289" name="TextBox 13"/>
          <p:cNvSpPr txBox="1"/>
          <p:nvPr/>
        </p:nvSpPr>
        <p:spPr>
          <a:xfrm>
            <a:off x="288035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Image-Based</a:t>
            </a:r>
          </a:p>
        </p:txBody>
      </p:sp>
      <p:sp>
        <p:nvSpPr>
          <p:cNvPr id="290" name="TextBox 14"/>
          <p:cNvSpPr txBox="1"/>
          <p:nvPr/>
        </p:nvSpPr>
        <p:spPr>
          <a:xfrm>
            <a:off x="288035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— $25</a:t>
            </a:r>
          </a:p>
        </p:txBody>
      </p:sp>
      <p:sp>
        <p:nvSpPr>
          <p:cNvPr id="291" name="TextBox 15"/>
          <p:cNvSpPr txBox="1"/>
          <p:nvPr/>
        </p:nvSpPr>
        <p:spPr>
          <a:xfrm>
            <a:off x="288035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ECGs, radiology, lab interpretation</a:t>
            </a:r>
          </a:p>
        </p:txBody>
      </p:sp>
      <p:sp>
        <p:nvSpPr>
          <p:cNvPr id="292" name="Rectangle 16"/>
          <p:cNvSpPr/>
          <p:nvPr/>
        </p:nvSpPr>
        <p:spPr>
          <a:xfrm>
            <a:off x="5120640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3" name="Rectangle 17"/>
          <p:cNvSpPr/>
          <p:nvPr/>
        </p:nvSpPr>
        <p:spPr>
          <a:xfrm>
            <a:off x="5120640" y="1371600"/>
            <a:ext cx="2194561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4" name="TextBox 18"/>
          <p:cNvSpPr txBox="1"/>
          <p:nvPr/>
        </p:nvSpPr>
        <p:spPr>
          <a:xfrm>
            <a:off x="525779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3</a:t>
            </a:r>
          </a:p>
        </p:txBody>
      </p:sp>
      <p:sp>
        <p:nvSpPr>
          <p:cNvPr id="295" name="TextBox 19"/>
          <p:cNvSpPr txBox="1"/>
          <p:nvPr/>
        </p:nvSpPr>
        <p:spPr>
          <a:xfrm>
            <a:off x="525779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Screen-Based</a:t>
            </a:r>
          </a:p>
        </p:txBody>
      </p:sp>
      <p:sp>
        <p:nvSpPr>
          <p:cNvPr id="296" name="TextBox 20"/>
          <p:cNvSpPr txBox="1"/>
          <p:nvPr/>
        </p:nvSpPr>
        <p:spPr>
          <a:xfrm>
            <a:off x="525779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trial — inst.</a:t>
            </a:r>
          </a:p>
        </p:txBody>
      </p:sp>
      <p:sp>
        <p:nvSpPr>
          <p:cNvPr id="297" name="TextBox 21"/>
          <p:cNvSpPr txBox="1"/>
          <p:nvPr/>
        </p:nvSpPr>
        <p:spPr>
          <a:xfrm>
            <a:off x="525779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Virtual patients, branching scenarios</a:t>
            </a:r>
          </a:p>
        </p:txBody>
      </p:sp>
      <p:sp>
        <p:nvSpPr>
          <p:cNvPr id="298" name="Rectangle 22"/>
          <p:cNvSpPr/>
          <p:nvPr/>
        </p:nvSpPr>
        <p:spPr>
          <a:xfrm>
            <a:off x="7498080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Rectangle 23"/>
          <p:cNvSpPr/>
          <p:nvPr/>
        </p:nvSpPr>
        <p:spPr>
          <a:xfrm>
            <a:off x="7498080" y="1371600"/>
            <a:ext cx="2194561" cy="50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0" name="TextBox 24"/>
          <p:cNvSpPr txBox="1"/>
          <p:nvPr/>
        </p:nvSpPr>
        <p:spPr>
          <a:xfrm>
            <a:off x="763523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4</a:t>
            </a:r>
          </a:p>
        </p:txBody>
      </p:sp>
      <p:sp>
        <p:nvSpPr>
          <p:cNvPr id="301" name="TextBox 25"/>
          <p:cNvSpPr txBox="1"/>
          <p:nvPr/>
        </p:nvSpPr>
        <p:spPr>
          <a:xfrm>
            <a:off x="763523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AR (Phone)</a:t>
            </a:r>
          </a:p>
        </p:txBody>
      </p:sp>
      <p:sp>
        <p:nvSpPr>
          <p:cNvPr id="302" name="TextBox 26"/>
          <p:cNvSpPr txBox="1"/>
          <p:nvPr/>
        </p:nvSpPr>
        <p:spPr>
          <a:xfrm>
            <a:off x="763523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— $25</a:t>
            </a:r>
          </a:p>
        </p:txBody>
      </p:sp>
      <p:sp>
        <p:nvSpPr>
          <p:cNvPr id="303" name="TextBox 27"/>
          <p:cNvSpPr txBox="1"/>
          <p:nvPr/>
        </p:nvSpPr>
        <p:spPr>
          <a:xfrm>
            <a:off x="763523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3D anatomy on phone, no headset</a:t>
            </a:r>
          </a:p>
        </p:txBody>
      </p:sp>
      <p:sp>
        <p:nvSpPr>
          <p:cNvPr id="304" name="Rectangle 28"/>
          <p:cNvSpPr/>
          <p:nvPr/>
        </p:nvSpPr>
        <p:spPr>
          <a:xfrm>
            <a:off x="9875519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5" name="Rectangle 29"/>
          <p:cNvSpPr/>
          <p:nvPr/>
        </p:nvSpPr>
        <p:spPr>
          <a:xfrm>
            <a:off x="9875519" y="1371600"/>
            <a:ext cx="2194561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TextBox 30"/>
          <p:cNvSpPr txBox="1"/>
          <p:nvPr/>
        </p:nvSpPr>
        <p:spPr>
          <a:xfrm>
            <a:off x="1001267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5</a:t>
            </a:r>
          </a:p>
        </p:txBody>
      </p:sp>
      <p:sp>
        <p:nvSpPr>
          <p:cNvPr id="307" name="TextBox 31"/>
          <p:cNvSpPr txBox="1"/>
          <p:nvPr/>
        </p:nvSpPr>
        <p:spPr>
          <a:xfrm>
            <a:off x="1001267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Immersive VR</a:t>
            </a:r>
          </a:p>
        </p:txBody>
      </p:sp>
      <p:sp>
        <p:nvSpPr>
          <p:cNvPr id="308" name="TextBox 32"/>
          <p:cNvSpPr txBox="1"/>
          <p:nvPr/>
        </p:nvSpPr>
        <p:spPr>
          <a:xfrm>
            <a:off x="1001267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$100 — $600</a:t>
            </a:r>
          </a:p>
        </p:txBody>
      </p:sp>
      <p:sp>
        <p:nvSpPr>
          <p:cNvPr id="309" name="TextBox 33"/>
          <p:cNvSpPr txBox="1"/>
          <p:nvPr/>
        </p:nvSpPr>
        <p:spPr>
          <a:xfrm>
            <a:off x="1001267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Procedures, team scenarios, physical skills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2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Demo: Interactive Clinical Reasoning Case</a:t>
            </a:r>
          </a:p>
        </p:txBody>
      </p:sp>
      <p:sp>
        <p:nvSpPr>
          <p:cNvPr id="313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Try this on your phone now — no VR needed</a:t>
            </a:r>
          </a:p>
        </p:txBody>
      </p:sp>
      <p:sp>
        <p:nvSpPr>
          <p:cNvPr id="314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5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6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t>WHAT YOU'LL DO</a:t>
            </a:r>
          </a:p>
        </p:txBody>
      </p:sp>
      <p:sp>
        <p:nvSpPr>
          <p:cNvPr id="317" name="TextBox 7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19-year-old male with sharp chest pain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Interview the patient (text-based)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Order labs, interpret an ECG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Build your differential with reasoning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Write your assessment and plan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Receive feedback on your reasoning process</a:t>
            </a:r>
          </a:p>
        </p:txBody>
      </p:sp>
      <p:sp>
        <p:nvSpPr>
          <p:cNvPr id="318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9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0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TRY IT NOW</a:t>
            </a:r>
          </a:p>
        </p:txBody>
      </p:sp>
      <p:sp>
        <p:nvSpPr>
          <p:cNvPr id="321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▶ Clinical Reasoning Case</a:t>
            </a:r>
          </a:p>
        </p:txBody>
      </p:sp>
      <p:sp>
        <p:nvSpPr>
          <p:cNvPr id="322" name="Rectangle 12"/>
          <p:cNvSpPr/>
          <p:nvPr/>
        </p:nvSpPr>
        <p:spPr>
          <a:xfrm>
            <a:off x="6583680" y="3474720"/>
            <a:ext cx="5029201" cy="1828801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3" name="Rectangle 13"/>
          <p:cNvSpPr/>
          <p:nvPr/>
        </p:nvSpPr>
        <p:spPr>
          <a:xfrm>
            <a:off x="6583680" y="3474720"/>
            <a:ext cx="50801" cy="1828801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4" name="TextBox 14"/>
          <p:cNvSpPr txBox="1"/>
          <p:nvPr/>
        </p:nvSpPr>
        <p:spPr>
          <a:xfrm>
            <a:off x="6903719" y="3657599"/>
            <a:ext cx="448056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t>KEY MESSAGE</a:t>
            </a:r>
          </a:p>
        </p:txBody>
      </p:sp>
      <p:sp>
        <p:nvSpPr>
          <p:cNvPr id="325" name="TextBox 15"/>
          <p:cNvSpPr txBox="1"/>
          <p:nvPr/>
        </p:nvSpPr>
        <p:spPr>
          <a:xfrm>
            <a:off x="6903719" y="4023359"/>
            <a:ext cx="4480562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1A2332"/>
                </a:solidFill>
              </a:defRPr>
            </a:lvl1pPr>
          </a:lstStyle>
          <a:p>
            <a:pPr/>
            <a:r>
              <a:t>No multiple choice. The reasoning IS the assessment. This is authentic assessment in the AI era.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Simulation Tools by Fidelity Level</a:t>
            </a:r>
          </a:p>
        </p:txBody>
      </p:sp>
      <p:sp>
        <p:nvSpPr>
          <p:cNvPr id="32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Full list with pricing in the Workshop Guide → Sections 5 &amp; 6</a:t>
            </a:r>
          </a:p>
        </p:txBody>
      </p:sp>
      <p:graphicFrame>
        <p:nvGraphicFramePr>
          <p:cNvPr id="330" name="Table 4"/>
          <p:cNvGraphicFramePr/>
          <p:nvPr/>
        </p:nvGraphicFramePr>
        <p:xfrm>
          <a:off x="457200" y="1371600"/>
          <a:ext cx="11247120" cy="288036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8800"/>
                <a:gridCol w="2743200"/>
                <a:gridCol w="2286000"/>
                <a:gridCol w="438912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Fidelity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Text/Audio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ChatGPT (patient sim)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History-taking, communication practice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Text/Audio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Flip (video reflection)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Case presentations, peer feedback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Image/Screen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H5P (branching)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Branching clinical decision trees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Image/Screen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Body Interact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trial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Virtual patient simulator (targets PA)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3D Anatomy/AR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BioDigital Human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Browser-based 3D anatomy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3D Anatomy/AR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Visible Body Atlas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$25 one-time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3D anatomy + AR on phone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VR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OMS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Institutional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Explicitly targets PA/APP programs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VR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SimX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Institutional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150+ VR patient scenarios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Oval 6"/>
          <p:cNvGrpSpPr/>
          <p:nvPr/>
        </p:nvGrpSpPr>
        <p:grpSpPr>
          <a:xfrm>
            <a:off x="45719" y="320040"/>
            <a:ext cx="365762" cy="365761"/>
            <a:chOff x="0" y="0"/>
            <a:chExt cx="365760" cy="365760"/>
          </a:xfrm>
        </p:grpSpPr>
        <p:sp>
          <p:nvSpPr>
            <p:cNvPr id="332" name="Circle"/>
            <p:cNvSpPr/>
            <p:nvPr/>
          </p:nvSpPr>
          <p:spPr>
            <a:xfrm>
              <a:off x="-1" y="-1"/>
              <a:ext cx="365762" cy="36576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33" name="6"/>
            <p:cNvSpPr txBox="1"/>
            <p:nvPr/>
          </p:nvSpPr>
          <p:spPr>
            <a:xfrm>
              <a:off x="99283" y="12789"/>
              <a:ext cx="16719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6</a:t>
              </a:r>
            </a:p>
          </p:txBody>
        </p:sp>
      </p:grpSp>
      <p:sp>
        <p:nvSpPr>
          <p:cNvPr id="33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VR &amp; Your Starter Stack — When It's Worth the Investment</a:t>
            </a:r>
          </a:p>
        </p:txBody>
      </p:sp>
      <p:graphicFrame>
        <p:nvGraphicFramePr>
          <p:cNvPr id="337" name="Table 3"/>
          <p:cNvGraphicFramePr/>
          <p:nvPr/>
        </p:nvGraphicFramePr>
        <p:xfrm>
          <a:off x="457200" y="1371600"/>
          <a:ext cx="11247120" cy="160020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200400"/>
                <a:gridCol w="2286000"/>
                <a:gridCol w="576072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Starter Stack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What You Get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Free Entry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$0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ChatGPT + BioDigital Human + Flip + NotebookLM + H5P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Minimal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$25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Above + Visible Body Atlas (includes AR)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One Headset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~$125–175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Above + 1 refurbished Meta Quest 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Small Program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~$700–1,100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Above + 2–3 Meta Quest 3S (~$350 each)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8" name="Rectangle 4"/>
          <p:cNvSpPr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9" name="Rectangle 5"/>
          <p:cNvSpPr/>
          <p:nvPr/>
        </p:nvSpPr>
        <p:spPr>
          <a:xfrm>
            <a:off x="457200" y="4572000"/>
            <a:ext cx="50800" cy="1828800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0" name="TextBox 6"/>
          <p:cNvSpPr txBox="1"/>
          <p:nvPr/>
        </p:nvSpPr>
        <p:spPr>
          <a:xfrm>
            <a:off x="731519" y="4645152"/>
            <a:ext cx="50292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t>USE VR WHEN</a:t>
            </a:r>
          </a:p>
        </p:txBody>
      </p:sp>
      <p:sp>
        <p:nvSpPr>
          <p:cNvPr id="341" name="TextBox 7"/>
          <p:cNvSpPr txBox="1"/>
          <p:nvPr/>
        </p:nvSpPr>
        <p:spPr>
          <a:xfrm>
            <a:off x="731519" y="4937759"/>
            <a:ext cx="50292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Procedural skills, team scenarios, high-acuity rehearsal, regular use</a:t>
            </a:r>
          </a:p>
        </p:txBody>
      </p:sp>
      <p:sp>
        <p:nvSpPr>
          <p:cNvPr id="342" name="Rectangle 8"/>
          <p:cNvSpPr/>
          <p:nvPr/>
        </p:nvSpPr>
        <p:spPr>
          <a:xfrm>
            <a:off x="6217920" y="4572000"/>
            <a:ext cx="54864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3" name="Rectangle 9"/>
          <p:cNvSpPr/>
          <p:nvPr/>
        </p:nvSpPr>
        <p:spPr>
          <a:xfrm>
            <a:off x="6217920" y="45720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4" name="TextBox 10"/>
          <p:cNvSpPr txBox="1"/>
          <p:nvPr/>
        </p:nvSpPr>
        <p:spPr>
          <a:xfrm>
            <a:off x="6492239" y="4645152"/>
            <a:ext cx="50292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DON'T USE VR WHEN</a:t>
            </a:r>
          </a:p>
        </p:txBody>
      </p:sp>
      <p:sp>
        <p:nvSpPr>
          <p:cNvPr id="345" name="TextBox 11"/>
          <p:cNvSpPr txBox="1"/>
          <p:nvPr/>
        </p:nvSpPr>
        <p:spPr>
          <a:xfrm>
            <a:off x="6492239" y="4937759"/>
            <a:ext cx="50292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The learning goal is clinical reasoning — text/screen does the job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— 2 min</a:t>
            </a:r>
          </a:p>
        </p:txBody>
      </p:sp>
      <p:sp>
        <p:nvSpPr>
          <p:cNvPr id="37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4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Think of a clinical skill your fellows need to learn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Which fidelity level would you choose? Text? Images? Screen? AR? VR?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Would the free option work? Or does this skill genuinely require VR?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Share your reasoning with your table group</a:t>
            </a:r>
          </a:p>
        </p:txBody>
      </p:sp>
      <p:sp>
        <p:nvSpPr>
          <p:cNvPr id="375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Capstone Design Sprint — 17 min</a:t>
            </a:r>
          </a:p>
        </p:txBody>
      </p:sp>
      <p:sp>
        <p:nvSpPr>
          <p:cNvPr id="38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Turn one of your ideas into a plan you can take back to your program</a:t>
            </a:r>
          </a:p>
        </p:txBody>
      </p:sp>
      <p:sp>
        <p:nvSpPr>
          <p:cNvPr id="386" name="Rectangle 4"/>
          <p:cNvSpPr/>
          <p:nvPr/>
        </p:nvSpPr>
        <p:spPr>
          <a:xfrm>
            <a:off x="640080" y="1371600"/>
            <a:ext cx="10972801" cy="1371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Rectangle 5"/>
          <p:cNvSpPr/>
          <p:nvPr/>
        </p:nvSpPr>
        <p:spPr>
          <a:xfrm>
            <a:off x="640080" y="1371600"/>
            <a:ext cx="50801" cy="1371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8" name="TextBox 6"/>
          <p:cNvSpPr txBox="1"/>
          <p:nvPr/>
        </p:nvSpPr>
        <p:spPr>
          <a:xfrm>
            <a:off x="914399" y="1444752"/>
            <a:ext cx="105156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WHAT THIS IS</a:t>
            </a:r>
          </a:p>
        </p:txBody>
      </p:sp>
      <p:sp>
        <p:nvSpPr>
          <p:cNvPr id="389" name="TextBox 7"/>
          <p:cNvSpPr txBox="1"/>
          <p:nvPr/>
        </p:nvSpPr>
        <p:spPr>
          <a:xfrm>
            <a:off x="914399" y="1737360"/>
            <a:ext cx="105156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You've been discussing tools and ideas after each section — now extend that into a full implementation plan. Pick the idea that feels most feasible.</a:t>
            </a:r>
          </a:p>
        </p:txBody>
      </p:sp>
      <p:sp>
        <p:nvSpPr>
          <p:cNvPr id="390" name="Rectangle 8"/>
          <p:cNvSpPr/>
          <p:nvPr/>
        </p:nvSpPr>
        <p:spPr>
          <a:xfrm>
            <a:off x="640079" y="3017520"/>
            <a:ext cx="2103122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9"/>
          <p:cNvSpPr/>
          <p:nvPr/>
        </p:nvSpPr>
        <p:spPr>
          <a:xfrm>
            <a:off x="640079" y="3017520"/>
            <a:ext cx="210312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94" name="Oval 10"/>
          <p:cNvGrpSpPr/>
          <p:nvPr/>
        </p:nvGrpSpPr>
        <p:grpSpPr>
          <a:xfrm>
            <a:off x="1325880" y="3200399"/>
            <a:ext cx="640081" cy="640082"/>
            <a:chOff x="0" y="0"/>
            <a:chExt cx="640080" cy="640080"/>
          </a:xfrm>
        </p:grpSpPr>
        <p:sp>
          <p:nvSpPr>
            <p:cNvPr id="392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1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95" name="TextBox 11"/>
          <p:cNvSpPr txBox="1"/>
          <p:nvPr/>
        </p:nvSpPr>
        <p:spPr>
          <a:xfrm>
            <a:off x="777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Identify</a:t>
            </a:r>
            <a:br/>
            <a:r>
              <a:t>a Need</a:t>
            </a:r>
          </a:p>
        </p:txBody>
      </p:sp>
      <p:sp>
        <p:nvSpPr>
          <p:cNvPr id="396" name="Rectangle 12"/>
          <p:cNvSpPr/>
          <p:nvPr/>
        </p:nvSpPr>
        <p:spPr>
          <a:xfrm>
            <a:off x="2926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3"/>
          <p:cNvSpPr/>
          <p:nvPr/>
        </p:nvSpPr>
        <p:spPr>
          <a:xfrm>
            <a:off x="2926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0" name="Oval 14"/>
          <p:cNvGrpSpPr/>
          <p:nvPr/>
        </p:nvGrpSpPr>
        <p:grpSpPr>
          <a:xfrm>
            <a:off x="3611879" y="3200399"/>
            <a:ext cx="640081" cy="640082"/>
            <a:chOff x="0" y="0"/>
            <a:chExt cx="640080" cy="640080"/>
          </a:xfrm>
        </p:grpSpPr>
        <p:sp>
          <p:nvSpPr>
            <p:cNvPr id="398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2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01" name="TextBox 15"/>
          <p:cNvSpPr txBox="1"/>
          <p:nvPr/>
        </p:nvSpPr>
        <p:spPr>
          <a:xfrm>
            <a:off x="3063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Define</a:t>
            </a:r>
            <a:br/>
            <a:r>
              <a:t>Learning Goals</a:t>
            </a:r>
          </a:p>
        </p:txBody>
      </p:sp>
      <p:sp>
        <p:nvSpPr>
          <p:cNvPr id="402" name="Rectangle 16"/>
          <p:cNvSpPr/>
          <p:nvPr/>
        </p:nvSpPr>
        <p:spPr>
          <a:xfrm>
            <a:off x="5212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Rectangle 17"/>
          <p:cNvSpPr/>
          <p:nvPr/>
        </p:nvSpPr>
        <p:spPr>
          <a:xfrm>
            <a:off x="5212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6" name="Oval 18"/>
          <p:cNvGrpSpPr/>
          <p:nvPr/>
        </p:nvGrpSpPr>
        <p:grpSpPr>
          <a:xfrm>
            <a:off x="5897879" y="3200399"/>
            <a:ext cx="640081" cy="640082"/>
            <a:chOff x="0" y="0"/>
            <a:chExt cx="640080" cy="640080"/>
          </a:xfrm>
        </p:grpSpPr>
        <p:sp>
          <p:nvSpPr>
            <p:cNvPr id="404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07" name="TextBox 19"/>
          <p:cNvSpPr txBox="1"/>
          <p:nvPr/>
        </p:nvSpPr>
        <p:spPr>
          <a:xfrm>
            <a:off x="5349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Select</a:t>
            </a:r>
            <a:br/>
            <a:r>
              <a:t>a Tool</a:t>
            </a:r>
          </a:p>
        </p:txBody>
      </p:sp>
      <p:sp>
        <p:nvSpPr>
          <p:cNvPr id="408" name="Rectangle 20"/>
          <p:cNvSpPr/>
          <p:nvPr/>
        </p:nvSpPr>
        <p:spPr>
          <a:xfrm>
            <a:off x="7498078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1"/>
          <p:cNvSpPr/>
          <p:nvPr/>
        </p:nvSpPr>
        <p:spPr>
          <a:xfrm>
            <a:off x="7498078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2" name="Oval 22"/>
          <p:cNvGrpSpPr/>
          <p:nvPr/>
        </p:nvGrpSpPr>
        <p:grpSpPr>
          <a:xfrm>
            <a:off x="8183878" y="3200399"/>
            <a:ext cx="640081" cy="640082"/>
            <a:chOff x="0" y="0"/>
            <a:chExt cx="640080" cy="640080"/>
          </a:xfrm>
        </p:grpSpPr>
        <p:sp>
          <p:nvSpPr>
            <p:cNvPr id="410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4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13" name="TextBox 23"/>
          <p:cNvSpPr txBox="1"/>
          <p:nvPr/>
        </p:nvSpPr>
        <p:spPr>
          <a:xfrm>
            <a:off x="7635238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Map Pedagogy</a:t>
            </a:r>
            <a:br/>
            <a:r>
              <a:t>to Technology</a:t>
            </a:r>
          </a:p>
        </p:txBody>
      </p:sp>
      <p:sp>
        <p:nvSpPr>
          <p:cNvPr id="414" name="Rectangle 24"/>
          <p:cNvSpPr/>
          <p:nvPr/>
        </p:nvSpPr>
        <p:spPr>
          <a:xfrm>
            <a:off x="9784080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25"/>
          <p:cNvSpPr/>
          <p:nvPr/>
        </p:nvSpPr>
        <p:spPr>
          <a:xfrm>
            <a:off x="9784080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8" name="Oval 26"/>
          <p:cNvGrpSpPr/>
          <p:nvPr/>
        </p:nvGrpSpPr>
        <p:grpSpPr>
          <a:xfrm>
            <a:off x="10469880" y="3200399"/>
            <a:ext cx="640081" cy="640082"/>
            <a:chOff x="0" y="0"/>
            <a:chExt cx="640080" cy="640080"/>
          </a:xfrm>
        </p:grpSpPr>
        <p:sp>
          <p:nvSpPr>
            <p:cNvPr id="416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7" name="5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419" name="TextBox 27"/>
          <p:cNvSpPr txBox="1"/>
          <p:nvPr/>
        </p:nvSpPr>
        <p:spPr>
          <a:xfrm>
            <a:off x="9921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Sketch</a:t>
            </a:r>
            <a:br/>
            <a:r>
              <a:t>Implementation</a:t>
            </a:r>
          </a:p>
        </p:txBody>
      </p:sp>
      <p:sp>
        <p:nvSpPr>
          <p:cNvPr id="420" name="TextBox 28"/>
          <p:cNvSpPr txBox="1"/>
          <p:nvPr/>
        </p:nvSpPr>
        <p:spPr>
          <a:xfrm>
            <a:off x="685800" y="530352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Share-Out — 3 min</a:t>
            </a:r>
          </a:p>
        </p:txBody>
      </p:sp>
      <p:sp>
        <p:nvSpPr>
          <p:cNvPr id="424" name="Rectangle 3"/>
          <p:cNvSpPr/>
          <p:nvPr/>
        </p:nvSpPr>
        <p:spPr>
          <a:xfrm>
            <a:off x="640080" y="1371600"/>
            <a:ext cx="10972801" cy="32004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5" name="TextBox 4"/>
          <p:cNvSpPr txBox="1"/>
          <p:nvPr/>
        </p:nvSpPr>
        <p:spPr>
          <a:xfrm>
            <a:off x="1143000" y="1828800"/>
            <a:ext cx="9966961" cy="17569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2-3 groups share their plan (60 seconds each)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What's your educational need?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 tool did you pick, and why?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What's one barrier and how will you handle it?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Wrap-Up</a:t>
            </a:r>
          </a:p>
        </p:txBody>
      </p:sp>
      <p:sp>
        <p:nvSpPr>
          <p:cNvPr id="42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Start with one tool, one need, one small experiment</a:t>
            </a:r>
          </a:p>
        </p:txBody>
      </p:sp>
      <p:sp>
        <p:nvSpPr>
          <p:cNvPr id="430" name="TextBox 4"/>
          <p:cNvSpPr txBox="1"/>
          <p:nvPr/>
        </p:nvSpPr>
        <p:spPr>
          <a:xfrm>
            <a:off x="685800" y="1371600"/>
            <a:ext cx="10881361" cy="196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Everything from today is in the Workshop Guide — bookmark it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The Zero Dollar Starter Kit: 9 free tools you can use Monday morning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All resource links, prompt templates, and the worksheet stay available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You don't need a grant, an IT ticket, or a technology expert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You need to know what your learners need — and you already know that</a:t>
            </a:r>
          </a:p>
        </p:txBody>
      </p:sp>
      <p:sp>
        <p:nvSpPr>
          <p:cNvPr id="431" name="TextBox 5"/>
          <p:cNvSpPr txBox="1"/>
          <p:nvPr/>
        </p:nvSpPr>
        <p:spPr>
          <a:xfrm>
            <a:off x="685800" y="548640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