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.google.com/notebook/db46c5da-59d3-4a7b-8c29-52e5588b39a1" TargetMode="External"/><Relationship Id="rId3" Type="http://schemas.openxmlformats.org/officeDocument/2006/relationships/hyperlink" Target="https://diana-brewer.github.io/digital-learning-unlocked/index.html#topic4" TargetMode="Externa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case-demo.html" TargetMode="Externa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mailto:brewerd@ohsu.edu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960119" y="2011679"/>
            <a:ext cx="10241282" cy="601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Digital Learning Unlocked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1417320" y="3474720"/>
            <a:ext cx="9326880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Affordable Tools and Tech for Next-Gen APP Education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417320" y="4572000"/>
            <a:ext cx="9326880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Diana Brewer, PA-C  ·  September 2026 APP Fellowship Conference 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99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0" name="1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02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Welcome &amp; Framing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2331719" y="3200400"/>
            <a:ext cx="859536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Conflict of Interest &amp; Session Format</a:t>
            </a:r>
          </a:p>
        </p:txBody>
      </p:sp>
      <p:sp>
        <p:nvSpPr>
          <p:cNvPr id="107" name="TextBox 3"/>
          <p:cNvSpPr txBox="1"/>
          <p:nvPr/>
        </p:nvSpPr>
        <p:spPr>
          <a:xfrm>
            <a:off x="685800" y="1371600"/>
            <a:ext cx="5394961" cy="259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COI: Diana Brewer is a co-founder of Sapient Clinician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This session is vendor-neutral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75 min: 40 min presentation + 30 min workshop + 5 min wrap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Keep the Workshop Guide open on your phone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Think · Pair · Share after each section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Everything stays available after the conference</a:t>
            </a:r>
          </a:p>
        </p:txBody>
      </p:sp>
      <p:sp>
        <p:nvSpPr>
          <p:cNvPr id="108" name="TextBox 4"/>
          <p:cNvSpPr txBox="1"/>
          <p:nvPr/>
        </p:nvSpPr>
        <p:spPr>
          <a:xfrm>
            <a:off x="7360919" y="2286000"/>
            <a:ext cx="40233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[QR code → Workshop Guide page]</a:t>
            </a:r>
          </a:p>
        </p:txBody>
      </p:sp>
      <p:sp>
        <p:nvSpPr>
          <p:cNvPr id="109" name="Rectangle 5"/>
          <p:cNvSpPr/>
          <p:nvPr/>
        </p:nvSpPr>
        <p:spPr>
          <a:xfrm>
            <a:off x="7772400" y="2560320"/>
            <a:ext cx="3200400" cy="32004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11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2" name="2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14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1 — Digital Tools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Free or low-cost platforms for creating interactive content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Demo: Branching Clinical Scenario</a:t>
            </a:r>
          </a:p>
        </p:txBody>
      </p:sp>
      <p:sp>
        <p:nvSpPr>
          <p:cNvPr id="11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this on your phone now</a:t>
            </a:r>
          </a:p>
        </p:txBody>
      </p:sp>
      <p:sp>
        <p:nvSpPr>
          <p:cNvPr id="120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2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WHAT IT IS</a:t>
            </a:r>
          </a:p>
        </p:txBody>
      </p:sp>
      <p:sp>
        <p:nvSpPr>
          <p:cNvPr id="123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65-year-old with acute confusion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Make decisions, see consequences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Built with H5P (free, open-source)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No programming required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Every decision is a clinical action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The reasoning path IS the assessment</a:t>
            </a:r>
          </a:p>
        </p:txBody>
      </p:sp>
      <p:sp>
        <p:nvSpPr>
          <p:cNvPr id="124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5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6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127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Branching Scenario Demo</a:t>
            </a:r>
          </a:p>
        </p:txBody>
      </p:sp>
      <p:sp>
        <p:nvSpPr>
          <p:cNvPr id="128" name="TextBox 12"/>
          <p:cNvSpPr txBox="1"/>
          <p:nvPr/>
        </p:nvSpPr>
        <p:spPr>
          <a:xfrm>
            <a:off x="6903719" y="2743200"/>
            <a:ext cx="448056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Cost to recreate: $0  ·  Time to build: ~1 hour</a:t>
            </a:r>
          </a:p>
        </p:txBody>
      </p:sp>
      <p:sp>
        <p:nvSpPr>
          <p:cNvPr id="129" name="TextBox 13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Workshop Guide → Section 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Tool Reference — Content Creation</a:t>
            </a:r>
          </a:p>
        </p:txBody>
      </p:sp>
      <p:sp>
        <p:nvSpPr>
          <p:cNvPr id="13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Full list with pricing and links in the Workshop Guide</a:t>
            </a:r>
          </a:p>
        </p:txBody>
      </p:sp>
      <p:graphicFrame>
        <p:nvGraphicFramePr>
          <p:cNvPr id="134" name="Table 4"/>
          <p:cNvGraphicFramePr/>
          <p:nvPr/>
        </p:nvGraphicFramePr>
        <p:xfrm>
          <a:off x="457200" y="1371600"/>
          <a:ext cx="11247120" cy="2240279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Canva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~$14/mo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Infographics, visual cases, AI-assisted design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H5P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 (OSS)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Branching scenarios, interactive content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Nearpod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$120/yr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Live interactive lectures, formative assessment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Pear Deck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$150/yr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Interactive slides with embedded questions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Gamma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AI-generated presentations from a prompt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MedEdPORTAL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Peer-reviewed, ready-to-use teaching modules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5" name="Rectangle 5"/>
          <p:cNvSpPr/>
          <p:nvPr/>
        </p:nvSpPr>
        <p:spPr>
          <a:xfrm>
            <a:off x="457199" y="5303520"/>
            <a:ext cx="11247122" cy="1097281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6" name="Rectangle 6"/>
          <p:cNvSpPr/>
          <p:nvPr/>
        </p:nvSpPr>
        <p:spPr>
          <a:xfrm>
            <a:off x="457200" y="5303520"/>
            <a:ext cx="50800" cy="109728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7" name="TextBox 7"/>
          <p:cNvSpPr txBox="1"/>
          <p:nvPr/>
        </p:nvSpPr>
        <p:spPr>
          <a:xfrm>
            <a:off x="731520" y="5376671"/>
            <a:ext cx="107899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IMPORTANT</a:t>
            </a:r>
          </a:p>
        </p:txBody>
      </p:sp>
      <p:sp>
        <p:nvSpPr>
          <p:cNvPr id="138" name="TextBox 8"/>
          <p:cNvSpPr txBox="1"/>
          <p:nvPr/>
        </p:nvSpPr>
        <p:spPr>
          <a:xfrm>
            <a:off x="731520" y="5669279"/>
            <a:ext cx="10789920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Study tools (Anki, Quizlet, Brainscape) support memorization, NOT assessment. In the AI era, any assessment that asks students to select an answer can be solved by AI.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14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Turn to your table group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one tool you already use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one tool from the list you're curious about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What's one educational challenge you wish you had a tool for?</a:t>
            </a:r>
          </a:p>
        </p:txBody>
      </p:sp>
      <p:sp>
        <p:nvSpPr>
          <p:cNvPr id="14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47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8" name="3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150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2 — AI Chatbots</a:t>
            </a:r>
          </a:p>
        </p:txBody>
      </p:sp>
      <p:sp>
        <p:nvSpPr>
          <p:cNvPr id="151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Conversational tools that generate content — and can hallucinate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Pedagogical Challenge</a:t>
            </a:r>
          </a:p>
        </p:txBody>
      </p:sp>
      <p:sp>
        <p:nvSpPr>
          <p:cNvPr id="15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In the AI era, we must rethink assessment</a:t>
            </a:r>
          </a:p>
        </p:txBody>
      </p:sp>
      <p:sp>
        <p:nvSpPr>
          <p:cNvPr id="156" name="Rectangle 4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7" name="Rectangle 5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TextBox 6"/>
          <p:cNvSpPr txBox="1"/>
          <p:nvPr/>
        </p:nvSpPr>
        <p:spPr>
          <a:xfrm>
            <a:off x="960119" y="1554480"/>
            <a:ext cx="99669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THE CORE MESSAGE</a:t>
            </a:r>
          </a:p>
        </p:txBody>
      </p:sp>
      <p:sp>
        <p:nvSpPr>
          <p:cNvPr id="159" name="TextBox 7"/>
          <p:cNvSpPr txBox="1"/>
          <p:nvPr/>
        </p:nvSpPr>
        <p:spPr>
          <a:xfrm>
            <a:off x="960119" y="2011679"/>
            <a:ext cx="9966962" cy="30889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If we use AI to create multiple-choice quizzes, students will use AI to answer them.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That's not education — that's an arms race we've already lost.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Use AI to create cognitively demanding, authentic learning experiences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that AI can't do for the student: simulated encounters, reflective writing,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clinical reasoning cases, formative feedback on authentic work.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Use AI to build the scaffolding, not to replace the thinking.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Conversational Chatbots</a:t>
            </a:r>
          </a:p>
        </p:txBody>
      </p:sp>
      <p:sp>
        <p:nvSpPr>
          <p:cNvPr id="16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Full list with pricing in the Workshop Guide → Section 3</a:t>
            </a:r>
          </a:p>
        </p:txBody>
      </p:sp>
      <p:graphicFrame>
        <p:nvGraphicFramePr>
          <p:cNvPr id="164" name="Table 4"/>
          <p:cNvGraphicFramePr/>
          <p:nvPr/>
        </p:nvGraphicFramePr>
        <p:xfrm>
          <a:off x="457200" y="1371600"/>
          <a:ext cx="11247120" cy="1920239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2286000"/>
                <a:gridCol w="7132319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Key Features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ChatGPT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Most versatile. File upload. Voice mode. Custom GPTs.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Claude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$17/mo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Best for long content, complex reasoning. 200K context.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Gemini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Google Workspace integration. Deep Research with citations.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Grok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w/ X / ~$30/mo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Real-time web search. No enterprise/EDU plan.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Copilot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$10/mo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M365 integration. Many institutions already include it.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166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67" name="4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169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2 — Grounding AI</a:t>
            </a:r>
          </a:p>
        </p:txBody>
      </p:sp>
      <p:sp>
        <p:nvSpPr>
          <p:cNvPr id="170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Preventing hallucinations by grounding in your source material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Data Aggregation &amp; Grounding Tools</a:t>
            </a:r>
          </a:p>
        </p:txBody>
      </p:sp>
      <p:sp>
        <p:nvSpPr>
          <p:cNvPr id="174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RAG without writing code</a:t>
            </a:r>
          </a:p>
        </p:txBody>
      </p:sp>
      <p:sp>
        <p:nvSpPr>
          <p:cNvPr id="175" name="Rectangle 4"/>
          <p:cNvSpPr/>
          <p:nvPr/>
        </p:nvSpPr>
        <p:spPr>
          <a:xfrm>
            <a:off x="457199" y="1371600"/>
            <a:ext cx="11247122" cy="27432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Rectangle 5"/>
          <p:cNvSpPr/>
          <p:nvPr/>
        </p:nvSpPr>
        <p:spPr>
          <a:xfrm>
            <a:off x="457200" y="1371600"/>
            <a:ext cx="50800" cy="27432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7" name="TextBox 6"/>
          <p:cNvSpPr txBox="1"/>
          <p:nvPr/>
        </p:nvSpPr>
        <p:spPr>
          <a:xfrm>
            <a:off x="777239" y="1554480"/>
            <a:ext cx="10424161" cy="32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⭐ THE MOST IMPORTANT TOOL IN THIS SESSION</a:t>
            </a:r>
          </a:p>
        </p:txBody>
      </p:sp>
      <p:sp>
        <p:nvSpPr>
          <p:cNvPr id="178" name="TextBox 7"/>
          <p:cNvSpPr txBox="1"/>
          <p:nvPr/>
        </p:nvSpPr>
        <p:spPr>
          <a:xfrm>
            <a:off x="777239" y="1920239"/>
            <a:ext cx="10424161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200">
                <a:solidFill>
                  <a:srgbClr val="1E4258"/>
                </a:solidFill>
              </a:defRPr>
            </a:lvl1pPr>
          </a:lstStyle>
          <a:p>
            <a:pPr/>
            <a:r>
              <a:t>Google NotebookLM — FREE</a:t>
            </a:r>
          </a:p>
        </p:txBody>
      </p:sp>
      <p:sp>
        <p:nvSpPr>
          <p:cNvPr id="179" name="TextBox 8"/>
          <p:cNvSpPr txBox="1"/>
          <p:nvPr/>
        </p:nvSpPr>
        <p:spPr>
          <a:xfrm>
            <a:off x="777239" y="2468879"/>
            <a:ext cx="10424161" cy="10117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Upload your source documents → AI responses grounded ONLY in what you uploaded</a:t>
            </a:r>
          </a:p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If the answer isn't in your documents, it says so. Zero hallucination risk.</a:t>
            </a:r>
          </a:p>
          <a:p>
            <a:pPr>
              <a:spcBef>
                <a:spcPts val="800"/>
              </a:spcBef>
              <a:defRPr sz="1600">
                <a:solidFill>
                  <a:srgbClr val="1A2332"/>
                </a:solidFill>
              </a:defRPr>
            </a:pPr>
            <a:r>
              <a:t>• Generates study guides, FAQs, and audio podcast discussions</a:t>
            </a:r>
          </a:p>
        </p:txBody>
      </p:sp>
      <p:graphicFrame>
        <p:nvGraphicFramePr>
          <p:cNvPr id="180" name="Table 9"/>
          <p:cNvGraphicFramePr/>
          <p:nvPr/>
        </p:nvGraphicFramePr>
        <p:xfrm>
          <a:off x="457200" y="4389120"/>
          <a:ext cx="11247120" cy="96012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86000"/>
                <a:gridCol w="2560320"/>
                <a:gridCol w="6400800"/>
              </a:tblGrid>
              <a:tr h="32003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Perplexity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$20/mo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AI answer engine that cites every source. Best for EBM exercises.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DeepSeek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8659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Reasoning model with visible chain-of-thought. Self-hostable for privacy.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Grounded AI Workflow — No Code Required</a:t>
            </a:r>
          </a:p>
        </p:txBody>
      </p:sp>
      <p:sp>
        <p:nvSpPr>
          <p:cNvPr id="184" name="Rectangle 3"/>
          <p:cNvSpPr/>
          <p:nvPr/>
        </p:nvSpPr>
        <p:spPr>
          <a:xfrm>
            <a:off x="36575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Rectangle 4"/>
          <p:cNvSpPr/>
          <p:nvPr/>
        </p:nvSpPr>
        <p:spPr>
          <a:xfrm>
            <a:off x="36575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88" name="Oval 5"/>
          <p:cNvGrpSpPr/>
          <p:nvPr/>
        </p:nvGrpSpPr>
        <p:grpSpPr>
          <a:xfrm>
            <a:off x="1097280" y="1828799"/>
            <a:ext cx="731521" cy="731522"/>
            <a:chOff x="0" y="0"/>
            <a:chExt cx="731520" cy="731520"/>
          </a:xfrm>
        </p:grpSpPr>
        <p:sp>
          <p:nvSpPr>
            <p:cNvPr id="186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7" name="1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189" name="TextBox 6"/>
          <p:cNvSpPr txBox="1"/>
          <p:nvPr/>
        </p:nvSpPr>
        <p:spPr>
          <a:xfrm>
            <a:off x="502920" y="2743200"/>
            <a:ext cx="1920239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Prepare</a:t>
            </a:r>
          </a:p>
        </p:txBody>
      </p:sp>
      <p:sp>
        <p:nvSpPr>
          <p:cNvPr id="190" name="TextBox 7"/>
          <p:cNvSpPr txBox="1"/>
          <p:nvPr/>
        </p:nvSpPr>
        <p:spPr>
          <a:xfrm>
            <a:off x="502920" y="3291840"/>
            <a:ext cx="1920239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Gather your source material:</a:t>
            </a:r>
            <a:br/>
            <a:r>
              <a:t>guidelines, case notes,</a:t>
            </a:r>
            <a:br/>
            <a:r>
              <a:t>articles, lecture slides</a:t>
            </a:r>
          </a:p>
        </p:txBody>
      </p:sp>
      <p:sp>
        <p:nvSpPr>
          <p:cNvPr id="191" name="Rectangle 8"/>
          <p:cNvSpPr/>
          <p:nvPr/>
        </p:nvSpPr>
        <p:spPr>
          <a:xfrm>
            <a:off x="2743199" y="1645920"/>
            <a:ext cx="2194562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2" name="Rectangle 9"/>
          <p:cNvSpPr/>
          <p:nvPr/>
        </p:nvSpPr>
        <p:spPr>
          <a:xfrm>
            <a:off x="2743199" y="1645920"/>
            <a:ext cx="219456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195" name="Oval 10"/>
          <p:cNvGrpSpPr/>
          <p:nvPr/>
        </p:nvGrpSpPr>
        <p:grpSpPr>
          <a:xfrm>
            <a:off x="3474720" y="1828799"/>
            <a:ext cx="731521" cy="731522"/>
            <a:chOff x="0" y="0"/>
            <a:chExt cx="731520" cy="731520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2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196" name="TextBox 11"/>
          <p:cNvSpPr txBox="1"/>
          <p:nvPr/>
        </p:nvSpPr>
        <p:spPr>
          <a:xfrm>
            <a:off x="288035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Upload</a:t>
            </a:r>
          </a:p>
        </p:txBody>
      </p:sp>
      <p:sp>
        <p:nvSpPr>
          <p:cNvPr id="197" name="TextBox 12"/>
          <p:cNvSpPr txBox="1"/>
          <p:nvPr/>
        </p:nvSpPr>
        <p:spPr>
          <a:xfrm>
            <a:off x="288035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Upload to NotebookLM (free)</a:t>
            </a:r>
            <a:br/>
            <a:r>
              <a:t>or ChatGPT/Claude with</a:t>
            </a:r>
            <a:br/>
            <a:r>
              <a:t>file upload</a:t>
            </a:r>
          </a:p>
        </p:txBody>
      </p:sp>
      <p:sp>
        <p:nvSpPr>
          <p:cNvPr id="198" name="Rectangle 13"/>
          <p:cNvSpPr/>
          <p:nvPr/>
        </p:nvSpPr>
        <p:spPr>
          <a:xfrm>
            <a:off x="512064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9" name="Rectangle 14"/>
          <p:cNvSpPr/>
          <p:nvPr/>
        </p:nvSpPr>
        <p:spPr>
          <a:xfrm>
            <a:off x="512064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2" name="Oval 15"/>
          <p:cNvGrpSpPr/>
          <p:nvPr/>
        </p:nvGrpSpPr>
        <p:grpSpPr>
          <a:xfrm>
            <a:off x="5852159" y="1828799"/>
            <a:ext cx="731521" cy="731522"/>
            <a:chOff x="0" y="0"/>
            <a:chExt cx="731520" cy="731520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1" name="3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203" name="TextBox 16"/>
          <p:cNvSpPr txBox="1"/>
          <p:nvPr/>
        </p:nvSpPr>
        <p:spPr>
          <a:xfrm>
            <a:off x="525779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Ground</a:t>
            </a:r>
          </a:p>
        </p:txBody>
      </p:sp>
      <p:sp>
        <p:nvSpPr>
          <p:cNvPr id="204" name="TextBox 17"/>
          <p:cNvSpPr txBox="1"/>
          <p:nvPr/>
        </p:nvSpPr>
        <p:spPr>
          <a:xfrm>
            <a:off x="5257799" y="3291840"/>
            <a:ext cx="1920240" cy="8678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Add this instruction:</a:t>
            </a:r>
            <a:br/>
            <a:r>
              <a:t>"Base your response only</a:t>
            </a:r>
            <a:br/>
            <a:r>
              <a:t>on the attached documents"</a:t>
            </a:r>
          </a:p>
        </p:txBody>
      </p:sp>
      <p:sp>
        <p:nvSpPr>
          <p:cNvPr id="205" name="Rectangle 18"/>
          <p:cNvSpPr/>
          <p:nvPr/>
        </p:nvSpPr>
        <p:spPr>
          <a:xfrm>
            <a:off x="7498080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6" name="Rectangle 19"/>
          <p:cNvSpPr/>
          <p:nvPr/>
        </p:nvSpPr>
        <p:spPr>
          <a:xfrm>
            <a:off x="7498080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09" name="Oval 20"/>
          <p:cNvGrpSpPr/>
          <p:nvPr/>
        </p:nvGrpSpPr>
        <p:grpSpPr>
          <a:xfrm>
            <a:off x="8229599" y="1828799"/>
            <a:ext cx="731522" cy="731522"/>
            <a:chOff x="0" y="0"/>
            <a:chExt cx="731520" cy="731520"/>
          </a:xfrm>
        </p:grpSpPr>
        <p:sp>
          <p:nvSpPr>
            <p:cNvPr id="207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08" name="4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210" name="TextBox 21"/>
          <p:cNvSpPr txBox="1"/>
          <p:nvPr/>
        </p:nvSpPr>
        <p:spPr>
          <a:xfrm>
            <a:off x="763523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Verify</a:t>
            </a:r>
          </a:p>
        </p:txBody>
      </p:sp>
      <p:sp>
        <p:nvSpPr>
          <p:cNvPr id="211" name="TextBox 22"/>
          <p:cNvSpPr txBox="1"/>
          <p:nvPr/>
        </p:nvSpPr>
        <p:spPr>
          <a:xfrm>
            <a:off x="763523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Spot-check lab values,</a:t>
            </a:r>
            <a:br/>
            <a:r>
              <a:t>drug dosages, clinical</a:t>
            </a:r>
            <a:br/>
            <a:r>
              <a:t>facts against your source</a:t>
            </a:r>
          </a:p>
        </p:txBody>
      </p:sp>
      <p:sp>
        <p:nvSpPr>
          <p:cNvPr id="212" name="Rectangle 23"/>
          <p:cNvSpPr/>
          <p:nvPr/>
        </p:nvSpPr>
        <p:spPr>
          <a:xfrm>
            <a:off x="9875519" y="1645920"/>
            <a:ext cx="2194561" cy="36576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Rectangle 24"/>
          <p:cNvSpPr/>
          <p:nvPr/>
        </p:nvSpPr>
        <p:spPr>
          <a:xfrm>
            <a:off x="9875519" y="1645920"/>
            <a:ext cx="219456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216" name="Oval 25"/>
          <p:cNvGrpSpPr/>
          <p:nvPr/>
        </p:nvGrpSpPr>
        <p:grpSpPr>
          <a:xfrm>
            <a:off x="10607040" y="1828799"/>
            <a:ext cx="731521" cy="731522"/>
            <a:chOff x="0" y="0"/>
            <a:chExt cx="731520" cy="731520"/>
          </a:xfrm>
        </p:grpSpPr>
        <p:sp>
          <p:nvSpPr>
            <p:cNvPr id="214" name="Circle"/>
            <p:cNvSpPr/>
            <p:nvPr/>
          </p:nvSpPr>
          <p:spPr>
            <a:xfrm>
              <a:off x="-1" y="-1"/>
              <a:ext cx="731522" cy="73152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15" name="5"/>
            <p:cNvSpPr txBox="1"/>
            <p:nvPr/>
          </p:nvSpPr>
          <p:spPr>
            <a:xfrm>
              <a:off x="152848" y="195669"/>
              <a:ext cx="42582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17" name="TextBox 26"/>
          <p:cNvSpPr txBox="1"/>
          <p:nvPr/>
        </p:nvSpPr>
        <p:spPr>
          <a:xfrm>
            <a:off x="10012679" y="2743200"/>
            <a:ext cx="192024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1E4258"/>
                </a:solidFill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218" name="TextBox 27"/>
          <p:cNvSpPr txBox="1"/>
          <p:nvPr/>
        </p:nvSpPr>
        <p:spPr>
          <a:xfrm>
            <a:off x="10012679" y="3291840"/>
            <a:ext cx="1920240" cy="6646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300">
                <a:solidFill>
                  <a:srgbClr val="5A6B7E"/>
                </a:solidFill>
              </a:defRPr>
            </a:pPr>
            <a:r>
              <a:t>Save the notebook.</a:t>
            </a:r>
            <a:br/>
            <a:r>
              <a:t>It becomes your personal</a:t>
            </a:r>
            <a:br/>
            <a:r>
              <a:t>AI case library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Live Demo: NotebookLM Grounding</a:t>
            </a:r>
          </a:p>
        </p:txBody>
      </p:sp>
      <p:sp>
        <p:nvSpPr>
          <p:cNvPr id="222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Show the problem, then the solution</a:t>
            </a:r>
          </a:p>
        </p:txBody>
      </p:sp>
      <p:sp>
        <p:nvSpPr>
          <p:cNvPr id="223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4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5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DEMO SCRIPT</a:t>
            </a:r>
          </a:p>
        </p:txBody>
      </p:sp>
      <p:sp>
        <p:nvSpPr>
          <p:cNvPr id="226" name="TextBox 7"/>
          <p:cNvSpPr txBox="1"/>
          <p:nvPr/>
        </p:nvSpPr>
        <p:spPr>
          <a:xfrm>
            <a:off x="960119" y="1920239"/>
            <a:ext cx="4937762" cy="17836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1. ChatGPT WITHOUT sources → show hallucination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2. Open NotebookLM with pericarditis guidelines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3. Same question → grounded, cited response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4. Generate clinical reasoning exercise + rubric</a:t>
            </a:r>
          </a:p>
          <a:p>
            <a:pPr>
              <a:spcBef>
                <a:spcPts val="800"/>
              </a:spcBef>
              <a:defRPr sz="1700">
                <a:solidFill>
                  <a:srgbClr val="1A2332"/>
                </a:solidFill>
              </a:defRPr>
            </a:pPr>
            <a:r>
              <a:t>5. Audio Overview (podcast) — play 15 seconds</a:t>
            </a:r>
          </a:p>
        </p:txBody>
      </p:sp>
      <p:sp>
        <p:nvSpPr>
          <p:cNvPr id="227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8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9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OPEN NOW</a:t>
            </a:r>
          </a:p>
        </p:txBody>
      </p:sp>
      <p:sp>
        <p:nvSpPr>
          <p:cNvPr id="230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NotebookLM</a:t>
            </a:r>
          </a:p>
        </p:txBody>
      </p:sp>
      <p:sp>
        <p:nvSpPr>
          <p:cNvPr id="231" name="TextBox 12"/>
          <p:cNvSpPr txBox="1"/>
          <p:nvPr/>
        </p:nvSpPr>
        <p:spPr>
          <a:xfrm>
            <a:off x="6903719" y="3657600"/>
            <a:ext cx="4480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 invalidUrl="" action="" tgtFrame="" tooltip="" history="1" highlightClick="0" endSnd="0"/>
              </a:rPr>
              <a:t>Workshop Guide → Section 4 (prompts)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Copy-Paste Prompt Templates</a:t>
            </a:r>
          </a:p>
        </p:txBody>
      </p:sp>
      <p:sp>
        <p:nvSpPr>
          <p:cNvPr id="23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these now — in the Workshop Guide → Section 4</a:t>
            </a:r>
          </a:p>
        </p:txBody>
      </p:sp>
      <p:sp>
        <p:nvSpPr>
          <p:cNvPr id="236" name="Rectangle 4"/>
          <p:cNvSpPr/>
          <p:nvPr/>
        </p:nvSpPr>
        <p:spPr>
          <a:xfrm>
            <a:off x="640080" y="1371600"/>
            <a:ext cx="10972801" cy="1005839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Rectangle 5"/>
          <p:cNvSpPr/>
          <p:nvPr/>
        </p:nvSpPr>
        <p:spPr>
          <a:xfrm>
            <a:off x="640080" y="1371600"/>
            <a:ext cx="50801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8" name="TextBox 6"/>
          <p:cNvSpPr txBox="1"/>
          <p:nvPr/>
        </p:nvSpPr>
        <p:spPr>
          <a:xfrm>
            <a:off x="960119" y="1444752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1</a:t>
            </a:r>
          </a:p>
        </p:txBody>
      </p:sp>
      <p:sp>
        <p:nvSpPr>
          <p:cNvPr id="239" name="TextBox 7"/>
          <p:cNvSpPr txBox="1"/>
          <p:nvPr/>
        </p:nvSpPr>
        <p:spPr>
          <a:xfrm>
            <a:off x="2331719" y="1444752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Grounded Clinical Reasoning Case</a:t>
            </a:r>
          </a:p>
        </p:txBody>
      </p:sp>
      <p:sp>
        <p:nvSpPr>
          <p:cNvPr id="240" name="TextBox 8"/>
          <p:cNvSpPr txBox="1"/>
          <p:nvPr/>
        </p:nvSpPr>
        <p:spPr>
          <a:xfrm>
            <a:off x="960119" y="1828800"/>
            <a:ext cx="9052562" cy="280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For NotebookLM or ChatGPT with file upload</a:t>
            </a:r>
          </a:p>
        </p:txBody>
      </p:sp>
      <p:sp>
        <p:nvSpPr>
          <p:cNvPr id="241" name="Rectangle 9"/>
          <p:cNvSpPr/>
          <p:nvPr/>
        </p:nvSpPr>
        <p:spPr>
          <a:xfrm>
            <a:off x="640080" y="2560320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2" name="Rectangle 10"/>
          <p:cNvSpPr/>
          <p:nvPr/>
        </p:nvSpPr>
        <p:spPr>
          <a:xfrm>
            <a:off x="640080" y="2560320"/>
            <a:ext cx="50801" cy="100584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3" name="TextBox 11"/>
          <p:cNvSpPr txBox="1"/>
          <p:nvPr/>
        </p:nvSpPr>
        <p:spPr>
          <a:xfrm>
            <a:off x="960119" y="2633472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2</a:t>
            </a:r>
          </a:p>
        </p:txBody>
      </p:sp>
      <p:sp>
        <p:nvSpPr>
          <p:cNvPr id="244" name="TextBox 12"/>
          <p:cNvSpPr txBox="1"/>
          <p:nvPr/>
        </p:nvSpPr>
        <p:spPr>
          <a:xfrm>
            <a:off x="2331719" y="2633472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Simulated Patient Encounter</a:t>
            </a:r>
          </a:p>
        </p:txBody>
      </p:sp>
      <p:sp>
        <p:nvSpPr>
          <p:cNvPr id="245" name="TextBox 13"/>
          <p:cNvSpPr txBox="1"/>
          <p:nvPr/>
        </p:nvSpPr>
        <p:spPr>
          <a:xfrm>
            <a:off x="960119" y="3017520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For ChatGPT voice mode or Claude</a:t>
            </a:r>
          </a:p>
        </p:txBody>
      </p:sp>
      <p:sp>
        <p:nvSpPr>
          <p:cNvPr id="246" name="Rectangle 14"/>
          <p:cNvSpPr/>
          <p:nvPr/>
        </p:nvSpPr>
        <p:spPr>
          <a:xfrm>
            <a:off x="640080" y="3749038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" name="Rectangle 15"/>
          <p:cNvSpPr/>
          <p:nvPr/>
        </p:nvSpPr>
        <p:spPr>
          <a:xfrm>
            <a:off x="640080" y="3749038"/>
            <a:ext cx="50801" cy="100584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" name="TextBox 16"/>
          <p:cNvSpPr txBox="1"/>
          <p:nvPr/>
        </p:nvSpPr>
        <p:spPr>
          <a:xfrm>
            <a:off x="960119" y="3822191"/>
            <a:ext cx="12801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3</a:t>
            </a:r>
          </a:p>
        </p:txBody>
      </p:sp>
      <p:sp>
        <p:nvSpPr>
          <p:cNvPr id="249" name="TextBox 17"/>
          <p:cNvSpPr txBox="1"/>
          <p:nvPr/>
        </p:nvSpPr>
        <p:spPr>
          <a:xfrm>
            <a:off x="2331719" y="3822191"/>
            <a:ext cx="4480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Structured Feedback Rubric</a:t>
            </a:r>
          </a:p>
        </p:txBody>
      </p:sp>
      <p:sp>
        <p:nvSpPr>
          <p:cNvPr id="250" name="TextBox 18"/>
          <p:cNvSpPr txBox="1"/>
          <p:nvPr/>
        </p:nvSpPr>
        <p:spPr>
          <a:xfrm>
            <a:off x="960119" y="4206238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Evaluates reasoning, not just answers</a:t>
            </a:r>
          </a:p>
        </p:txBody>
      </p:sp>
      <p:sp>
        <p:nvSpPr>
          <p:cNvPr id="251" name="Rectangle 19"/>
          <p:cNvSpPr/>
          <p:nvPr/>
        </p:nvSpPr>
        <p:spPr>
          <a:xfrm>
            <a:off x="640080" y="4937759"/>
            <a:ext cx="10972801" cy="100584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2" name="Rectangle 20"/>
          <p:cNvSpPr/>
          <p:nvPr/>
        </p:nvSpPr>
        <p:spPr>
          <a:xfrm>
            <a:off x="640080" y="4937759"/>
            <a:ext cx="50801" cy="100584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3" name="TextBox 21"/>
          <p:cNvSpPr txBox="1"/>
          <p:nvPr/>
        </p:nvSpPr>
        <p:spPr>
          <a:xfrm>
            <a:off x="960119" y="5010911"/>
            <a:ext cx="128016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Prompt 4</a:t>
            </a:r>
          </a:p>
        </p:txBody>
      </p:sp>
      <p:sp>
        <p:nvSpPr>
          <p:cNvPr id="254" name="TextBox 22"/>
          <p:cNvSpPr txBox="1"/>
          <p:nvPr/>
        </p:nvSpPr>
        <p:spPr>
          <a:xfrm>
            <a:off x="2331719" y="5010911"/>
            <a:ext cx="4480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E4258"/>
                </a:solidFill>
              </a:defRPr>
            </a:lvl1pPr>
          </a:lstStyle>
          <a:p>
            <a:pPr/>
            <a:r>
              <a:t>Reflective Writing Prompts</a:t>
            </a:r>
          </a:p>
        </p:txBody>
      </p:sp>
      <p:sp>
        <p:nvSpPr>
          <p:cNvPr id="255" name="TextBox 23"/>
          <p:cNvSpPr txBox="1"/>
          <p:nvPr/>
        </p:nvSpPr>
        <p:spPr>
          <a:xfrm>
            <a:off x="960119" y="5394959"/>
            <a:ext cx="905256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5A6B7E"/>
                </a:solidFill>
              </a:defRPr>
            </a:lvl1pPr>
          </a:lstStyle>
          <a:p>
            <a:pPr/>
            <a:r>
              <a:t>Creates prompts AI can't answer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259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1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On your phone, open ChatGPT, Claude, or Gemini (all free)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Copy and paste Prompt #1 or #2 from the Workshop Guide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If you have a clinical guideline, upload it first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with your table — what worked? What surprised you?</a:t>
            </a:r>
          </a:p>
        </p:txBody>
      </p:sp>
      <p:sp>
        <p:nvSpPr>
          <p:cNvPr id="262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6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264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5" name="5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267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Objective 3 — Simulation Spectrum</a:t>
            </a:r>
          </a:p>
        </p:txBody>
      </p:sp>
      <p:sp>
        <p:nvSpPr>
          <p:cNvPr id="268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Match the technology to the learning goal — from text to VR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A Clinician's Perspective on Simulation</a:t>
            </a:r>
          </a:p>
        </p:txBody>
      </p:sp>
      <p:sp>
        <p:nvSpPr>
          <p:cNvPr id="2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4" name="TextBox 5"/>
          <p:cNvSpPr txBox="1"/>
          <p:nvPr/>
        </p:nvSpPr>
        <p:spPr>
          <a:xfrm>
            <a:off x="960119" y="1554480"/>
            <a:ext cx="99669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FROM THE TRENCHES</a:t>
            </a:r>
          </a:p>
        </p:txBody>
      </p:sp>
      <p:sp>
        <p:nvSpPr>
          <p:cNvPr id="275" name="TextBox 6"/>
          <p:cNvSpPr txBox="1"/>
          <p:nvPr/>
        </p:nvSpPr>
        <p:spPr>
          <a:xfrm>
            <a:off x="960119" y="2011679"/>
            <a:ext cx="9966962" cy="2695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Immersion doesn't require a headset.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A well-designed text-and-audio case — where a learner interviews a patient,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orders labs, interprets an ECG, and builds a differential — can teach clinical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reasoning as effectively as a $500 VR setup.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What matters is the thinking the learner does, not the fidelity of the interface.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The Fidelity Spectrum</a:t>
            </a:r>
          </a:p>
        </p:txBody>
      </p:sp>
      <p:sp>
        <p:nvSpPr>
          <p:cNvPr id="27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The most expensive simulation is not the best simulation</a:t>
            </a:r>
          </a:p>
        </p:txBody>
      </p:sp>
      <p:sp>
        <p:nvSpPr>
          <p:cNvPr id="280" name="Rectangle 4"/>
          <p:cNvSpPr/>
          <p:nvPr/>
        </p:nvSpPr>
        <p:spPr>
          <a:xfrm>
            <a:off x="36575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1" name="Rectangle 5"/>
          <p:cNvSpPr/>
          <p:nvPr/>
        </p:nvSpPr>
        <p:spPr>
          <a:xfrm>
            <a:off x="365759" y="1371600"/>
            <a:ext cx="2194562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2" name="TextBox 6"/>
          <p:cNvSpPr txBox="1"/>
          <p:nvPr/>
        </p:nvSpPr>
        <p:spPr>
          <a:xfrm>
            <a:off x="502920" y="1554480"/>
            <a:ext cx="1920239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1</a:t>
            </a:r>
          </a:p>
        </p:txBody>
      </p:sp>
      <p:sp>
        <p:nvSpPr>
          <p:cNvPr id="283" name="TextBox 7"/>
          <p:cNvSpPr txBox="1"/>
          <p:nvPr/>
        </p:nvSpPr>
        <p:spPr>
          <a:xfrm>
            <a:off x="502920" y="1920239"/>
            <a:ext cx="1920239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Text &amp; Audio</a:t>
            </a:r>
          </a:p>
        </p:txBody>
      </p:sp>
      <p:sp>
        <p:nvSpPr>
          <p:cNvPr id="284" name="TextBox 8"/>
          <p:cNvSpPr txBox="1"/>
          <p:nvPr/>
        </p:nvSpPr>
        <p:spPr>
          <a:xfrm>
            <a:off x="502920" y="2560320"/>
            <a:ext cx="1920239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$20/mo</a:t>
            </a:r>
          </a:p>
        </p:txBody>
      </p:sp>
      <p:sp>
        <p:nvSpPr>
          <p:cNvPr id="285" name="TextBox 9"/>
          <p:cNvSpPr txBox="1"/>
          <p:nvPr/>
        </p:nvSpPr>
        <p:spPr>
          <a:xfrm>
            <a:off x="502920" y="3017520"/>
            <a:ext cx="1920239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Interview, labs, differential, images</a:t>
            </a:r>
          </a:p>
        </p:txBody>
      </p:sp>
      <p:sp>
        <p:nvSpPr>
          <p:cNvPr id="286" name="Rectangle 10"/>
          <p:cNvSpPr/>
          <p:nvPr/>
        </p:nvSpPr>
        <p:spPr>
          <a:xfrm>
            <a:off x="2743199" y="1371600"/>
            <a:ext cx="2194562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7" name="Rectangle 11"/>
          <p:cNvSpPr/>
          <p:nvPr/>
        </p:nvSpPr>
        <p:spPr>
          <a:xfrm>
            <a:off x="2743199" y="1371600"/>
            <a:ext cx="2194562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8" name="TextBox 12"/>
          <p:cNvSpPr txBox="1"/>
          <p:nvPr/>
        </p:nvSpPr>
        <p:spPr>
          <a:xfrm>
            <a:off x="288035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2</a:t>
            </a:r>
          </a:p>
        </p:txBody>
      </p:sp>
      <p:sp>
        <p:nvSpPr>
          <p:cNvPr id="289" name="TextBox 13"/>
          <p:cNvSpPr txBox="1"/>
          <p:nvPr/>
        </p:nvSpPr>
        <p:spPr>
          <a:xfrm>
            <a:off x="288035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Image-Based</a:t>
            </a:r>
          </a:p>
        </p:txBody>
      </p:sp>
      <p:sp>
        <p:nvSpPr>
          <p:cNvPr id="290" name="TextBox 14"/>
          <p:cNvSpPr txBox="1"/>
          <p:nvPr/>
        </p:nvSpPr>
        <p:spPr>
          <a:xfrm>
            <a:off x="288035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$25</a:t>
            </a:r>
          </a:p>
        </p:txBody>
      </p:sp>
      <p:sp>
        <p:nvSpPr>
          <p:cNvPr id="291" name="TextBox 15"/>
          <p:cNvSpPr txBox="1"/>
          <p:nvPr/>
        </p:nvSpPr>
        <p:spPr>
          <a:xfrm>
            <a:off x="288035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ECGs, radiology, lab interpretation</a:t>
            </a:r>
          </a:p>
        </p:txBody>
      </p:sp>
      <p:sp>
        <p:nvSpPr>
          <p:cNvPr id="292" name="Rectangle 16"/>
          <p:cNvSpPr/>
          <p:nvPr/>
        </p:nvSpPr>
        <p:spPr>
          <a:xfrm>
            <a:off x="512064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3" name="Rectangle 17"/>
          <p:cNvSpPr/>
          <p:nvPr/>
        </p:nvSpPr>
        <p:spPr>
          <a:xfrm>
            <a:off x="5120640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TextBox 18"/>
          <p:cNvSpPr txBox="1"/>
          <p:nvPr/>
        </p:nvSpPr>
        <p:spPr>
          <a:xfrm>
            <a:off x="525779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3</a:t>
            </a:r>
          </a:p>
        </p:txBody>
      </p:sp>
      <p:sp>
        <p:nvSpPr>
          <p:cNvPr id="295" name="TextBox 19"/>
          <p:cNvSpPr txBox="1"/>
          <p:nvPr/>
        </p:nvSpPr>
        <p:spPr>
          <a:xfrm>
            <a:off x="525779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Screen-Based</a:t>
            </a:r>
          </a:p>
        </p:txBody>
      </p:sp>
      <p:sp>
        <p:nvSpPr>
          <p:cNvPr id="296" name="TextBox 20"/>
          <p:cNvSpPr txBox="1"/>
          <p:nvPr/>
        </p:nvSpPr>
        <p:spPr>
          <a:xfrm>
            <a:off x="525779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trial — inst.</a:t>
            </a:r>
          </a:p>
        </p:txBody>
      </p:sp>
      <p:sp>
        <p:nvSpPr>
          <p:cNvPr id="297" name="TextBox 21"/>
          <p:cNvSpPr txBox="1"/>
          <p:nvPr/>
        </p:nvSpPr>
        <p:spPr>
          <a:xfrm>
            <a:off x="525779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Virtual patients, branching scenarios</a:t>
            </a:r>
          </a:p>
        </p:txBody>
      </p:sp>
      <p:sp>
        <p:nvSpPr>
          <p:cNvPr id="298" name="Rectangle 22"/>
          <p:cNvSpPr/>
          <p:nvPr/>
        </p:nvSpPr>
        <p:spPr>
          <a:xfrm>
            <a:off x="7498080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Rectangle 23"/>
          <p:cNvSpPr/>
          <p:nvPr/>
        </p:nvSpPr>
        <p:spPr>
          <a:xfrm>
            <a:off x="7498080" y="1371600"/>
            <a:ext cx="2194561" cy="50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0" name="TextBox 24"/>
          <p:cNvSpPr txBox="1"/>
          <p:nvPr/>
        </p:nvSpPr>
        <p:spPr>
          <a:xfrm>
            <a:off x="763523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4</a:t>
            </a:r>
          </a:p>
        </p:txBody>
      </p:sp>
      <p:sp>
        <p:nvSpPr>
          <p:cNvPr id="301" name="TextBox 25"/>
          <p:cNvSpPr txBox="1"/>
          <p:nvPr/>
        </p:nvSpPr>
        <p:spPr>
          <a:xfrm>
            <a:off x="763523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AR (Phone)</a:t>
            </a:r>
          </a:p>
        </p:txBody>
      </p:sp>
      <p:sp>
        <p:nvSpPr>
          <p:cNvPr id="302" name="TextBox 26"/>
          <p:cNvSpPr txBox="1"/>
          <p:nvPr/>
        </p:nvSpPr>
        <p:spPr>
          <a:xfrm>
            <a:off x="763523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Free — $25</a:t>
            </a:r>
          </a:p>
        </p:txBody>
      </p:sp>
      <p:sp>
        <p:nvSpPr>
          <p:cNvPr id="303" name="TextBox 27"/>
          <p:cNvSpPr txBox="1"/>
          <p:nvPr/>
        </p:nvSpPr>
        <p:spPr>
          <a:xfrm>
            <a:off x="763523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3D anatomy on phone, no headset</a:t>
            </a:r>
          </a:p>
        </p:txBody>
      </p:sp>
      <p:sp>
        <p:nvSpPr>
          <p:cNvPr id="304" name="Rectangle 28"/>
          <p:cNvSpPr/>
          <p:nvPr/>
        </p:nvSpPr>
        <p:spPr>
          <a:xfrm>
            <a:off x="9875519" y="1371600"/>
            <a:ext cx="2194561" cy="384048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5" name="Rectangle 29"/>
          <p:cNvSpPr/>
          <p:nvPr/>
        </p:nvSpPr>
        <p:spPr>
          <a:xfrm>
            <a:off x="9875519" y="1371600"/>
            <a:ext cx="2194561" cy="50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TextBox 30"/>
          <p:cNvSpPr txBox="1"/>
          <p:nvPr/>
        </p:nvSpPr>
        <p:spPr>
          <a:xfrm>
            <a:off x="10012679" y="1554480"/>
            <a:ext cx="192024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E8833A"/>
                </a:solidFill>
              </a:defRPr>
            </a:lvl1pPr>
          </a:lstStyle>
          <a:p>
            <a:pPr/>
            <a:r>
              <a:t>LEVEL 5</a:t>
            </a:r>
          </a:p>
        </p:txBody>
      </p:sp>
      <p:sp>
        <p:nvSpPr>
          <p:cNvPr id="307" name="TextBox 31"/>
          <p:cNvSpPr txBox="1"/>
          <p:nvPr/>
        </p:nvSpPr>
        <p:spPr>
          <a:xfrm>
            <a:off x="10012679" y="1920239"/>
            <a:ext cx="1920240" cy="3104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E4258"/>
                </a:solidFill>
              </a:defRPr>
            </a:lvl1pPr>
          </a:lstStyle>
          <a:p>
            <a:pPr/>
            <a:r>
              <a:t>Immersive VR</a:t>
            </a:r>
          </a:p>
        </p:txBody>
      </p:sp>
      <p:sp>
        <p:nvSpPr>
          <p:cNvPr id="308" name="TextBox 32"/>
          <p:cNvSpPr txBox="1"/>
          <p:nvPr/>
        </p:nvSpPr>
        <p:spPr>
          <a:xfrm>
            <a:off x="10012679" y="2560320"/>
            <a:ext cx="192024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2D8659"/>
                </a:solidFill>
              </a:defRPr>
            </a:lvl1pPr>
          </a:lstStyle>
          <a:p>
            <a:pPr/>
            <a:r>
              <a:t>$100 — $600</a:t>
            </a:r>
          </a:p>
        </p:txBody>
      </p:sp>
      <p:sp>
        <p:nvSpPr>
          <p:cNvPr id="309" name="TextBox 33"/>
          <p:cNvSpPr txBox="1"/>
          <p:nvPr/>
        </p:nvSpPr>
        <p:spPr>
          <a:xfrm>
            <a:off x="10012679" y="3017520"/>
            <a:ext cx="1920240" cy="4614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5A6B7E"/>
                </a:solidFill>
              </a:defRPr>
            </a:lvl1pPr>
          </a:lstStyle>
          <a:p>
            <a:pPr/>
            <a:r>
              <a:t>Procedures, team scenarios, physical skills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Demo: Interactive Clinical Reasoning Case</a:t>
            </a:r>
          </a:p>
        </p:txBody>
      </p:sp>
      <p:sp>
        <p:nvSpPr>
          <p:cNvPr id="313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Try this on your phone now — no VR needed</a:t>
            </a:r>
          </a:p>
        </p:txBody>
      </p:sp>
      <p:sp>
        <p:nvSpPr>
          <p:cNvPr id="314" name="Rectangle 4"/>
          <p:cNvSpPr/>
          <p:nvPr/>
        </p:nvSpPr>
        <p:spPr>
          <a:xfrm>
            <a:off x="640080" y="1371600"/>
            <a:ext cx="5486401" cy="41148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5" name="Rectangle 5"/>
          <p:cNvSpPr/>
          <p:nvPr/>
        </p:nvSpPr>
        <p:spPr>
          <a:xfrm>
            <a:off x="640080" y="1371600"/>
            <a:ext cx="50801" cy="41148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6" name="TextBox 6"/>
          <p:cNvSpPr txBox="1"/>
          <p:nvPr/>
        </p:nvSpPr>
        <p:spPr>
          <a:xfrm>
            <a:off x="960119" y="1554480"/>
            <a:ext cx="49377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5F7C"/>
                </a:solidFill>
              </a:defRPr>
            </a:lvl1pPr>
          </a:lstStyle>
          <a:p>
            <a:pPr/>
            <a:r>
              <a:t>WHAT YOU'LL DO</a:t>
            </a:r>
          </a:p>
        </p:txBody>
      </p:sp>
      <p:sp>
        <p:nvSpPr>
          <p:cNvPr id="317" name="TextBox 7"/>
          <p:cNvSpPr txBox="1"/>
          <p:nvPr/>
        </p:nvSpPr>
        <p:spPr>
          <a:xfrm>
            <a:off x="960119" y="1920239"/>
            <a:ext cx="4937762" cy="2301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19-year-old male with sharp chest pain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Interview the patient (text-based)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Order labs, interpret an ECG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Build your differential with reasoning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Write your assessment and plan</a:t>
            </a:r>
          </a:p>
          <a:p>
            <a:pPr>
              <a:spcBef>
                <a:spcPts val="800"/>
              </a:spcBef>
              <a:defRPr>
                <a:solidFill>
                  <a:srgbClr val="1A2332"/>
                </a:solidFill>
              </a:defRPr>
            </a:pPr>
            <a:r>
              <a:t>• Receive feedback on your reasoning process</a:t>
            </a:r>
          </a:p>
        </p:txBody>
      </p:sp>
      <p:sp>
        <p:nvSpPr>
          <p:cNvPr id="318" name="Rectangle 8"/>
          <p:cNvSpPr/>
          <p:nvPr/>
        </p:nvSpPr>
        <p:spPr>
          <a:xfrm>
            <a:off x="6583680" y="1371600"/>
            <a:ext cx="50292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Rectangle 9"/>
          <p:cNvSpPr/>
          <p:nvPr/>
        </p:nvSpPr>
        <p:spPr>
          <a:xfrm>
            <a:off x="6583680" y="13716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0" name="TextBox 10"/>
          <p:cNvSpPr txBox="1"/>
          <p:nvPr/>
        </p:nvSpPr>
        <p:spPr>
          <a:xfrm>
            <a:off x="6903719" y="1554480"/>
            <a:ext cx="44805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C66A28"/>
                </a:solidFill>
              </a:defRPr>
            </a:lvl1pPr>
          </a:lstStyle>
          <a:p>
            <a:pPr/>
            <a:r>
              <a:t>TRY IT NOW</a:t>
            </a:r>
          </a:p>
        </p:txBody>
      </p:sp>
      <p:sp>
        <p:nvSpPr>
          <p:cNvPr id="321" name="TextBox 11"/>
          <p:cNvSpPr txBox="1"/>
          <p:nvPr/>
        </p:nvSpPr>
        <p:spPr>
          <a:xfrm>
            <a:off x="6903719" y="1920239"/>
            <a:ext cx="4480562" cy="36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▶ Clinical Reasoning Case</a:t>
            </a:r>
          </a:p>
        </p:txBody>
      </p:sp>
      <p:sp>
        <p:nvSpPr>
          <p:cNvPr id="322" name="Rectangle 12"/>
          <p:cNvSpPr/>
          <p:nvPr/>
        </p:nvSpPr>
        <p:spPr>
          <a:xfrm>
            <a:off x="6583680" y="3474720"/>
            <a:ext cx="5029201" cy="1828801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3" name="Rectangle 13"/>
          <p:cNvSpPr/>
          <p:nvPr/>
        </p:nvSpPr>
        <p:spPr>
          <a:xfrm>
            <a:off x="6583680" y="3474720"/>
            <a:ext cx="50801" cy="1828801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4" name="TextBox 14"/>
          <p:cNvSpPr txBox="1"/>
          <p:nvPr/>
        </p:nvSpPr>
        <p:spPr>
          <a:xfrm>
            <a:off x="6903719" y="3657599"/>
            <a:ext cx="448056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KEY MESSAGE</a:t>
            </a:r>
          </a:p>
        </p:txBody>
      </p:sp>
      <p:sp>
        <p:nvSpPr>
          <p:cNvPr id="325" name="TextBox 15"/>
          <p:cNvSpPr txBox="1"/>
          <p:nvPr/>
        </p:nvSpPr>
        <p:spPr>
          <a:xfrm>
            <a:off x="6903719" y="4023359"/>
            <a:ext cx="4480562" cy="554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A2332"/>
                </a:solidFill>
              </a:defRPr>
            </a:lvl1pPr>
          </a:lstStyle>
          <a:p>
            <a:pPr/>
            <a:r>
              <a:t>No multiple choice. The reasoning IS the assessment. This is authentic assessment in the AI era.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Simulation Tools by Fidelity Level</a:t>
            </a:r>
          </a:p>
        </p:txBody>
      </p:sp>
      <p:sp>
        <p:nvSpPr>
          <p:cNvPr id="32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Full list with pricing in the Workshop Guide → Sections 5 &amp; 6</a:t>
            </a:r>
          </a:p>
        </p:txBody>
      </p:sp>
      <p:graphicFrame>
        <p:nvGraphicFramePr>
          <p:cNvPr id="330" name="Table 4"/>
          <p:cNvGraphicFramePr/>
          <p:nvPr/>
        </p:nvGraphicFramePr>
        <p:xfrm>
          <a:off x="457200" y="1371600"/>
          <a:ext cx="11247120" cy="288036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8800"/>
                <a:gridCol w="2743200"/>
                <a:gridCol w="2286000"/>
                <a:gridCol w="438912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Fidelity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Best For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ChatGPT (patient sim)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History-taking, communication practice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Flip (video reflection)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Case presentations, peer feedback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Sketchy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Subscription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Visual mnemonic learning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Xuron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Subscription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AI virtual patient encounters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SimConverse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Subscription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AI communication skills sim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Geeky Medics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/ Premium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OSCE cases and exam prep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Lecturio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Subscription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Video library + clinical cases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Text/Audio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Sapient Clinician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Subscription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Clinical reasoning assessment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Image/Screen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H5P (branching)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Branching clinical decision trees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Image/Screen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Body Interact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 trial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Virtual patient simulator (targets PA)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3D Anatomy/AR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BioDigital Human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Free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Browser-based 3D anatomy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3D Anatomy/AR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Visible Body Atlas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$25 one-time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3D anatomy + AR on phone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VR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OMS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Institutional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Explicitly targets PA/APP programs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VR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SimX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Institutional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150+ VR patient scenarios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Oval 6"/>
          <p:cNvGrpSpPr/>
          <p:nvPr/>
        </p:nvGrpSpPr>
        <p:grpSpPr>
          <a:xfrm>
            <a:off x="45719" y="320040"/>
            <a:ext cx="365762" cy="365761"/>
            <a:chOff x="0" y="0"/>
            <a:chExt cx="365760" cy="365760"/>
          </a:xfrm>
        </p:grpSpPr>
        <p:sp>
          <p:nvSpPr>
            <p:cNvPr id="332" name="Circle"/>
            <p:cNvSpPr/>
            <p:nvPr/>
          </p:nvSpPr>
          <p:spPr>
            <a:xfrm>
              <a:off x="-1" y="-1"/>
              <a:ext cx="365762" cy="36576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20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33" name="6"/>
            <p:cNvSpPr txBox="1"/>
            <p:nvPr/>
          </p:nvSpPr>
          <p:spPr>
            <a:xfrm>
              <a:off x="99283" y="12789"/>
              <a:ext cx="167194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2000">
                  <a:solidFill>
                    <a:srgbClr val="FFFFFF"/>
                  </a:solidFill>
                </a:defRPr>
              </a:lvl1pPr>
            </a:lstStyle>
            <a:p>
              <a:pPr/>
              <a:r>
                <a:t>6</a:t>
              </a:r>
            </a:p>
          </p:txBody>
        </p:sp>
      </p:grpSp>
      <p:sp>
        <p:nvSpPr>
          <p:cNvPr id="335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6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VR Hardware — When It's Worth the Investment</a:t>
            </a:r>
          </a:p>
        </p:txBody>
      </p:sp>
      <p:graphicFrame>
        <p:nvGraphicFramePr>
          <p:cNvPr id="337" name="Table 3"/>
          <p:cNvGraphicFramePr/>
          <p:nvPr/>
        </p:nvGraphicFramePr>
        <p:xfrm>
          <a:off x="457200" y="1371600"/>
          <a:ext cx="11247120" cy="160020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200400"/>
                <a:gridCol w="2286000"/>
                <a:gridCol w="576072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Hardware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What It Enables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2D5F7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Google Cardboard / phone VR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$5–$25/viewer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Basic VR demos, 360° anatomy. No controllers.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Meta Quest 2 (refurbished)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~$100–$150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Lowest-cost standalone VR. Runs most medical apps.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Meta Quest 3S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$349.99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Best value for new purchase. Color passthrough AR.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0F4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D5F7C"/>
                          </a:solidFill>
                        </a:rPr>
                        <a:t>Meta Quest 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$599.99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1A2332"/>
                          </a:solidFill>
                        </a:rPr>
                        <a:t>Premium. Not necessary for most programs.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8" name="Rectangle 4"/>
          <p:cNvSpPr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solidFill>
            <a:srgbClr val="F0F8F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9" name="Rectangle 5"/>
          <p:cNvSpPr/>
          <p:nvPr/>
        </p:nvSpPr>
        <p:spPr>
          <a:xfrm>
            <a:off x="457200" y="4572000"/>
            <a:ext cx="50800" cy="1828800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0" name="TextBox 6"/>
          <p:cNvSpPr txBox="1"/>
          <p:nvPr/>
        </p:nvSpPr>
        <p:spPr>
          <a:xfrm>
            <a:off x="73151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2D8659"/>
                </a:solidFill>
              </a:defRPr>
            </a:lvl1pPr>
          </a:lstStyle>
          <a:p>
            <a:pPr/>
            <a:r>
              <a:t>USE VR WHEN</a:t>
            </a:r>
          </a:p>
        </p:txBody>
      </p:sp>
      <p:sp>
        <p:nvSpPr>
          <p:cNvPr id="341" name="TextBox 7"/>
          <p:cNvSpPr txBox="1"/>
          <p:nvPr/>
        </p:nvSpPr>
        <p:spPr>
          <a:xfrm>
            <a:off x="73151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Procedural skills, team scenarios, high-acuity rehearsal, regular use</a:t>
            </a:r>
          </a:p>
        </p:txBody>
      </p:sp>
      <p:sp>
        <p:nvSpPr>
          <p:cNvPr id="342" name="Rectangle 8"/>
          <p:cNvSpPr/>
          <p:nvPr/>
        </p:nvSpPr>
        <p:spPr>
          <a:xfrm>
            <a:off x="6217920" y="4572000"/>
            <a:ext cx="5486401" cy="18288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Rectangle 9"/>
          <p:cNvSpPr/>
          <p:nvPr/>
        </p:nvSpPr>
        <p:spPr>
          <a:xfrm>
            <a:off x="6217920" y="4572000"/>
            <a:ext cx="50801" cy="18288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TextBox 10"/>
          <p:cNvSpPr txBox="1"/>
          <p:nvPr/>
        </p:nvSpPr>
        <p:spPr>
          <a:xfrm>
            <a:off x="6492239" y="4645152"/>
            <a:ext cx="50292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DON'T USE VR WHEN</a:t>
            </a:r>
          </a:p>
        </p:txBody>
      </p:sp>
      <p:sp>
        <p:nvSpPr>
          <p:cNvPr id="345" name="TextBox 11"/>
          <p:cNvSpPr txBox="1"/>
          <p:nvPr/>
        </p:nvSpPr>
        <p:spPr>
          <a:xfrm>
            <a:off x="6492239" y="4937759"/>
            <a:ext cx="50292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The learning goal is clinical reasoning — text/screen does the job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Recommended Starter Stack for Low-Resource Programs</a:t>
            </a:r>
          </a:p>
        </p:txBody>
      </p:sp>
      <p:sp>
        <p:nvSpPr>
          <p:cNvPr id="349" name="Rectangle 3"/>
          <p:cNvSpPr/>
          <p:nvPr/>
        </p:nvSpPr>
        <p:spPr>
          <a:xfrm>
            <a:off x="640080" y="1371599"/>
            <a:ext cx="10972801" cy="1097282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0" name="Rectangle 4"/>
          <p:cNvSpPr/>
          <p:nvPr/>
        </p:nvSpPr>
        <p:spPr>
          <a:xfrm>
            <a:off x="640080" y="1371599"/>
            <a:ext cx="50801" cy="1097282"/>
          </a:xfrm>
          <a:prstGeom prst="rect">
            <a:avLst/>
          </a:prstGeom>
          <a:solidFill>
            <a:srgbClr val="2D8659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1" name="TextBox 5"/>
          <p:cNvSpPr txBox="1"/>
          <p:nvPr/>
        </p:nvSpPr>
        <p:spPr>
          <a:xfrm>
            <a:off x="960119" y="1463039"/>
            <a:ext cx="2194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Free Entry</a:t>
            </a:r>
          </a:p>
        </p:txBody>
      </p:sp>
      <p:sp>
        <p:nvSpPr>
          <p:cNvPr id="352" name="TextBox 6"/>
          <p:cNvSpPr txBox="1"/>
          <p:nvPr/>
        </p:nvSpPr>
        <p:spPr>
          <a:xfrm>
            <a:off x="3246119" y="1463039"/>
            <a:ext cx="12801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$0</a:t>
            </a:r>
          </a:p>
        </p:txBody>
      </p:sp>
      <p:sp>
        <p:nvSpPr>
          <p:cNvPr id="353" name="TextBox 7"/>
          <p:cNvSpPr txBox="1"/>
          <p:nvPr/>
        </p:nvSpPr>
        <p:spPr>
          <a:xfrm>
            <a:off x="4800599" y="1463039"/>
            <a:ext cx="6309361" cy="277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ChatGPT + BioDigital Human + Flip + NotebookLM + H5P</a:t>
            </a:r>
          </a:p>
        </p:txBody>
      </p:sp>
      <p:sp>
        <p:nvSpPr>
          <p:cNvPr id="354" name="Rectangle 8"/>
          <p:cNvSpPr/>
          <p:nvPr/>
        </p:nvSpPr>
        <p:spPr>
          <a:xfrm>
            <a:off x="640080" y="2651760"/>
            <a:ext cx="10972801" cy="109728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5" name="Rectangle 9"/>
          <p:cNvSpPr/>
          <p:nvPr/>
        </p:nvSpPr>
        <p:spPr>
          <a:xfrm>
            <a:off x="640080" y="2651760"/>
            <a:ext cx="50801" cy="1097281"/>
          </a:xfrm>
          <a:prstGeom prst="rect">
            <a:avLst/>
          </a:prstGeom>
          <a:solidFill>
            <a:srgbClr val="3A7A9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6" name="TextBox 10"/>
          <p:cNvSpPr txBox="1"/>
          <p:nvPr/>
        </p:nvSpPr>
        <p:spPr>
          <a:xfrm>
            <a:off x="960119" y="2743199"/>
            <a:ext cx="2194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3A7A9A"/>
                </a:solidFill>
              </a:defRPr>
            </a:lvl1pPr>
          </a:lstStyle>
          <a:p>
            <a:pPr/>
            <a:r>
              <a:t>Minimal</a:t>
            </a:r>
          </a:p>
        </p:txBody>
      </p:sp>
      <p:sp>
        <p:nvSpPr>
          <p:cNvPr id="357" name="TextBox 11"/>
          <p:cNvSpPr txBox="1"/>
          <p:nvPr/>
        </p:nvSpPr>
        <p:spPr>
          <a:xfrm>
            <a:off x="3246119" y="2743199"/>
            <a:ext cx="12801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$25</a:t>
            </a:r>
          </a:p>
        </p:txBody>
      </p:sp>
      <p:sp>
        <p:nvSpPr>
          <p:cNvPr id="358" name="TextBox 12"/>
          <p:cNvSpPr txBox="1"/>
          <p:nvPr/>
        </p:nvSpPr>
        <p:spPr>
          <a:xfrm>
            <a:off x="4800599" y="2743200"/>
            <a:ext cx="6309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Above + Visible Body Atlas (includes AR)</a:t>
            </a:r>
          </a:p>
        </p:txBody>
      </p:sp>
      <p:sp>
        <p:nvSpPr>
          <p:cNvPr id="359" name="Rectangle 13"/>
          <p:cNvSpPr/>
          <p:nvPr/>
        </p:nvSpPr>
        <p:spPr>
          <a:xfrm>
            <a:off x="640080" y="3931920"/>
            <a:ext cx="10972801" cy="109728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Rectangle 14"/>
          <p:cNvSpPr/>
          <p:nvPr/>
        </p:nvSpPr>
        <p:spPr>
          <a:xfrm>
            <a:off x="640080" y="3931920"/>
            <a:ext cx="50801" cy="1097281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1" name="TextBox 15"/>
          <p:cNvSpPr txBox="1"/>
          <p:nvPr/>
        </p:nvSpPr>
        <p:spPr>
          <a:xfrm>
            <a:off x="960119" y="4023359"/>
            <a:ext cx="21945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5F7C"/>
                </a:solidFill>
              </a:defRPr>
            </a:lvl1pPr>
          </a:lstStyle>
          <a:p>
            <a:pPr/>
            <a:r>
              <a:t>One Headset</a:t>
            </a:r>
          </a:p>
        </p:txBody>
      </p:sp>
      <p:sp>
        <p:nvSpPr>
          <p:cNvPr id="362" name="TextBox 16"/>
          <p:cNvSpPr txBox="1"/>
          <p:nvPr/>
        </p:nvSpPr>
        <p:spPr>
          <a:xfrm>
            <a:off x="3246119" y="4023359"/>
            <a:ext cx="128016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~$125-175</a:t>
            </a:r>
          </a:p>
        </p:txBody>
      </p:sp>
      <p:sp>
        <p:nvSpPr>
          <p:cNvPr id="363" name="TextBox 17"/>
          <p:cNvSpPr txBox="1"/>
          <p:nvPr/>
        </p:nvSpPr>
        <p:spPr>
          <a:xfrm>
            <a:off x="4800599" y="4023359"/>
            <a:ext cx="6309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Above + 1 refurbished Meta Quest 2</a:t>
            </a:r>
          </a:p>
        </p:txBody>
      </p:sp>
      <p:sp>
        <p:nvSpPr>
          <p:cNvPr id="364" name="Rectangle 18"/>
          <p:cNvSpPr/>
          <p:nvPr/>
        </p:nvSpPr>
        <p:spPr>
          <a:xfrm>
            <a:off x="640080" y="5212079"/>
            <a:ext cx="10972801" cy="109728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Rectangle 19"/>
          <p:cNvSpPr/>
          <p:nvPr/>
        </p:nvSpPr>
        <p:spPr>
          <a:xfrm>
            <a:off x="640080" y="5212079"/>
            <a:ext cx="50801" cy="109728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6" name="TextBox 20"/>
          <p:cNvSpPr txBox="1"/>
          <p:nvPr/>
        </p:nvSpPr>
        <p:spPr>
          <a:xfrm>
            <a:off x="960119" y="5303518"/>
            <a:ext cx="21945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E8833A"/>
                </a:solidFill>
              </a:defRPr>
            </a:lvl1pPr>
          </a:lstStyle>
          <a:p>
            <a:pPr/>
            <a:r>
              <a:t>Small Program</a:t>
            </a:r>
          </a:p>
        </p:txBody>
      </p:sp>
      <p:sp>
        <p:nvSpPr>
          <p:cNvPr id="367" name="TextBox 21"/>
          <p:cNvSpPr txBox="1"/>
          <p:nvPr/>
        </p:nvSpPr>
        <p:spPr>
          <a:xfrm>
            <a:off x="3246119" y="5303518"/>
            <a:ext cx="1280162" cy="3005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2D8659"/>
                </a:solidFill>
              </a:defRPr>
            </a:lvl1pPr>
          </a:lstStyle>
          <a:p>
            <a:pPr/>
            <a:r>
              <a:t>~$700-1,100</a:t>
            </a:r>
          </a:p>
        </p:txBody>
      </p:sp>
      <p:sp>
        <p:nvSpPr>
          <p:cNvPr id="368" name="TextBox 22"/>
          <p:cNvSpPr txBox="1"/>
          <p:nvPr/>
        </p:nvSpPr>
        <p:spPr>
          <a:xfrm>
            <a:off x="4800599" y="5303518"/>
            <a:ext cx="6309361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Above + 2-3 Meta Quest 3S (~$350 each)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1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Think · Pair · Share — 3 min</a:t>
            </a:r>
          </a:p>
        </p:txBody>
      </p:sp>
      <p:sp>
        <p:nvSpPr>
          <p:cNvPr id="372" name="Rectangle 3"/>
          <p:cNvSpPr/>
          <p:nvPr/>
        </p:nvSpPr>
        <p:spPr>
          <a:xfrm>
            <a:off x="640080" y="1371600"/>
            <a:ext cx="10972801" cy="36576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3" name="Rectangle 4"/>
          <p:cNvSpPr/>
          <p:nvPr/>
        </p:nvSpPr>
        <p:spPr>
          <a:xfrm>
            <a:off x="640080" y="1371600"/>
            <a:ext cx="50801" cy="3657600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4" name="TextBox 5"/>
          <p:cNvSpPr txBox="1"/>
          <p:nvPr/>
        </p:nvSpPr>
        <p:spPr>
          <a:xfrm>
            <a:off x="1143000" y="1828800"/>
            <a:ext cx="9966961" cy="1985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Think of a clinical skill your fellows need to learn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Which fidelity level would you choose? Text? Images? Screen? AR? VR?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Would the free option work? Or does this skill genuinely require VR?</a:t>
            </a:r>
          </a:p>
          <a:p>
            <a:pPr>
              <a:spcBef>
                <a:spcPts val="1400"/>
              </a:spcBef>
              <a:defRPr sz="2200">
                <a:solidFill>
                  <a:srgbClr val="1E4258"/>
                </a:solidFill>
              </a:defRPr>
            </a:pPr>
            <a:r>
              <a:t>Share your reasoning with your table group</a:t>
            </a:r>
          </a:p>
        </p:txBody>
      </p:sp>
      <p:sp>
        <p:nvSpPr>
          <p:cNvPr id="375" name="TextBox 6"/>
          <p:cNvSpPr txBox="1"/>
          <p:nvPr/>
        </p:nvSpPr>
        <p:spPr>
          <a:xfrm>
            <a:off x="1143000" y="5303520"/>
            <a:ext cx="99669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D5F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9" name="Oval 1"/>
          <p:cNvGrpSpPr/>
          <p:nvPr/>
        </p:nvGrpSpPr>
        <p:grpSpPr>
          <a:xfrm>
            <a:off x="914399" y="2285999"/>
            <a:ext cx="1097282" cy="1097282"/>
            <a:chOff x="0" y="0"/>
            <a:chExt cx="1097280" cy="1097280"/>
          </a:xfrm>
        </p:grpSpPr>
        <p:sp>
          <p:nvSpPr>
            <p:cNvPr id="377" name="Circle"/>
            <p:cNvSpPr/>
            <p:nvPr/>
          </p:nvSpPr>
          <p:spPr>
            <a:xfrm>
              <a:off x="-1" y="-1"/>
              <a:ext cx="1097282" cy="10972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 sz="3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78" name="7"/>
            <p:cNvSpPr txBox="1"/>
            <p:nvPr/>
          </p:nvSpPr>
          <p:spPr>
            <a:xfrm>
              <a:off x="206412" y="273972"/>
              <a:ext cx="684456" cy="54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 sz="3600">
                  <a:solidFill>
                    <a:srgbClr val="FFFFFF"/>
                  </a:solidFill>
                </a:defRPr>
              </a:lvl1pPr>
            </a:lstStyle>
            <a:p>
              <a:pPr/>
              <a:r>
                <a:t>7</a:t>
              </a:r>
            </a:p>
          </p:txBody>
        </p:sp>
      </p:grpSp>
      <p:sp>
        <p:nvSpPr>
          <p:cNvPr id="380" name="TextBox 2"/>
          <p:cNvSpPr txBox="1"/>
          <p:nvPr/>
        </p:nvSpPr>
        <p:spPr>
          <a:xfrm>
            <a:off x="2331719" y="2286000"/>
            <a:ext cx="8595362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200">
                <a:solidFill>
                  <a:srgbClr val="FFFFFF"/>
                </a:solidFill>
              </a:defRPr>
            </a:lvl1pPr>
          </a:lstStyle>
          <a:p>
            <a:pPr/>
            <a:r>
              <a:t>Capstone Design Sprint</a:t>
            </a:r>
          </a:p>
        </p:txBody>
      </p:sp>
      <p:sp>
        <p:nvSpPr>
          <p:cNvPr id="381" name="TextBox 3"/>
          <p:cNvSpPr txBox="1"/>
          <p:nvPr/>
        </p:nvSpPr>
        <p:spPr>
          <a:xfrm>
            <a:off x="2331719" y="3200400"/>
            <a:ext cx="85953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4A55A"/>
                </a:solidFill>
              </a:defRPr>
            </a:lvl1pPr>
          </a:lstStyle>
          <a:p>
            <a:pPr/>
            <a:r>
              <a:t>Turn one of your ideas into a plan you can take back to your program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Capstone Design Sprint — 20 min</a:t>
            </a:r>
          </a:p>
        </p:txBody>
      </p:sp>
      <p:sp>
        <p:nvSpPr>
          <p:cNvPr id="385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Extend your earlier discussions into a complete plan</a:t>
            </a:r>
          </a:p>
        </p:txBody>
      </p:sp>
      <p:sp>
        <p:nvSpPr>
          <p:cNvPr id="386" name="Rectangle 4"/>
          <p:cNvSpPr/>
          <p:nvPr/>
        </p:nvSpPr>
        <p:spPr>
          <a:xfrm>
            <a:off x="640080" y="1371600"/>
            <a:ext cx="10972801" cy="1371600"/>
          </a:xfrm>
          <a:prstGeom prst="rect">
            <a:avLst/>
          </a:prstGeom>
          <a:solidFill>
            <a:srgbClr val="FDF6F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7" name="Rectangle 5"/>
          <p:cNvSpPr/>
          <p:nvPr/>
        </p:nvSpPr>
        <p:spPr>
          <a:xfrm>
            <a:off x="640080" y="1371600"/>
            <a:ext cx="50801" cy="13716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8" name="TextBox 6"/>
          <p:cNvSpPr txBox="1"/>
          <p:nvPr/>
        </p:nvSpPr>
        <p:spPr>
          <a:xfrm>
            <a:off x="914399" y="1444752"/>
            <a:ext cx="105156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E8833A"/>
                </a:solidFill>
              </a:defRPr>
            </a:lvl1pPr>
          </a:lstStyle>
          <a:p>
            <a:pPr/>
            <a:r>
              <a:t>WHAT THIS IS</a:t>
            </a:r>
          </a:p>
        </p:txBody>
      </p:sp>
      <p:sp>
        <p:nvSpPr>
          <p:cNvPr id="389" name="TextBox 7"/>
          <p:cNvSpPr txBox="1"/>
          <p:nvPr/>
        </p:nvSpPr>
        <p:spPr>
          <a:xfrm>
            <a:off x="914399" y="1737360"/>
            <a:ext cx="10515602" cy="5065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1A2332"/>
                </a:solidFill>
              </a:defRPr>
            </a:lvl1pPr>
          </a:lstStyle>
          <a:p>
            <a:pPr/>
            <a:r>
              <a:t>You've been discussing tools and ideas after each section — now extend that into a full implementation plan. Pick the idea that feels most feasible.</a:t>
            </a:r>
          </a:p>
        </p:txBody>
      </p:sp>
      <p:sp>
        <p:nvSpPr>
          <p:cNvPr id="390" name="Rectangle 8"/>
          <p:cNvSpPr/>
          <p:nvPr/>
        </p:nvSpPr>
        <p:spPr>
          <a:xfrm>
            <a:off x="640079" y="3017520"/>
            <a:ext cx="2103122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Rectangle 9"/>
          <p:cNvSpPr/>
          <p:nvPr/>
        </p:nvSpPr>
        <p:spPr>
          <a:xfrm>
            <a:off x="640079" y="3017520"/>
            <a:ext cx="2103122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394" name="Oval 10"/>
          <p:cNvGrpSpPr/>
          <p:nvPr/>
        </p:nvGrpSpPr>
        <p:grpSpPr>
          <a:xfrm>
            <a:off x="1325880" y="3200399"/>
            <a:ext cx="640081" cy="640082"/>
            <a:chOff x="0" y="0"/>
            <a:chExt cx="640080" cy="640080"/>
          </a:xfrm>
        </p:grpSpPr>
        <p:sp>
          <p:nvSpPr>
            <p:cNvPr id="392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3" name="1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395" name="TextBox 11"/>
          <p:cNvSpPr txBox="1"/>
          <p:nvPr/>
        </p:nvSpPr>
        <p:spPr>
          <a:xfrm>
            <a:off x="777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Identify</a:t>
            </a:r>
            <a:br/>
            <a:r>
              <a:t>a Need</a:t>
            </a:r>
          </a:p>
        </p:txBody>
      </p:sp>
      <p:sp>
        <p:nvSpPr>
          <p:cNvPr id="396" name="Rectangle 12"/>
          <p:cNvSpPr/>
          <p:nvPr/>
        </p:nvSpPr>
        <p:spPr>
          <a:xfrm>
            <a:off x="2926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3"/>
          <p:cNvSpPr/>
          <p:nvPr/>
        </p:nvSpPr>
        <p:spPr>
          <a:xfrm>
            <a:off x="2926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0" name="Oval 14"/>
          <p:cNvGrpSpPr/>
          <p:nvPr/>
        </p:nvGrpSpPr>
        <p:grpSpPr>
          <a:xfrm>
            <a:off x="3611879" y="3200399"/>
            <a:ext cx="640081" cy="640082"/>
            <a:chOff x="0" y="0"/>
            <a:chExt cx="640080" cy="640080"/>
          </a:xfrm>
        </p:grpSpPr>
        <p:sp>
          <p:nvSpPr>
            <p:cNvPr id="398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99" name="2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01" name="TextBox 15"/>
          <p:cNvSpPr txBox="1"/>
          <p:nvPr/>
        </p:nvSpPr>
        <p:spPr>
          <a:xfrm>
            <a:off x="3063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Define</a:t>
            </a:r>
            <a:br/>
            <a:r>
              <a:t>Learning Goals</a:t>
            </a:r>
          </a:p>
        </p:txBody>
      </p:sp>
      <p:sp>
        <p:nvSpPr>
          <p:cNvPr id="402" name="Rectangle 16"/>
          <p:cNvSpPr/>
          <p:nvPr/>
        </p:nvSpPr>
        <p:spPr>
          <a:xfrm>
            <a:off x="5212079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3" name="Rectangle 17"/>
          <p:cNvSpPr/>
          <p:nvPr/>
        </p:nvSpPr>
        <p:spPr>
          <a:xfrm>
            <a:off x="5212079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06" name="Oval 18"/>
          <p:cNvGrpSpPr/>
          <p:nvPr/>
        </p:nvGrpSpPr>
        <p:grpSpPr>
          <a:xfrm>
            <a:off x="5897879" y="3200399"/>
            <a:ext cx="640081" cy="640082"/>
            <a:chOff x="0" y="0"/>
            <a:chExt cx="640080" cy="640080"/>
          </a:xfrm>
        </p:grpSpPr>
        <p:sp>
          <p:nvSpPr>
            <p:cNvPr id="404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05" name="3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07" name="TextBox 19"/>
          <p:cNvSpPr txBox="1"/>
          <p:nvPr/>
        </p:nvSpPr>
        <p:spPr>
          <a:xfrm>
            <a:off x="5349240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Select</a:t>
            </a:r>
            <a:br/>
            <a:r>
              <a:t>a Tool</a:t>
            </a:r>
          </a:p>
        </p:txBody>
      </p:sp>
      <p:sp>
        <p:nvSpPr>
          <p:cNvPr id="408" name="Rectangle 20"/>
          <p:cNvSpPr/>
          <p:nvPr/>
        </p:nvSpPr>
        <p:spPr>
          <a:xfrm>
            <a:off x="7498078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9" name="Rectangle 21"/>
          <p:cNvSpPr/>
          <p:nvPr/>
        </p:nvSpPr>
        <p:spPr>
          <a:xfrm>
            <a:off x="7498078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2" name="Oval 22"/>
          <p:cNvGrpSpPr/>
          <p:nvPr/>
        </p:nvGrpSpPr>
        <p:grpSpPr>
          <a:xfrm>
            <a:off x="8183878" y="3200399"/>
            <a:ext cx="640081" cy="640082"/>
            <a:chOff x="0" y="0"/>
            <a:chExt cx="640080" cy="640080"/>
          </a:xfrm>
        </p:grpSpPr>
        <p:sp>
          <p:nvSpPr>
            <p:cNvPr id="410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1" name="4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4</a:t>
              </a:r>
            </a:p>
          </p:txBody>
        </p:sp>
      </p:grpSp>
      <p:sp>
        <p:nvSpPr>
          <p:cNvPr id="413" name="TextBox 23"/>
          <p:cNvSpPr txBox="1"/>
          <p:nvPr/>
        </p:nvSpPr>
        <p:spPr>
          <a:xfrm>
            <a:off x="7635238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Map Pedagogy</a:t>
            </a:r>
            <a:br/>
            <a:r>
              <a:t>to Technology</a:t>
            </a:r>
          </a:p>
        </p:txBody>
      </p:sp>
      <p:sp>
        <p:nvSpPr>
          <p:cNvPr id="414" name="Rectangle 24"/>
          <p:cNvSpPr/>
          <p:nvPr/>
        </p:nvSpPr>
        <p:spPr>
          <a:xfrm>
            <a:off x="9784080" y="3017520"/>
            <a:ext cx="2103121" cy="1828801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5" name="Rectangle 25"/>
          <p:cNvSpPr/>
          <p:nvPr/>
        </p:nvSpPr>
        <p:spPr>
          <a:xfrm>
            <a:off x="9784080" y="3017520"/>
            <a:ext cx="2103121" cy="50801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grpSp>
        <p:nvGrpSpPr>
          <p:cNvPr id="418" name="Oval 26"/>
          <p:cNvGrpSpPr/>
          <p:nvPr/>
        </p:nvGrpSpPr>
        <p:grpSpPr>
          <a:xfrm>
            <a:off x="10469880" y="3200399"/>
            <a:ext cx="640081" cy="640082"/>
            <a:chOff x="0" y="0"/>
            <a:chExt cx="640080" cy="640080"/>
          </a:xfrm>
        </p:grpSpPr>
        <p:sp>
          <p:nvSpPr>
            <p:cNvPr id="416" name="Circle"/>
            <p:cNvSpPr/>
            <p:nvPr/>
          </p:nvSpPr>
          <p:spPr>
            <a:xfrm>
              <a:off x="-1" y="-1"/>
              <a:ext cx="640082" cy="640082"/>
            </a:xfrm>
            <a:prstGeom prst="ellipse">
              <a:avLst/>
            </a:prstGeom>
            <a:solidFill>
              <a:srgbClr val="E8833A"/>
            </a:solidFill>
            <a:ln w="12700" cap="flat">
              <a:noFill/>
              <a:miter lim="400000"/>
            </a:ln>
            <a:effectLst>
              <a:outerShdw sx="100000" sy="100000" kx="0" ky="0" algn="b" rotWithShape="0" blurRad="38100" dist="23000" dir="540000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17" name="5"/>
            <p:cNvSpPr txBox="1"/>
            <p:nvPr/>
          </p:nvSpPr>
          <p:spPr>
            <a:xfrm>
              <a:off x="139457" y="153496"/>
              <a:ext cx="361166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b="1">
                  <a:solidFill>
                    <a:srgbClr val="FFFFFF"/>
                  </a:solidFill>
                </a:defRPr>
              </a:lvl1pPr>
            </a:lstStyle>
            <a:p>
              <a:pPr/>
              <a:r>
                <a:t>5</a:t>
              </a:r>
            </a:p>
          </p:txBody>
        </p:sp>
      </p:grpSp>
      <p:sp>
        <p:nvSpPr>
          <p:cNvPr id="419" name="TextBox 27"/>
          <p:cNvSpPr txBox="1"/>
          <p:nvPr/>
        </p:nvSpPr>
        <p:spPr>
          <a:xfrm>
            <a:off x="9921239" y="4023359"/>
            <a:ext cx="1828801" cy="50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400">
                <a:solidFill>
                  <a:srgbClr val="1E4258"/>
                </a:solidFill>
              </a:defRPr>
            </a:pPr>
            <a:r>
              <a:t>Sketch</a:t>
            </a:r>
            <a:br/>
            <a:r>
              <a:t>Implementation</a:t>
            </a:r>
          </a:p>
        </p:txBody>
      </p:sp>
      <p:sp>
        <p:nvSpPr>
          <p:cNvPr id="420" name="TextBox 28"/>
          <p:cNvSpPr txBox="1"/>
          <p:nvPr/>
        </p:nvSpPr>
        <p:spPr>
          <a:xfrm>
            <a:off x="685800" y="530352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7 (Worksheet)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3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Share-Out — 5 min</a:t>
            </a:r>
          </a:p>
        </p:txBody>
      </p:sp>
      <p:sp>
        <p:nvSpPr>
          <p:cNvPr id="424" name="Rectangle 3"/>
          <p:cNvSpPr/>
          <p:nvPr/>
        </p:nvSpPr>
        <p:spPr>
          <a:xfrm>
            <a:off x="640080" y="1371600"/>
            <a:ext cx="10972801" cy="3200400"/>
          </a:xfrm>
          <a:prstGeom prst="rect">
            <a:avLst/>
          </a:prstGeom>
          <a:solidFill>
            <a:srgbClr val="F0F4F8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5" name="TextBox 4"/>
          <p:cNvSpPr txBox="1"/>
          <p:nvPr/>
        </p:nvSpPr>
        <p:spPr>
          <a:xfrm>
            <a:off x="1143000" y="1828800"/>
            <a:ext cx="9966961" cy="17569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2-3 groups share their plan (60 seconds each)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your educational need?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 tool did you pick, and why?</a:t>
            </a:r>
          </a:p>
          <a:p>
            <a:pPr>
              <a:spcBef>
                <a:spcPts val="800"/>
              </a:spcBef>
              <a:defRPr sz="2200">
                <a:solidFill>
                  <a:srgbClr val="1E4258"/>
                </a:solidFill>
              </a:defRPr>
            </a:pPr>
            <a:r>
              <a:t>• What's one barrier and how will you handle it?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-1" y="0"/>
            <a:ext cx="12191697" cy="1005839"/>
          </a:xfrm>
          <a:prstGeom prst="rect">
            <a:avLst/>
          </a:prstGeom>
          <a:solidFill>
            <a:srgbClr val="2D5F7C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8" name="TextBox 2"/>
          <p:cNvSpPr txBox="1"/>
          <p:nvPr/>
        </p:nvSpPr>
        <p:spPr>
          <a:xfrm>
            <a:off x="502919" y="182879"/>
            <a:ext cx="1115568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Wrap-Up</a:t>
            </a:r>
          </a:p>
        </p:txBody>
      </p:sp>
      <p:sp>
        <p:nvSpPr>
          <p:cNvPr id="429" name="TextBox 3"/>
          <p:cNvSpPr txBox="1"/>
          <p:nvPr/>
        </p:nvSpPr>
        <p:spPr>
          <a:xfrm>
            <a:off x="502919" y="1097280"/>
            <a:ext cx="111556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A6B7E"/>
                </a:solidFill>
              </a:defRPr>
            </a:lvl1pPr>
          </a:lstStyle>
          <a:p>
            <a:pPr/>
            <a:r>
              <a:t>Start with one tool, one need, one small experiment</a:t>
            </a:r>
          </a:p>
        </p:txBody>
      </p:sp>
      <p:sp>
        <p:nvSpPr>
          <p:cNvPr id="430" name="TextBox 4"/>
          <p:cNvSpPr txBox="1"/>
          <p:nvPr/>
        </p:nvSpPr>
        <p:spPr>
          <a:xfrm>
            <a:off x="685800" y="1371600"/>
            <a:ext cx="10881361" cy="19657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Everything from today is in the Workshop Guide — bookmark it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The Zero Dollar Starter Kit: 9 free tools you can use Monday morning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All resource links, prompt templates, and the worksheet stay available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don't need a grant, an IT ticket, or a technology expert</a:t>
            </a:r>
          </a:p>
          <a:p>
            <a:pPr>
              <a:spcBef>
                <a:spcPts val="800"/>
              </a:spcBef>
              <a:defRPr sz="2000">
                <a:solidFill>
                  <a:srgbClr val="1A2332"/>
                </a:solidFill>
              </a:defRPr>
            </a:pPr>
            <a:r>
              <a:t>• You need to know what your learners need — and you already know that</a:t>
            </a:r>
          </a:p>
        </p:txBody>
      </p:sp>
      <p:sp>
        <p:nvSpPr>
          <p:cNvPr id="431" name="TextBox 5"/>
          <p:cNvSpPr txBox="1"/>
          <p:nvPr/>
        </p:nvSpPr>
        <p:spPr>
          <a:xfrm>
            <a:off x="685800" y="5486400"/>
            <a:ext cx="1088136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solidFill>
                  <a:srgbClr val="2D5F7C"/>
                </a:solidFill>
                <a:uFillTx/>
              </a:defRPr>
            </a:pP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Workshop Guide → Section 8 (All Resources)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42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Rectangle 1"/>
          <p:cNvSpPr/>
          <p:nvPr/>
        </p:nvSpPr>
        <p:spPr>
          <a:xfrm>
            <a:off x="-1" y="5943600"/>
            <a:ext cx="12191697" cy="914400"/>
          </a:xfrm>
          <a:prstGeom prst="rect">
            <a:avLst/>
          </a:prstGeom>
          <a:solidFill>
            <a:srgbClr val="E8833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34" name="TextBox 2"/>
          <p:cNvSpPr txBox="1"/>
          <p:nvPr/>
        </p:nvSpPr>
        <p:spPr>
          <a:xfrm>
            <a:off x="960119" y="1828800"/>
            <a:ext cx="10241282" cy="601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4000">
                <a:solidFill>
                  <a:srgbClr val="FFFFFF"/>
                </a:solidFill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435" name="TextBox 3"/>
          <p:cNvSpPr txBox="1"/>
          <p:nvPr/>
        </p:nvSpPr>
        <p:spPr>
          <a:xfrm>
            <a:off x="960119" y="2926079"/>
            <a:ext cx="10241282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2000">
                <a:solidFill>
                  <a:srgbClr val="F4A55A"/>
                </a:solidFill>
              </a:defRPr>
            </a:lvl1pPr>
          </a:lstStyle>
          <a:p>
            <a:pPr/>
            <a:r>
              <a:t>Diana Brewer, PA-C</a:t>
            </a:r>
          </a:p>
        </p:txBody>
      </p:sp>
      <p:sp>
        <p:nvSpPr>
          <p:cNvPr id="436" name="TextBox 4"/>
          <p:cNvSpPr txBox="1"/>
          <p:nvPr/>
        </p:nvSpPr>
        <p:spPr>
          <a:xfrm>
            <a:off x="960119" y="3474720"/>
            <a:ext cx="1024128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>
                <a:solidFill>
                  <a:srgbClr val="FFFFFF"/>
                </a:solidFill>
              </a:defRPr>
            </a:lvl1pPr>
          </a:lstStyle>
          <a:p>
            <a:pPr/>
            <a:r>
              <a:t>Knight Cancer Institute Hem/Onc APP Fellowship Director, OHSU  ·  Co-Founder &amp; CMO, Sapient Clinician</a:t>
            </a:r>
          </a:p>
        </p:txBody>
      </p:sp>
      <p:sp>
        <p:nvSpPr>
          <p:cNvPr id="437" name="TextBox 5"/>
          <p:cNvSpPr txBox="1"/>
          <p:nvPr/>
        </p:nvSpPr>
        <p:spPr>
          <a:xfrm>
            <a:off x="2788920" y="4114800"/>
            <a:ext cx="6583679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600" u="sng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defRPr>
            </a:lvl1pPr>
          </a:lstStyle>
          <a:p>
            <a:pPr>
              <a:defRPr u="none">
                <a:uFillTx/>
              </a:defRPr>
            </a:pPr>
            <a:r>
              <a:rPr u="sng">
                <a:uFill>
                  <a:solidFill>
                    <a:srgbClr val="0000FF"/>
                  </a:solidFill>
                </a:uFill>
                <a:hlinkClick r:id="rId2" invalidUrl="" action="" tgtFrame="" tooltip="" history="1" highlightClick="0" endSnd="0"/>
              </a:rPr>
              <a:t>brewerd@ohsu.edu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