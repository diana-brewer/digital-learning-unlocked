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500" r:id="rId8"/>
    <p:sldId id="501" r:id="rId9"/>
    <p:sldId id="502" r:id="rId10"/>
    <p:sldId id="503" r:id="rId205"/>
    <p:sldId id="504" r:id="rId201"/>
    <p:sldId id="505" r:id="rId202"/>
    <p:sldId id="506" r:id="rId203"/>
    <p:sldId id="507" r:id="rId204"/>
    <p:sldId id="508" r:id="rId26"/>
    <p:sldId id="509" r:id="rId31"/>
    <p:sldId id="510" r:id="rId206"/>
    <p:sldId id="511" r:id="rId34"/>
    <p:sldId id="512" r:id="rId35"/>
    <p:sldId id="513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26" Type="http://schemas.openxmlformats.org/officeDocument/2006/relationships/slide" Target="slides/slide9.xml"/><Relationship Id="rId31" Type="http://schemas.openxmlformats.org/officeDocument/2006/relationships/slide" Target="slides/slide10.xml"/><Relationship Id="rId34" Type="http://schemas.openxmlformats.org/officeDocument/2006/relationships/slide" Target="slides/slide12.xml"/><Relationship Id="rId35" Type="http://schemas.openxmlformats.org/officeDocument/2006/relationships/slide" Target="slides/slide13.xml"/><Relationship Id="rId36" Type="http://schemas.openxmlformats.org/officeDocument/2006/relationships/slide" Target="slides/slide14.xml"/><Relationship Id="rId201" Type="http://schemas.openxmlformats.org/officeDocument/2006/relationships/slide" Target="slides/slide5.xml"/><Relationship Id="rId202" Type="http://schemas.openxmlformats.org/officeDocument/2006/relationships/slide" Target="slides/slide6.xml"/><Relationship Id="rId203" Type="http://schemas.openxmlformats.org/officeDocument/2006/relationships/slide" Target="slides/slide7.xml"/><Relationship Id="rId204" Type="http://schemas.openxmlformats.org/officeDocument/2006/relationships/slide" Target="slides/slide8.xml"/><Relationship Id="rId205" Type="http://schemas.openxmlformats.org/officeDocument/2006/relationships/slide" Target="slides/slide4.xml"/><Relationship Id="rId206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You don't need to be a technology expert, just a clinician who knows what your learners need.</a:t>
            </a:r>
          </a:p>
          <a:p>
            <a:r>
              <a:t>Today we practice building small things, then spend real time building more things.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 sz="1600">
                <a:solidFill>
                  <a:srgbClr val="1A2332"/>
                </a:solidFill>
              </a:rPr>
              <a:t>• COI: Diana Brewer is a co-founder of Sapient Clinician</a:t>
            </a:r>
          </a:p>
          <a:p>
            <a:r>
              <a:rPr sz="1600">
                <a:solidFill>
                  <a:srgbClr val="1A2332"/>
                </a:solidFill>
              </a:rPr>
              <a:t>• This session is vendor-neutral</a:t>
            </a:r>
          </a:p>
          <a:p>
            <a:r>
              <a:rPr sz="1600">
                <a:solidFill>
                  <a:srgbClr val="1A2332"/>
                </a:solidFill>
              </a:rPr>
              <a:t>• 60 min: three short demos you play along with, then a long build block</a:t>
            </a:r>
          </a:p>
          <a:p>
            <a:r>
              <a:rPr sz="1600">
                <a:solidFill>
                  <a:srgbClr val="1A2332"/>
                </a:solidFill>
              </a:rPr>
              <a:t>• Keep the Workshop Guide open on your phone</a:t>
            </a:r>
          </a:p>
          <a:p>
            <a:r>
              <a:rPr sz="1600">
                <a:solidFill>
                  <a:srgbClr val="1A2332"/>
                </a:solidFill>
              </a:rPr>
              <a:t>• Everything stays available after the conference, including every prompt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Scan for the Workshop Guide page</a:t>
            </a:r>
          </a:p>
        </p:txBody>
      </p:sp>
      <p:pic>
        <p:nvPicPr>
          <p:cNvPr id="109" name="Picture 108" descr="workshop-guide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560320"/>
            <a:ext cx="3200400" cy="3200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Great Cases Already Exist, 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Where the material for everything we build today comes from · Guide → Section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SOURCE: MedEdPORTAL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The AAMC's peer-reviewed, free teaching-case library</a:t>
            </a:r>
          </a:p>
          <a:p>
            <a:r>
              <a:rPr sz="1800" b="0">
                <a:solidFill>
                  <a:srgbClr val="1A2332"/>
                </a:solidFill>
              </a:rPr>
              <a:t>Today's running example: a peritonsillar abscess case, six published files</a:t>
            </a:r>
          </a:p>
          <a:p>
            <a:r>
              <a:rPr sz="1800" b="0">
                <a:solidFill>
                  <a:srgbClr val="1A2332"/>
                </a:solidFill>
              </a:rPr>
              <a:t>Narrative, labs, EKG, CT, X-ray, and the faculty rubric: download in Section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WHY START 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Peer-reviewed, citable, expert-vetted: this is ground truth</a:t>
            </a:r>
          </a:p>
          <a:p>
            <a:r>
              <a:rPr sz="1800">
                <a:solidFill>
                  <a:srgbClr val="1A2332"/>
                </a:solidFill>
              </a:rPr>
              <a:t>You never start from a blank page</a:t>
            </a:r>
          </a:p>
          <a:p>
            <a:r>
              <a:rPr sz="1800">
                <a:solidFill>
                  <a:srgbClr val="1A2332"/>
                </a:solidFill>
              </a:rPr>
              <a:t>The same six files power every build today</a:t>
            </a:r>
          </a:p>
          <a:p>
            <a:r>
              <a:rPr sz="1800">
                <a:solidFill>
                  <a:srgbClr val="1A2332"/>
                </a:solidFill>
              </a:rPr>
              <a:t>De-identify your own material the same 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Guide → Section 2, Running Example (download the files)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1: AI Builds the Static Case (5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Published files in, one shareable HTML file out · Guide → Section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Upload the six case files, then paste Prompt 1 from Section 2</a:t>
            </a:r>
          </a:p>
          <a:p>
            <a:r>
              <a:rPr sz="1800" b="0">
                <a:solidFill>
                  <a:srgbClr val="1A2332"/>
                </a:solidFill>
              </a:rPr>
              <a:t>Out comes index.html: a complete branching scenario</a:t>
            </a:r>
          </a:p>
          <a:p>
            <a:r>
              <a:rPr sz="1800" b="0">
                <a:solidFill>
                  <a:srgbClr val="1A2332"/>
                </a:solidFill>
              </a:rPr>
              <a:t>No H5P, no code, no install: share one file by link, LMS, or email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PLAY IT AS THE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Click through the finished case as a student</a:t>
            </a:r>
          </a:p>
          <a:p>
            <a:r>
              <a:rPr sz="1800">
                <a:solidFill>
                  <a:srgbClr val="1A2332"/>
                </a:solidFill>
              </a:rPr>
              <a:t>Type your reasoning at every decision</a:t>
            </a:r>
          </a:p>
          <a:p>
            <a:r>
              <a:rPr sz="1800">
                <a:solidFill>
                  <a:srgbClr val="1A2332"/>
                </a:solidFill>
              </a:rPr>
              <a:t>On the debrief screen, download your results file</a:t>
            </a:r>
          </a:p>
          <a:p>
            <a:r>
              <a:rPr sz="1800">
                <a:solidFill>
                  <a:srgbClr val="1A2332"/>
                </a:solidFill>
              </a:rPr>
              <a:t>That download is exactly what your instructor receives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Static: built once, every learner gets the same published case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2: The Same Case, Live and Grounded (5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You build this one: one paste, nothing to upload · Guide → Section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New chat, paste Prompt 2 from Section 3: the case file rides inside</a:t>
            </a:r>
          </a:p>
          <a:p>
            <a:r>
              <a:rPr sz="1800" b="0">
                <a:solidFill>
                  <a:srgbClr val="1A2332"/>
                </a:solidFill>
              </a:rPr>
              <a:t>The chatbot becomes the patient: first person, grounded</a:t>
            </a:r>
          </a:p>
          <a:p>
            <a:r>
              <a:rPr sz="1800" b="0">
                <a:solidFill>
                  <a:srgbClr val="1A2332"/>
                </a:solidFill>
              </a:rPr>
              <a:t>Ask for labs and you get the published values, never inventions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PLAY, THEN SHARE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Run the encounter, then type encounter over</a:t>
            </a:r>
          </a:p>
          <a:p>
            <a:r>
              <a:rPr sz="1800">
                <a:solidFill>
                  <a:srgbClr val="1A2332"/>
                </a:solidFill>
              </a:rPr>
              <a:t>Full debrief: five domains, rated, with evidence</a:t>
            </a:r>
          </a:p>
          <a:p>
            <a:r>
              <a:rPr sz="1800">
                <a:solidFill>
                  <a:srgbClr val="1A2332"/>
                </a:solidFill>
              </a:rPr>
              <a:t>Run it once yourself, then share the chat link with students</a:t>
            </a:r>
          </a:p>
          <a:p>
            <a:r>
              <a:rPr sz="1800">
                <a:solidFill>
                  <a:srgbClr val="1A2332"/>
                </a:solidFill>
              </a:rPr>
              <a:t>Diana's shared conversation is open in Section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Dynamic: regenerated each time, and grounded in the source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Table Talk: Static or Dynamic? (2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Two versions of the same case, two different jobs · Guide → Section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When would you reach for the static version?</a:t>
            </a:r>
          </a:p>
          <a:p>
            <a:r>
              <a:rPr sz="1800" b="0">
                <a:solidFill>
                  <a:srgbClr val="1A2332"/>
                </a:solidFill>
              </a:rPr>
              <a:t>And when does the dynamic version win?</a:t>
            </a:r>
          </a:p>
          <a:p>
            <a:r>
              <a:rPr sz="1800" b="0">
                <a:solidFill>
                  <a:srgbClr val="1A2332"/>
                </a:solidFill>
              </a:rPr>
              <a:t>Standardization, grading, replay, feedback: which one fits?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WHAT EACH DOES BEST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Static: the same path for every learner, easy to standardize</a:t>
            </a:r>
          </a:p>
          <a:p>
            <a:r>
              <a:rPr sz="1800">
                <a:solidFill>
                  <a:srgbClr val="1A2332"/>
                </a:solidFill>
              </a:rPr>
              <a:t>Dynamic: practice the encounter itself, feedback on the reasoning</a:t>
            </a:r>
          </a:p>
          <a:p>
            <a:r>
              <a:rPr sz="1800">
                <a:solidFill>
                  <a:srgbClr val="1A2332"/>
                </a:solidFill>
              </a:rPr>
              <a:t>Same case, same files, different teaching moments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Guide → Section 3, the table conversation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3: The Neat Things NotebookLM Does (7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From grounding by hand to grounding as the product · Guide → Section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WHY IT'S DIFFERENT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All session: the prompt plus the published files, grounding by hand</a:t>
            </a:r>
          </a:p>
          <a:p>
            <a:r>
              <a:rPr sz="1800" b="0">
                <a:solidFill>
                  <a:srgbClr val="1A2332"/>
                </a:solidFill>
              </a:rPr>
              <a:t>NotebookLM: upload sources once, grounding is the whole product</a:t>
            </a:r>
          </a:p>
          <a:p>
            <a:r>
              <a:rPr sz="1800" b="0">
                <a:solidFill>
                  <a:srgbClr val="1A2332"/>
                </a:solidFill>
              </a:rPr>
              <a:t>Every answer cites the source and section: checkable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THE AML NOTEBOOK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Six published sources on a new leukemia drug, already uploaded</a:t>
            </a:r>
          </a:p>
          <a:p>
            <a:r>
              <a:rPr sz="1800">
                <a:solidFill>
                  <a:srgbClr val="1A2332"/>
                </a:solidFill>
              </a:rPr>
              <a:t>The audio overview is in your guide: press play</a:t>
            </a:r>
          </a:p>
          <a:p>
            <a:r>
              <a:rPr sz="1800">
                <a:solidFill>
                  <a:srgbClr val="1A2332"/>
                </a:solidFill>
              </a:rPr>
              <a:t>Five minutes: poke and prod, ask anything, try one creator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The build block is where you make your own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Fidelity Spectrum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Match the tool to the goal, not the other way around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SPECTRUM, LEFT TO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Text and audio, $0 to $20/mo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Image-based,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Screen-based, free trials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AR on your phone,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Immersive VR, $100 to $600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WHERE REASONING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Text and audio, images included: ECG, X-ray, CT, labs.</a:t>
            </a:r>
          </a:p>
          <a:p>
            <a:r>
              <a:rPr sz="1800">
                <a:solidFill>
                  <a:srgbClr val="1A2332"/>
                </a:solidFill>
              </a:rPr>
              <a:t>The uncanny valley of avatar tools is real.</a:t>
            </a:r>
          </a:p>
          <a:p>
            <a:r>
              <a:rPr sz="1800">
                <a:solidFill>
                  <a:srgbClr val="1A2332"/>
                </a:solidFill>
              </a:rPr>
              <a:t>Some text-and-audio tools already do this well.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Sections 5 + 6 (VR: your take-home)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Match the Tool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a clinical skill your fellows need to learn.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point on the spectrum fits, and would the free option do the job?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Build Block: Make One Real Thing (24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Your pick, your sources, our prompts · Guide → Section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PICK YOUR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Your own static case: Prompt 1, any published case</a:t>
            </a:r>
          </a:p>
          <a:p>
            <a:r>
              <a:rPr sz="1800" b="0">
                <a:solidFill>
                  <a:srgbClr val="1A2332"/>
                </a:solidFill>
              </a:rPr>
              <a:t>Your own dynamic case: Prompt 2, same files</a:t>
            </a:r>
          </a:p>
          <a:p>
            <a:r>
              <a:rPr sz="1800" b="0">
                <a:solidFill>
                  <a:srgbClr val="1A2332"/>
                </a:solidFill>
              </a:rPr>
              <a:t>Something from a notebook: the AML sources, or any topic</a:t>
            </a:r>
          </a:p>
          <a:p>
            <a:r>
              <a:rPr sz="1800" b="0">
                <a:solidFill>
                  <a:srgbClr val="1A2332"/>
                </a:solidFill>
              </a:rPr>
              <a:t>Teaching session, journal club, pre-brief: Prompts 3-8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HOW IT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The Prompt Builder worksheet assembles your prompt as you fill it in</a:t>
            </a:r>
          </a:p>
          <a:p>
            <a:r>
              <a:rPr sz="1800">
                <a:solidFill>
                  <a:srgbClr val="1A2332"/>
                </a:solidFill>
              </a:rPr>
              <a:t>Build with your table or solo, Diana circulates</a:t>
            </a:r>
          </a:p>
          <a:p>
            <a:r>
              <a:rPr sz="1800">
                <a:solidFill>
                  <a:srgbClr val="1A2332"/>
                </a:solidFill>
              </a:rPr>
              <a:t>At 0:52 we share a few cool things people made</a:t>
            </a:r>
          </a:p>
          <a:p>
            <a:r>
              <a:rPr sz="1800">
                <a:solidFill>
                  <a:srgbClr val="1A2332"/>
                </a:solidFill>
              </a:rPr>
              <a:t>Everything you build today goes home with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Guide → Section 7, the Prompt Builder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Share-Out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A few cool things people made: show us what you built.</a:t>
            </a:r>
          </a:p>
          <a:p>
            <a:r>
              <a:rPr sz="2200" b="0">
                <a:solidFill>
                  <a:srgbClr val="1E4258"/>
                </a:solidFill>
              </a:rPr>
              <a:t>What it is, how you would use it, and what you would still need to make it real Monday.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Start with one tool, one need, one small experiment.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Everything from today is in the Workshop Guide: bookmark it now.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The Zero Dollar starter kit is in Section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  <p:pic>
        <p:nvPicPr>
          <p:cNvPr id="438" name="Picture 437" descr="workshop-guide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331720"/>
            <a:ext cx="1828800" cy="1828800"/>
          </a:xfrm>
          <a:prstGeom prst="rect">
            <a:avLst/>
          </a:prstGeom>
        </p:spPr>
      </p:pic>
      <p:sp>
        <p:nvSpPr>
          <p:cNvPr id="439" name="TextBox 438"/>
          <p:cNvSpPr txBox="1"/>
          <p:nvPr/>
        </p:nvSpPr>
        <p:spPr>
          <a:xfrm>
            <a:off x="8503920" y="43159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1E4258"/>
                </a:solidFill>
                <a:latin typeface="Arial"/>
              </a:rPr>
              <a:t>Scan for the 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