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2" r:id="rId14"/>
    <p:sldId id="264" r:id="rId16"/>
    <p:sldId id="265" r:id="rId17"/>
    <p:sldId id="266" r:id="rId18"/>
    <p:sldId id="267" r:id="rId19"/>
    <p:sldId id="268" r:id="rId20"/>
    <p:sldId id="269" r:id="rId21"/>
    <p:sldId id="271" r:id="rId23"/>
    <p:sldId id="272" r:id="rId24"/>
    <p:sldId id="273" r:id="rId25"/>
    <p:sldId id="274" r:id="rId26"/>
    <p:sldId id="275" r:id="rId27"/>
    <p:sldId id="277" r:id="rId29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9" Type="http://schemas.openxmlformats.org/officeDocument/2006/relationships/slide" Target="slides/slide18.xml"/><Relationship Id="rId31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case-demo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60 min: ~35 min presentation + 20 min workshop + 5 min share &amp;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1: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Demo: The Realism Gap</a:t>
            </a:r>
          </a:p>
        </p:txBody>
      </p:sp>
      <p:sp>
        <p:nvSpPr>
          <p:cNvPr id="11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Try this on your phone now, two ways to build one case</a:t>
            </a:r>
          </a:p>
        </p:txBody>
      </p:sp>
      <p:sp>
        <p:nvSpPr>
          <p:cNvPr id="120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rPr/>
              <a:t>PART 1 · THE H5P CASE (PRE-AI)</a:t>
            </a:r>
          </a:p>
        </p:txBody>
      </p:sp>
      <p:sp>
        <p:nvSpPr>
          <p:cNvPr id="123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• 65-year-old with acute confusion</a:t>
            </a:r>
          </a:p>
          <a:p>
            <a:r>
              <a:rPr/>
              <a:t>• Captures reasoning, and grounded: a human vetted every branch</a:t>
            </a:r>
          </a:p>
          <a:p>
            <a:r>
              <a:rPr/>
              <a:t>• But real patients are not multiple choice</a:t>
            </a:r>
          </a:p>
        </p:txBody>
      </p:sp>
      <p:sp>
        <p:nvSpPr>
          <p:cNvPr id="124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rPr/>
              <a:t>PART 2 · THE AI CASE (LIVE)</a:t>
            </a:r>
          </a:p>
        </p:txBody>
      </p:sp>
      <p:sp>
        <p:nvSpPr>
          <p:cNvPr id="127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>
                <a:solidFill>
                  <a:srgbClr val="0000FF"/>
                </a:solidFill>
              </a:rPr>
              <a:t>▶ Paste the Case Generator into any chatbot</a:t>
            </a:r>
          </a:p>
        </p:txBody>
      </p:sp>
      <p:sp>
        <p:nvSpPr>
          <p:cNvPr id="128" name="TextBox 12"/>
          <p:cNvSpPr txBox="1"/>
          <p:nvPr/>
        </p:nvSpPr>
        <p:spPr>
          <a:xfrm>
            <a:off x="6903719" y="2743200"/>
            <a:ext cx="448056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Cost: $0  ·  Time: ~60 seconds  ·  Every run: a fresh case</a:t>
            </a:r>
          </a:p>
        </p:txBody>
      </p:sp>
      <p:sp>
        <p:nvSpPr>
          <p:cNvPr id="129" name="TextBox 13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>
                <a:solidFill>
                  <a:srgbClr val="0000FF"/>
                </a:solidFill>
              </a:rPr>
              <a:t>Workshop Guide → Section 4 (Case Generator prompt)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(2 min)</a:t>
            </a:r>
          </a:p>
        </p:txBody>
      </p:sp>
      <p:sp>
        <p:nvSpPr>
          <p:cNvPr id="14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rPr/>
              <a:t>Pick one thing you already teach</a:t>
            </a:r>
          </a:p>
          <a:p>
            <a:r>
              <a:rPr/>
              <a:t>A case, a treatment update, a procedure, a journal club</a:t>
            </a:r>
          </a:p>
          <a:p>
            <a:r>
              <a:rPr/>
              <a:t>Where is its realism gap?  Which tool would you try first?</a:t>
            </a:r>
          </a:p>
        </p:txBody>
      </p:sp>
      <p:sp>
        <p:nvSpPr>
          <p:cNvPr id="14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Pedagogical Challenge</a:t>
            </a:r>
          </a:p>
        </p:txBody>
      </p:sp>
      <p:sp>
        <p:nvSpPr>
          <p:cNvPr id="15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In the AI era, we must rethink assessment</a:t>
            </a:r>
          </a:p>
        </p:txBody>
      </p:sp>
      <p:sp>
        <p:nvSpPr>
          <p:cNvPr id="156" name="Rectangle 4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Rectangle 5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TextBox 6"/>
          <p:cNvSpPr txBox="1"/>
          <p:nvPr/>
        </p:nvSpPr>
        <p:spPr>
          <a:xfrm>
            <a:off x="960119" y="1554480"/>
            <a:ext cx="99669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THE CORE MESSAGE</a:t>
            </a:r>
          </a:p>
        </p:txBody>
      </p:sp>
      <p:sp>
        <p:nvSpPr>
          <p:cNvPr id="159" name="TextBox 7"/>
          <p:cNvSpPr txBox="1"/>
          <p:nvPr/>
        </p:nvSpPr>
        <p:spPr>
          <a:xfrm>
            <a:off x="960119" y="2011679"/>
            <a:ext cx="9966962" cy="3088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If we use AI to create multiple-choice quizzes, students will use AI to answer them.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That's not education, that's an arms race we've already lost.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Use AI to create cognitively demanding, authentic learning experiences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that AI can't do for the student: simulated encounters, reflective writing,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clinical reasoning cases, formative feedback on authentic work.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Use AI to build the scaffolding, not to replace the thinking.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Objective 2: Conversational Chatbots</a:t>
            </a:r>
          </a:p>
        </p:txBody>
      </p:sp>
      <p:sp>
        <p:nvSpPr>
          <p:cNvPr id="16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Conversational tools that generate content, and can hallucinate · Full list with pricing in the Workshop Guide → Section 3</a:t>
            </a:r>
          </a:p>
        </p:txBody>
      </p:sp>
      <p:graphicFrame>
        <p:nvGraphicFramePr>
          <p:cNvPr id="164" name="Table 4"/>
          <p:cNvGraphicFramePr/>
          <p:nvPr/>
        </p:nvGraphicFramePr>
        <p:xfrm>
          <a:off x="457200" y="1371600"/>
          <a:ext cx="11247120" cy="1920239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2286000"/>
                <a:gridCol w="7132319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Key Features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ChatGPT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Most versatile. File upload. Voice mode. Custom GPTs.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Claude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$17/mo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Best for long content, complex reasoning. 200K context.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Gemini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Google Workspace integration. Deep Research with citations.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Grok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w/ X / ~$30/mo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Real-time web search. No enterprise/EDU plan.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Copilot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M365 integration. Many institutions already include it.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66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7" name="4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169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The Elephant: Nobody Wrote This Case</a:t>
            </a:r>
          </a:p>
        </p:txBody>
      </p:sp>
      <p:sp>
        <p:nvSpPr>
          <p:cNvPr id="170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Fast, realistic, and unverifiable.</a:t>
            </a:r>
          </a:p>
          <a:p>
            <a:r>
              <a:rPr/>
              <a:t>Every run is a fresh, unreviewed case. The pitfall scales with the stakes.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Where Ground Truth Lives</a:t>
            </a:r>
          </a:p>
        </p:txBody>
      </p:sp>
      <p:sp>
        <p:nvSpPr>
          <p:cNvPr id="174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Whatever you teach, someone already published it</a:t>
            </a:r>
          </a:p>
        </p:txBody>
      </p:sp>
      <p:sp>
        <p:nvSpPr>
          <p:cNvPr id="175" name="Rectangle 4"/>
          <p:cNvSpPr/>
          <p:nvPr/>
        </p:nvSpPr>
        <p:spPr>
          <a:xfrm>
            <a:off x="457199" y="1371600"/>
            <a:ext cx="11247122" cy="27432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Rectangle 5"/>
          <p:cNvSpPr/>
          <p:nvPr/>
        </p:nvSpPr>
        <p:spPr>
          <a:xfrm>
            <a:off x="457200" y="1371600"/>
            <a:ext cx="50800" cy="27432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6"/>
          <p:cNvSpPr txBox="1"/>
          <p:nvPr/>
        </p:nvSpPr>
        <p:spPr>
          <a:xfrm>
            <a:off x="777239" y="1554480"/>
            <a:ext cx="104241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⭐ THE MOST IMPORTANT TOOL IN THIS SESSION</a:t>
            </a:r>
          </a:p>
        </p:txBody>
      </p:sp>
      <p:sp>
        <p:nvSpPr>
          <p:cNvPr id="178" name="TextBox 7"/>
          <p:cNvSpPr txBox="1"/>
          <p:nvPr/>
        </p:nvSpPr>
        <p:spPr>
          <a:xfrm>
            <a:off x="777239" y="1920239"/>
            <a:ext cx="104241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1E4258"/>
                </a:solidFill>
              </a:defRPr>
            </a:lvl1pPr>
          </a:lstStyle>
          <a:p>
            <a:pPr/>
            <a:r>
              <a:t>Google NotebookLM</a:t>
            </a:r>
          </a:p>
        </p:txBody>
      </p:sp>
      <p:sp>
        <p:nvSpPr>
          <p:cNvPr id="179" name="TextBox 8"/>
          <p:cNvSpPr txBox="1"/>
          <p:nvPr/>
        </p:nvSpPr>
        <p:spPr>
          <a:xfrm>
            <a:off x="777239" y="2468879"/>
            <a:ext cx="10424161" cy="10117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rPr/>
              <a:t>• Upload your source documents → responses grounded ONLY in what you uploaded</a:t>
            </a:r>
          </a:p>
          <a:p>
            <a:r>
              <a:rPr/>
              <a:t>• Labels · trials · guidelines · protocols · MedEdPORTAL · OER Commons · OpenStax</a:t>
            </a:r>
          </a:p>
          <a:p>
            <a:r>
              <a:rPr/>
              <a:t>• Running example today: a published MedEdPORTAL case, download it in the guide, Section 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Grounded AI Workflow: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Gather your source material:</a:t>
            </a:r>
            <a:br/>
            <a:r>
              <a:t>guidelines, case notes,</a:t>
            </a:r>
            <a:br/>
            <a:r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Upload to NotebookLM (free)</a:t>
            </a:r>
            <a:br/>
            <a:r>
              <a:t>or ChatGPT/Claude with</a:t>
            </a:r>
            <a:br/>
            <a:r>
              <a:t>file upload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Add this instruction:</a:t>
            </a:r>
            <a:br/>
            <a:r>
              <a:t>"Base your response only</a:t>
            </a:r>
            <a:br/>
            <a:r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Spot-check lab values,</a:t>
            </a:r>
            <a:br/>
            <a:r>
              <a:t>drug dosages, clinical</a:t>
            </a:r>
            <a:br/>
            <a:r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Save the notebook.</a:t>
            </a:r>
            <a:br/>
            <a:r>
              <a:t>It becomes your personal</a:t>
            </a:r>
            <a:br/>
            <a:r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Live Demo: NotebookLM Grounding</a:t>
            </a:r>
          </a:p>
        </p:txBody>
      </p:sp>
      <p:sp>
        <p:nvSpPr>
          <p:cNvPr id="222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Show the problem, then the solution</a:t>
            </a:r>
          </a:p>
        </p:txBody>
      </p:sp>
      <p:sp>
        <p:nvSpPr>
          <p:cNvPr id="223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DEMO SCRIPT</a:t>
            </a:r>
          </a:p>
        </p:txBody>
      </p:sp>
      <p:sp>
        <p:nvSpPr>
          <p:cNvPr id="226" name="TextBox 7"/>
          <p:cNvSpPr txBox="1"/>
          <p:nvPr/>
        </p:nvSpPr>
        <p:spPr>
          <a:xfrm>
            <a:off x="960119" y="1920239"/>
            <a:ext cx="4937762" cy="1783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1. ChatGPT WITHOUT sources → show hallucination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2. Open NotebookLM with pericarditis guidelines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3. Same question → grounded, cited response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4. Generate clinical reasoning exercise + rubric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5. Audio Overview (podcast), play 15 seconds</a:t>
            </a:r>
          </a:p>
        </p:txBody>
      </p:sp>
      <p:sp>
        <p:nvSpPr>
          <p:cNvPr id="227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OPEN NOW</a:t>
            </a:r>
          </a:p>
        </p:txBody>
      </p:sp>
      <p:sp>
        <p:nvSpPr>
          <p:cNvPr id="230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NotebookLM</a:t>
            </a:r>
          </a:p>
        </p:txBody>
      </p:sp>
      <p:sp>
        <p:nvSpPr>
          <p:cNvPr id="231" name="TextBox 12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Workshop Guide → Section 4 (prompts)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(2 min)</a:t>
            </a:r>
          </a:p>
        </p:txBody>
      </p:sp>
      <p:sp>
        <p:nvSpPr>
          <p:cNvPr id="259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rPr/>
              <a:t>On your phone, open ChatGPT, Claude, or Gemini (all free)</a:t>
            </a:r>
          </a:p>
          <a:p>
            <a:r>
              <a:rPr/>
              <a:t>Copy the Case Generator prompt from Section 4 and run it</a:t>
            </a:r>
          </a:p>
          <a:p>
            <a:r>
              <a:rPr/>
              <a:t>Then ask your table: who wrote that case?</a:t>
            </a:r>
          </a:p>
        </p:txBody>
      </p:sp>
      <p:sp>
        <p:nvSpPr>
          <p:cNvPr id="262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3: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Match the technology to the learning goal, from text to VR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A Clinician's Perspective on Simulation</a:t>
            </a:r>
          </a:p>
        </p:txBody>
      </p:sp>
      <p:sp>
        <p:nvSpPr>
          <p:cNvPr id="27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4" name="TextBox 5"/>
          <p:cNvSpPr txBox="1"/>
          <p:nvPr/>
        </p:nvSpPr>
        <p:spPr>
          <a:xfrm>
            <a:off x="960119" y="1554480"/>
            <a:ext cx="99669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FROM THE TRENCHES</a:t>
            </a:r>
          </a:p>
        </p:txBody>
      </p:sp>
      <p:sp>
        <p:nvSpPr>
          <p:cNvPr id="275" name="TextBox 6"/>
          <p:cNvSpPr txBox="1"/>
          <p:nvPr/>
        </p:nvSpPr>
        <p:spPr>
          <a:xfrm>
            <a:off x="960119" y="2011679"/>
            <a:ext cx="9966962" cy="2695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/>
              <a:t>Immersion doesn't require a headset.</a:t>
            </a:r>
          </a:p>
          <a:p>
            <a:r>
              <a:rPr/>
              <a:t>A well-designed text-and-audio case, where a learner interviews a patient, orders labs, interprets an ECG, and builds a differential, can teach clinical reasoning as effectively as a $500 VR setup.</a:t>
            </a:r>
          </a:p>
          <a:p>
            <a:r>
              <a:rPr/>
              <a:t>The uncanny valley is real: near-human avatars distract from the reasoning you are assessing.</a:t>
            </a:r>
          </a:p>
          <a:p>
            <a:r>
              <a:rPr/>
              <a:t>What matters is the thinking the learner does, not the fidelity of the interface.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Fidelity Spectrum</a:t>
            </a:r>
          </a:p>
        </p:txBody>
      </p:sp>
      <p:sp>
        <p:nvSpPr>
          <p:cNvPr id="27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The most expensive simulation is not the best simulation</a:t>
            </a:r>
          </a:p>
        </p:txBody>
      </p:sp>
      <p:sp>
        <p:nvSpPr>
          <p:cNvPr id="280" name="Rectangle 4"/>
          <p:cNvSpPr/>
          <p:nvPr/>
        </p:nvSpPr>
        <p:spPr>
          <a:xfrm>
            <a:off x="36575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1" name="Rectangle 5"/>
          <p:cNvSpPr/>
          <p:nvPr/>
        </p:nvSpPr>
        <p:spPr>
          <a:xfrm>
            <a:off x="365759" y="1371600"/>
            <a:ext cx="2194562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2" name="TextBox 6"/>
          <p:cNvSpPr txBox="1"/>
          <p:nvPr/>
        </p:nvSpPr>
        <p:spPr>
          <a:xfrm>
            <a:off x="502920" y="1554480"/>
            <a:ext cx="1920239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1</a:t>
            </a:r>
          </a:p>
        </p:txBody>
      </p:sp>
      <p:sp>
        <p:nvSpPr>
          <p:cNvPr id="283" name="TextBox 7"/>
          <p:cNvSpPr txBox="1"/>
          <p:nvPr/>
        </p:nvSpPr>
        <p:spPr>
          <a:xfrm>
            <a:off x="502920" y="1920239"/>
            <a:ext cx="1920239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Text &amp; Audio</a:t>
            </a:r>
          </a:p>
        </p:txBody>
      </p:sp>
      <p:sp>
        <p:nvSpPr>
          <p:cNvPr id="284" name="TextBox 8"/>
          <p:cNvSpPr txBox="1"/>
          <p:nvPr/>
        </p:nvSpPr>
        <p:spPr>
          <a:xfrm>
            <a:off x="502920" y="2560320"/>
            <a:ext cx="1920239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Free, $20/mo</a:t>
            </a:r>
          </a:p>
        </p:txBody>
      </p:sp>
      <p:sp>
        <p:nvSpPr>
          <p:cNvPr id="285" name="TextBox 9"/>
          <p:cNvSpPr txBox="1"/>
          <p:nvPr/>
        </p:nvSpPr>
        <p:spPr>
          <a:xfrm>
            <a:off x="502920" y="3017520"/>
            <a:ext cx="1920239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Interview, labs, differential, images</a:t>
            </a:r>
          </a:p>
        </p:txBody>
      </p:sp>
      <p:sp>
        <p:nvSpPr>
          <p:cNvPr id="286" name="Rectangle 10"/>
          <p:cNvSpPr/>
          <p:nvPr/>
        </p:nvSpPr>
        <p:spPr>
          <a:xfrm>
            <a:off x="274319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Rectangle 11"/>
          <p:cNvSpPr/>
          <p:nvPr/>
        </p:nvSpPr>
        <p:spPr>
          <a:xfrm>
            <a:off x="2743199" y="1371600"/>
            <a:ext cx="2194562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8" name="TextBox 12"/>
          <p:cNvSpPr txBox="1"/>
          <p:nvPr/>
        </p:nvSpPr>
        <p:spPr>
          <a:xfrm>
            <a:off x="288035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2</a:t>
            </a:r>
          </a:p>
        </p:txBody>
      </p:sp>
      <p:sp>
        <p:nvSpPr>
          <p:cNvPr id="289" name="TextBox 13"/>
          <p:cNvSpPr txBox="1"/>
          <p:nvPr/>
        </p:nvSpPr>
        <p:spPr>
          <a:xfrm>
            <a:off x="288035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Image-Based</a:t>
            </a:r>
          </a:p>
        </p:txBody>
      </p:sp>
      <p:sp>
        <p:nvSpPr>
          <p:cNvPr id="290" name="TextBox 14"/>
          <p:cNvSpPr txBox="1"/>
          <p:nvPr/>
        </p:nvSpPr>
        <p:spPr>
          <a:xfrm>
            <a:off x="288035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Free, $25</a:t>
            </a:r>
          </a:p>
        </p:txBody>
      </p:sp>
      <p:sp>
        <p:nvSpPr>
          <p:cNvPr id="291" name="TextBox 15"/>
          <p:cNvSpPr txBox="1"/>
          <p:nvPr/>
        </p:nvSpPr>
        <p:spPr>
          <a:xfrm>
            <a:off x="288035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ECGs, radiology, lab interpretation</a:t>
            </a:r>
          </a:p>
        </p:txBody>
      </p:sp>
      <p:sp>
        <p:nvSpPr>
          <p:cNvPr id="292" name="Rectangle 16"/>
          <p:cNvSpPr/>
          <p:nvPr/>
        </p:nvSpPr>
        <p:spPr>
          <a:xfrm>
            <a:off x="512064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Rectangle 17"/>
          <p:cNvSpPr/>
          <p:nvPr/>
        </p:nvSpPr>
        <p:spPr>
          <a:xfrm>
            <a:off x="5120640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TextBox 18"/>
          <p:cNvSpPr txBox="1"/>
          <p:nvPr/>
        </p:nvSpPr>
        <p:spPr>
          <a:xfrm>
            <a:off x="525779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3</a:t>
            </a:r>
          </a:p>
        </p:txBody>
      </p:sp>
      <p:sp>
        <p:nvSpPr>
          <p:cNvPr id="295" name="TextBox 19"/>
          <p:cNvSpPr txBox="1"/>
          <p:nvPr/>
        </p:nvSpPr>
        <p:spPr>
          <a:xfrm>
            <a:off x="525779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Screen-Based</a:t>
            </a:r>
          </a:p>
        </p:txBody>
      </p:sp>
      <p:sp>
        <p:nvSpPr>
          <p:cNvPr id="296" name="TextBox 20"/>
          <p:cNvSpPr txBox="1"/>
          <p:nvPr/>
        </p:nvSpPr>
        <p:spPr>
          <a:xfrm>
            <a:off x="525779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trial, inst.</a:t>
            </a:r>
          </a:p>
        </p:txBody>
      </p:sp>
      <p:sp>
        <p:nvSpPr>
          <p:cNvPr id="297" name="TextBox 21"/>
          <p:cNvSpPr txBox="1"/>
          <p:nvPr/>
        </p:nvSpPr>
        <p:spPr>
          <a:xfrm>
            <a:off x="525779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Virtual patients, branching scenarios</a:t>
            </a:r>
          </a:p>
        </p:txBody>
      </p:sp>
      <p:sp>
        <p:nvSpPr>
          <p:cNvPr id="298" name="Rectangle 22"/>
          <p:cNvSpPr/>
          <p:nvPr/>
        </p:nvSpPr>
        <p:spPr>
          <a:xfrm>
            <a:off x="749808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Rectangle 23"/>
          <p:cNvSpPr/>
          <p:nvPr/>
        </p:nvSpPr>
        <p:spPr>
          <a:xfrm>
            <a:off x="7498080" y="1371600"/>
            <a:ext cx="2194561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TextBox 24"/>
          <p:cNvSpPr txBox="1"/>
          <p:nvPr/>
        </p:nvSpPr>
        <p:spPr>
          <a:xfrm>
            <a:off x="763523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4</a:t>
            </a:r>
          </a:p>
        </p:txBody>
      </p:sp>
      <p:sp>
        <p:nvSpPr>
          <p:cNvPr id="301" name="TextBox 25"/>
          <p:cNvSpPr txBox="1"/>
          <p:nvPr/>
        </p:nvSpPr>
        <p:spPr>
          <a:xfrm>
            <a:off x="763523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AR (Phone)</a:t>
            </a:r>
          </a:p>
        </p:txBody>
      </p:sp>
      <p:sp>
        <p:nvSpPr>
          <p:cNvPr id="302" name="TextBox 26"/>
          <p:cNvSpPr txBox="1"/>
          <p:nvPr/>
        </p:nvSpPr>
        <p:spPr>
          <a:xfrm>
            <a:off x="763523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Free, $25</a:t>
            </a:r>
          </a:p>
        </p:txBody>
      </p:sp>
      <p:sp>
        <p:nvSpPr>
          <p:cNvPr id="303" name="TextBox 27"/>
          <p:cNvSpPr txBox="1"/>
          <p:nvPr/>
        </p:nvSpPr>
        <p:spPr>
          <a:xfrm>
            <a:off x="763523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3D anatomy on phone, no headset</a:t>
            </a:r>
          </a:p>
        </p:txBody>
      </p:sp>
      <p:sp>
        <p:nvSpPr>
          <p:cNvPr id="304" name="Rectangle 28"/>
          <p:cNvSpPr/>
          <p:nvPr/>
        </p:nvSpPr>
        <p:spPr>
          <a:xfrm>
            <a:off x="9875519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5" name="Rectangle 29"/>
          <p:cNvSpPr/>
          <p:nvPr/>
        </p:nvSpPr>
        <p:spPr>
          <a:xfrm>
            <a:off x="9875519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30"/>
          <p:cNvSpPr txBox="1"/>
          <p:nvPr/>
        </p:nvSpPr>
        <p:spPr>
          <a:xfrm>
            <a:off x="1001267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5</a:t>
            </a:r>
          </a:p>
        </p:txBody>
      </p:sp>
      <p:sp>
        <p:nvSpPr>
          <p:cNvPr id="307" name="TextBox 31"/>
          <p:cNvSpPr txBox="1"/>
          <p:nvPr/>
        </p:nvSpPr>
        <p:spPr>
          <a:xfrm>
            <a:off x="1001267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Immersive VR</a:t>
            </a:r>
          </a:p>
        </p:txBody>
      </p:sp>
      <p:sp>
        <p:nvSpPr>
          <p:cNvPr id="308" name="TextBox 32"/>
          <p:cNvSpPr txBox="1"/>
          <p:nvPr/>
        </p:nvSpPr>
        <p:spPr>
          <a:xfrm>
            <a:off x="1001267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$100  to $600</a:t>
            </a:r>
          </a:p>
        </p:txBody>
      </p:sp>
      <p:sp>
        <p:nvSpPr>
          <p:cNvPr id="309" name="TextBox 33"/>
          <p:cNvSpPr txBox="1"/>
          <p:nvPr/>
        </p:nvSpPr>
        <p:spPr>
          <a:xfrm>
            <a:off x="1001267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Procedures, team scenarios, physical skills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Demo: Interactive Clinical Reasoning Case</a:t>
            </a:r>
          </a:p>
        </p:txBody>
      </p:sp>
      <p:sp>
        <p:nvSpPr>
          <p:cNvPr id="31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this on your phone now, no VR needed</a:t>
            </a:r>
          </a:p>
        </p:txBody>
      </p:sp>
      <p:sp>
        <p:nvSpPr>
          <p:cNvPr id="314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5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6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WHAT YOU'LL DO</a:t>
            </a:r>
          </a:p>
        </p:txBody>
      </p:sp>
      <p:sp>
        <p:nvSpPr>
          <p:cNvPr id="317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19-year-old male with sharp chest pain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Interview the patient (text-based)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Order labs, interpret an ECG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Build your differential with reasoning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Write your assessment and plan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Receive feedback on your reasoning process</a:t>
            </a:r>
          </a:p>
        </p:txBody>
      </p:sp>
      <p:sp>
        <p:nvSpPr>
          <p:cNvPr id="318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0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321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Clinical Reasoning Case</a:t>
            </a:r>
          </a:p>
        </p:txBody>
      </p:sp>
      <p:sp>
        <p:nvSpPr>
          <p:cNvPr id="322" name="Rectangle 12"/>
          <p:cNvSpPr/>
          <p:nvPr/>
        </p:nvSpPr>
        <p:spPr>
          <a:xfrm>
            <a:off x="6583680" y="3474720"/>
            <a:ext cx="5029201" cy="1828801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3" name="Rectangle 13"/>
          <p:cNvSpPr/>
          <p:nvPr/>
        </p:nvSpPr>
        <p:spPr>
          <a:xfrm>
            <a:off x="6583680" y="3474720"/>
            <a:ext cx="50801" cy="1828801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4" name="TextBox 14"/>
          <p:cNvSpPr txBox="1"/>
          <p:nvPr/>
        </p:nvSpPr>
        <p:spPr>
          <a:xfrm>
            <a:off x="6903719" y="3657599"/>
            <a:ext cx="448056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KEY MESSAGE</a:t>
            </a:r>
          </a:p>
        </p:txBody>
      </p:sp>
      <p:sp>
        <p:nvSpPr>
          <p:cNvPr id="325" name="TextBox 15"/>
          <p:cNvSpPr txBox="1"/>
          <p:nvPr/>
        </p:nvSpPr>
        <p:spPr>
          <a:xfrm>
            <a:off x="6903719" y="4023359"/>
            <a:ext cx="4480562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A2332"/>
                </a:solidFill>
              </a:defRPr>
            </a:lvl1pPr>
          </a:lstStyle>
          <a:p>
            <a:pPr/>
            <a:r>
              <a:t>No multiple choice. The reasoning IS the assessment. This is authentic assessment in the AI era.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Oval 6"/>
          <p:cNvGrpSpPr/>
          <p:nvPr/>
        </p:nvGrpSpPr>
        <p:grpSpPr>
          <a:xfrm>
            <a:off x="45719" y="320040"/>
            <a:ext cx="365762" cy="365761"/>
            <a:chOff x="0" y="0"/>
            <a:chExt cx="365760" cy="365760"/>
          </a:xfrm>
        </p:grpSpPr>
        <p:sp>
          <p:nvSpPr>
            <p:cNvPr id="332" name="Circle"/>
            <p:cNvSpPr/>
            <p:nvPr/>
          </p:nvSpPr>
          <p:spPr>
            <a:xfrm>
              <a:off x="-1" y="-1"/>
              <a:ext cx="365762" cy="36576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33" name="6"/>
            <p:cNvSpPr txBox="1"/>
            <p:nvPr/>
          </p:nvSpPr>
          <p:spPr>
            <a:xfrm>
              <a:off x="99283" y="12789"/>
              <a:ext cx="16719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6</a:t>
              </a:r>
            </a:p>
          </p:txBody>
        </p:sp>
      </p:grpSp>
      <p:sp>
        <p:nvSpPr>
          <p:cNvPr id="33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VR &amp; Your Starter Stack: When It's Worth the Investment</a:t>
            </a:r>
          </a:p>
        </p:txBody>
      </p:sp>
      <p:graphicFrame>
        <p:nvGraphicFramePr>
          <p:cNvPr id="337" name="Table 3"/>
          <p:cNvGraphicFramePr/>
          <p:nvPr/>
        </p:nvGraphicFramePr>
        <p:xfrm>
          <a:off x="457200" y="1371600"/>
          <a:ext cx="11247120" cy="16002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200400"/>
                <a:gridCol w="2286000"/>
                <a:gridCol w="576072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Starter Stack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What You Get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Free Entry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ChatGPT + BioDigital Human + Flip + NotebookLM + H5P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Minimal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$25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Above + Visible Body Atlas (includes AR)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One Headset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~$125–175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Above + 1 refurbished Meta Quest 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Small Program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~$700–1,100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Above + 2–3 Meta Quest 3S (~$350 each)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8" name="Rectangle 4"/>
          <p:cNvSpPr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9" name="Rectangle 5"/>
          <p:cNvSpPr/>
          <p:nvPr/>
        </p:nvSpPr>
        <p:spPr>
          <a:xfrm>
            <a:off x="457200" y="4572000"/>
            <a:ext cx="50800" cy="18288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0" name="TextBox 6"/>
          <p:cNvSpPr txBox="1"/>
          <p:nvPr/>
        </p:nvSpPr>
        <p:spPr>
          <a:xfrm>
            <a:off x="73151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USE VR WHEN</a:t>
            </a:r>
          </a:p>
        </p:txBody>
      </p:sp>
      <p:sp>
        <p:nvSpPr>
          <p:cNvPr id="341" name="TextBox 7"/>
          <p:cNvSpPr txBox="1"/>
          <p:nvPr/>
        </p:nvSpPr>
        <p:spPr>
          <a:xfrm>
            <a:off x="73151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Procedural skills, team scenarios, high-acuity rehearsal, regular use</a:t>
            </a:r>
          </a:p>
        </p:txBody>
      </p:sp>
      <p:sp>
        <p:nvSpPr>
          <p:cNvPr id="342" name="Rectangle 8"/>
          <p:cNvSpPr/>
          <p:nvPr/>
        </p:nvSpPr>
        <p:spPr>
          <a:xfrm>
            <a:off x="6217920" y="4572000"/>
            <a:ext cx="54864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Rectangle 9"/>
          <p:cNvSpPr/>
          <p:nvPr/>
        </p:nvSpPr>
        <p:spPr>
          <a:xfrm>
            <a:off x="6217920" y="45720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TextBox 10"/>
          <p:cNvSpPr txBox="1"/>
          <p:nvPr/>
        </p:nvSpPr>
        <p:spPr>
          <a:xfrm>
            <a:off x="649223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DON'T USE VR WHEN</a:t>
            </a:r>
          </a:p>
        </p:txBody>
      </p:sp>
      <p:sp>
        <p:nvSpPr>
          <p:cNvPr id="345" name="TextBox 11"/>
          <p:cNvSpPr txBox="1"/>
          <p:nvPr/>
        </p:nvSpPr>
        <p:spPr>
          <a:xfrm>
            <a:off x="649223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The learning goal is clinical reasoning, text/screen does the job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(2 min)</a:t>
            </a:r>
          </a:p>
        </p:txBody>
      </p:sp>
      <p:sp>
        <p:nvSpPr>
          <p:cNvPr id="37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rPr/>
              <a:t>Think of a clinical skill your fellows need to learn</a:t>
            </a:r>
          </a:p>
          <a:p>
            <a:r>
              <a:rPr/>
              <a:t>Text and audio, images included: ECG, X-ray, CT, labs? AR? Screen-based? VR?</a:t>
            </a:r>
          </a:p>
          <a:p>
            <a:r>
              <a:rPr/>
              <a:t>Which fits, and would the free option work?</a:t>
            </a:r>
          </a:p>
          <a:p>
            <a:r>
              <a:rPr/>
              <a:t>Share your reasoning with your table group</a:t>
            </a:r>
          </a:p>
        </p:txBody>
      </p:sp>
      <p:sp>
        <p:nvSpPr>
          <p:cNvPr id="37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Capstone Design Sprint (17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Identify</a:t>
            </a:r>
            <a:br/>
            <a:r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Define</a:t>
            </a:r>
            <a:br/>
            <a:r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Select</a:t>
            </a:r>
            <a:br/>
            <a:r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Map Pedagogy</a:t>
            </a:r>
            <a:br/>
            <a:r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Sketch</a:t>
            </a:r>
            <a:br/>
            <a:r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Share-Out, 3 min</a:t>
            </a:r>
          </a:p>
        </p:txBody>
      </p:sp>
      <p:sp>
        <p:nvSpPr>
          <p:cNvPr id="424" name="Rectangle 3"/>
          <p:cNvSpPr/>
          <p:nvPr/>
        </p:nvSpPr>
        <p:spPr>
          <a:xfrm>
            <a:off x="640080" y="1371600"/>
            <a:ext cx="10972801" cy="32004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5" name="TextBox 4"/>
          <p:cNvSpPr txBox="1"/>
          <p:nvPr/>
        </p:nvSpPr>
        <p:spPr>
          <a:xfrm>
            <a:off x="1143000" y="1828800"/>
            <a:ext cx="9966961" cy="1756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2-3 groups share their plan (60 seconds each)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your educational need?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 tool did you pick, and why?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one barrier and how will you handle it?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Wrap-Up</a:t>
            </a:r>
          </a:p>
        </p:txBody>
      </p:sp>
      <p:sp>
        <p:nvSpPr>
          <p:cNvPr id="42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Start with one tool, one need, one small experiment</a:t>
            </a:r>
          </a:p>
        </p:txBody>
      </p:sp>
      <p:sp>
        <p:nvSpPr>
          <p:cNvPr id="430" name="TextBox 4"/>
          <p:cNvSpPr txBox="1"/>
          <p:nvPr/>
        </p:nvSpPr>
        <p:spPr>
          <a:xfrm>
            <a:off x="685800" y="1371600"/>
            <a:ext cx="10881361" cy="19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Everything from today is in the Workshop Guide, bookmark it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The Zero Dollar Starter Kit: 9 free tools you can use Monday morning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All resource links, prompt templates, and the worksheet stay available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don't need a grant, an IT ticket, or a technology expert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need to know what your learners need, and you already know that</a:t>
            </a:r>
          </a:p>
        </p:txBody>
      </p:sp>
      <p:sp>
        <p:nvSpPr>
          <p:cNvPr id="431" name="TextBox 5"/>
          <p:cNvSpPr txBox="1"/>
          <p:nvPr/>
        </p:nvSpPr>
        <p:spPr>
          <a:xfrm>
            <a:off x="685800" y="548640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