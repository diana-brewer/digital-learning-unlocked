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267" r:id="rId19"/>
    <p:sldId id="268" r:id="rId20"/>
    <p:sldId id="269" r:id="rId21"/>
    <p:sldId id="271" r:id="rId23"/>
    <p:sldId id="272" r:id="rId24"/>
    <p:sldId id="274" r:id="rId26"/>
    <p:sldId id="277" r:id="rId29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6.xml"/><Relationship Id="rId31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Demo: The Realism Gap, Part 1: The Hand-Built Case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Built by hand, grounded by hand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rPr/>
              <a:t>WHAT IT DOES WELL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65-year-old with acute confusion</a:t>
            </a:r>
          </a:p>
          <a:p>
            <a:r>
              <a:rPr/>
              <a:t>• Captures clinical reasoning, branch by branch</a:t>
            </a:r>
          </a:p>
          <a:p>
            <a:r>
              <a:rPr/>
              <a:t>• Grounded: a human vetted every decision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rPr/>
              <a:t>THE GAP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Real patients are not multiple choice.</a:t>
            </a:r>
          </a:p>
          <a:p>
            <a:r>
              <a:rPr>
                <a:solidFill>
                  <a:srgbClr val="0000FF"/>
                </a:solidFill>
              </a:rPr>
              <a:t>It only answers what its author pre-imagined.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▶ The branching demo, on screen now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Demo: The Realism Gap, Part 2: The AI Case, Live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One paste, about sixty seconds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rPr/>
              <a:t>WHAT THE PASTE PRODUCES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An open-ended case: the learner asks anything</a:t>
            </a:r>
          </a:p>
          <a:p>
            <a:r>
              <a:rPr/>
              <a:t>• A student-ready prompt with rubric feedback</a:t>
            </a:r>
          </a:p>
          <a:p>
            <a:r>
              <a:rPr/>
              <a:t>• A provenance warning it writes itself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rPr/>
              <a:t>TRY IT NOW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▶ Today's Demo Case, pre-filled for the sore throat case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Cost: $0 · Every run: a fresh case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Workshop Guide → Section 4 (Today's Demo Case,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(2 min)</a:t>
            </a:r>
          </a:p>
        </p:txBody>
      </p:sp>
      <p:sp>
        <p:nvSpPr>
          <p:cNvPr id="14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Pick one thing you already teach</a:t>
            </a:r>
          </a:p>
          <a:p>
            <a:r>
              <a:rPr/>
              <a:t>A case, a treatment update, a procedure, a journal club</a:t>
            </a:r>
          </a:p>
          <a:p>
            <a:r>
              <a:rPr/>
              <a:t>Where is its realism gap?  Which tool would you try first?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66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4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69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Elephant: Nobody Wrote This Case</a:t>
            </a:r>
          </a:p>
        </p:txBody>
      </p:sp>
      <p:sp>
        <p:nvSpPr>
          <p:cNvPr id="170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Fast, realistic, and unverifiable.</a:t>
            </a:r>
          </a:p>
          <a:p>
            <a:r>
              <a:rPr/>
              <a:t>Every run is a fresh, unreviewed case. The pitfall scales with the stakes.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Where Ground Truth Lives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Whatever you teach, someone already published it. Today's example: the MedEdPORTAL case, Section 4</a:t>
            </a:r>
          </a:p>
        </p:txBody>
      </p:sp>
      <p:sp>
        <p:nvSpPr>
          <p:cNvPr id="175" name="Rectangle 4"/>
          <p:cNvSpPr/>
          <p:nvPr/>
        </p:nvSpPr>
        <p:spPr>
          <a:xfrm>
            <a:off x="457199" y="1371600"/>
            <a:ext cx="11247122" cy="27432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6"/>
          <p:cNvSpPr txBox="1"/>
          <p:nvPr/>
        </p:nvSpPr>
        <p:spPr>
          <a:xfrm>
            <a:off x="777239" y="1554480"/>
            <a:ext cx="10424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rPr/>
              <a:t>GROUNDING IS BUILT IN NOW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777239" y="1920239"/>
            <a:ext cx="104241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Your documents, any assistant</a:t>
            </a:r>
          </a:p>
        </p:txBody>
      </p:sp>
      <p:sp>
        <p:nvSpPr>
          <p:cNvPr id="179" name="TextBox 8"/>
          <p:cNvSpPr txBox="1"/>
          <p:nvPr/>
        </p:nvSpPr>
        <p:spPr>
          <a:xfrm>
            <a:off x="777239" y="2468879"/>
            <a:ext cx="10424161" cy="101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rPr/>
              <a:t>• ChatGPT Projects: your files + instructions in one workspace</a:t>
            </a:r>
          </a:p>
          <a:p>
            <a:r>
              <a:rPr/>
              <a:t>• Claude: point a project at a folder on your computer</a:t>
            </a:r>
          </a:p>
          <a:p>
            <a:r>
              <a:rPr/>
              <a:t>• Gemini: grounded in your Google Drive</a:t>
            </a:r>
          </a:p>
          <a:p>
            <a:r>
              <a:rPr/>
              <a:t>• NotebookLM: one easy, dedicated example. We demo it today.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/>
              <a:t>Upload to any assistant</a:t>
            </a:r>
          </a:p>
          <a:p>
            <a:r>
              <a:rPr/>
              <a:t>NotebookLM, a ChatGPT</a:t>
            </a:r>
          </a:p>
          <a:p>
            <a:r>
              <a:rPr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Live Demo: The Same Case, Grounded</a:t>
            </a:r>
          </a:p>
        </p:txBody>
      </p:sp>
      <p:sp>
        <p:nvSpPr>
          <p:cNvPr id="222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Same question, asked twice</a:t>
            </a:r>
          </a:p>
        </p:txBody>
      </p:sp>
      <p:sp>
        <p:nvSpPr>
          <p:cNvPr id="223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rPr/>
              <a:t>THE BEAT</a:t>
            </a:r>
          </a:p>
        </p:txBody>
      </p:sp>
      <p:sp>
        <p:nvSpPr>
          <p:cNvPr id="226" name="TextBox 7"/>
          <p:cNvSpPr txBox="1"/>
          <p:nvPr/>
        </p:nvSpPr>
        <p:spPr>
          <a:xfrm>
            <a:off x="960119" y="1920239"/>
            <a:ext cx="4937762" cy="1783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rPr/>
              <a:t>1 · Ungrounded: the same question, no sources</a:t>
            </a:r>
          </a:p>
          <a:p>
            <a:r>
              <a:rPr/>
              <a:t>2 · Grounded: the pre-built notebook, answers cite sources</a:t>
            </a:r>
          </a:p>
          <a:p>
            <a:r>
              <a:rPr/>
              <a:t>3 · Bonus: a rubric and 15 seconds of the audio overview</a:t>
            </a:r>
          </a:p>
        </p:txBody>
      </p:sp>
      <p:sp>
        <p:nvSpPr>
          <p:cNvPr id="227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230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▶ NotebookLM: Pericarditis Teaching Case</a:t>
            </a:r>
          </a:p>
        </p:txBody>
      </p:sp>
      <p:sp>
        <p:nvSpPr>
          <p:cNvPr id="231" name="TextBox 12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4 (prompts)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Think · Pair · Share: Try It Now (4 min)</a:t>
            </a:r>
          </a:p>
        </p:txBody>
      </p:sp>
      <p:sp>
        <p:nvSpPr>
          <p:cNvPr id="259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Run Today's Demo Case (Section 4, prompt 5b) in any chatbot</a:t>
            </a:r>
          </a:p>
          <a:p>
            <a:r>
              <a:rPr/>
              <a:t>Then the grounded contrast: download the MedEdPORTAL files, upload 1 and 2 into NotebookLM, run Prompt #1</a:t>
            </a:r>
          </a:p>
          <a:p>
            <a:r>
              <a:rPr/>
              <a:t>Ask your table: who wrote that case?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7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The most expensive simulation is not the best. Reasoning lives at the text-and-audio end, images included.</a:t>
            </a:r>
          </a:p>
        </p:txBody>
      </p:sp>
      <p:sp>
        <p:nvSpPr>
          <p:cNvPr id="280" name="Rectangle 4"/>
          <p:cNvSpPr/>
          <p:nvPr/>
        </p:nvSpPr>
        <p:spPr>
          <a:xfrm>
            <a:off x="36575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Rectangle 5"/>
          <p:cNvSpPr/>
          <p:nvPr/>
        </p:nvSpPr>
        <p:spPr>
          <a:xfrm>
            <a:off x="365759" y="1371600"/>
            <a:ext cx="2194562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6"/>
          <p:cNvSpPr txBox="1"/>
          <p:nvPr/>
        </p:nvSpPr>
        <p:spPr>
          <a:xfrm>
            <a:off x="502920" y="1554480"/>
            <a:ext cx="1920239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Free</a:t>
            </a:r>
          </a:p>
        </p:txBody>
      </p:sp>
      <p:sp>
        <p:nvSpPr>
          <p:cNvPr id="283" name="TextBox 7"/>
          <p:cNvSpPr txBox="1"/>
          <p:nvPr/>
        </p:nvSpPr>
        <p:spPr>
          <a:xfrm>
            <a:off x="502920" y="1920239"/>
            <a:ext cx="1920239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84" name="TextBox 8"/>
          <p:cNvSpPr txBox="1"/>
          <p:nvPr/>
        </p:nvSpPr>
        <p:spPr>
          <a:xfrm>
            <a:off x="502920" y="2560320"/>
            <a:ext cx="192023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$20/mo</a:t>
            </a:r>
          </a:p>
        </p:txBody>
      </p:sp>
      <p:sp>
        <p:nvSpPr>
          <p:cNvPr id="285" name="TextBox 9"/>
          <p:cNvSpPr txBox="1"/>
          <p:nvPr/>
        </p:nvSpPr>
        <p:spPr>
          <a:xfrm>
            <a:off x="502920" y="3017520"/>
            <a:ext cx="192023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86" name="Rectangle 10"/>
          <p:cNvSpPr/>
          <p:nvPr/>
        </p:nvSpPr>
        <p:spPr>
          <a:xfrm>
            <a:off x="274319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1"/>
          <p:cNvSpPr/>
          <p:nvPr/>
        </p:nvSpPr>
        <p:spPr>
          <a:xfrm>
            <a:off x="2743199" y="1371600"/>
            <a:ext cx="2194562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12"/>
          <p:cNvSpPr txBox="1"/>
          <p:nvPr/>
        </p:nvSpPr>
        <p:spPr>
          <a:xfrm>
            <a:off x="288035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Free / Low</a:t>
            </a:r>
          </a:p>
        </p:txBody>
      </p:sp>
      <p:sp>
        <p:nvSpPr>
          <p:cNvPr id="289" name="TextBox 13"/>
          <p:cNvSpPr txBox="1"/>
          <p:nvPr/>
        </p:nvSpPr>
        <p:spPr>
          <a:xfrm>
            <a:off x="288035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90" name="TextBox 14"/>
          <p:cNvSpPr txBox="1"/>
          <p:nvPr/>
        </p:nvSpPr>
        <p:spPr>
          <a:xfrm>
            <a:off x="288035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$25</a:t>
            </a:r>
          </a:p>
        </p:txBody>
      </p:sp>
      <p:sp>
        <p:nvSpPr>
          <p:cNvPr id="291" name="TextBox 15"/>
          <p:cNvSpPr txBox="1"/>
          <p:nvPr/>
        </p:nvSpPr>
        <p:spPr>
          <a:xfrm>
            <a:off x="288035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92" name="Rectangle 16"/>
          <p:cNvSpPr/>
          <p:nvPr/>
        </p:nvSpPr>
        <p:spPr>
          <a:xfrm>
            <a:off x="512064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17"/>
          <p:cNvSpPr/>
          <p:nvPr/>
        </p:nvSpPr>
        <p:spPr>
          <a:xfrm>
            <a:off x="5120640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18"/>
          <p:cNvSpPr txBox="1"/>
          <p:nvPr/>
        </p:nvSpPr>
        <p:spPr>
          <a:xfrm>
            <a:off x="525779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Free / Low</a:t>
            </a:r>
          </a:p>
        </p:txBody>
      </p:sp>
      <p:sp>
        <p:nvSpPr>
          <p:cNvPr id="295" name="TextBox 19"/>
          <p:cNvSpPr txBox="1"/>
          <p:nvPr/>
        </p:nvSpPr>
        <p:spPr>
          <a:xfrm>
            <a:off x="525779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96" name="TextBox 20"/>
          <p:cNvSpPr txBox="1"/>
          <p:nvPr/>
        </p:nvSpPr>
        <p:spPr>
          <a:xfrm>
            <a:off x="525779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trial, inst.</a:t>
            </a:r>
          </a:p>
        </p:txBody>
      </p:sp>
      <p:sp>
        <p:nvSpPr>
          <p:cNvPr id="297" name="TextBox 21"/>
          <p:cNvSpPr txBox="1"/>
          <p:nvPr/>
        </p:nvSpPr>
        <p:spPr>
          <a:xfrm>
            <a:off x="525779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98" name="Rectangle 22"/>
          <p:cNvSpPr/>
          <p:nvPr/>
        </p:nvSpPr>
        <p:spPr>
          <a:xfrm>
            <a:off x="749808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23"/>
          <p:cNvSpPr/>
          <p:nvPr/>
        </p:nvSpPr>
        <p:spPr>
          <a:xfrm>
            <a:off x="7498080" y="1371600"/>
            <a:ext cx="2194561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24"/>
          <p:cNvSpPr txBox="1"/>
          <p:nvPr/>
        </p:nvSpPr>
        <p:spPr>
          <a:xfrm>
            <a:off x="763523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Free / Low</a:t>
            </a:r>
          </a:p>
        </p:txBody>
      </p:sp>
      <p:sp>
        <p:nvSpPr>
          <p:cNvPr id="301" name="TextBox 25"/>
          <p:cNvSpPr txBox="1"/>
          <p:nvPr/>
        </p:nvSpPr>
        <p:spPr>
          <a:xfrm>
            <a:off x="763523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302" name="TextBox 26"/>
          <p:cNvSpPr txBox="1"/>
          <p:nvPr/>
        </p:nvSpPr>
        <p:spPr>
          <a:xfrm>
            <a:off x="763523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$25</a:t>
            </a:r>
          </a:p>
        </p:txBody>
      </p:sp>
      <p:sp>
        <p:nvSpPr>
          <p:cNvPr id="303" name="TextBox 27"/>
          <p:cNvSpPr txBox="1"/>
          <p:nvPr/>
        </p:nvSpPr>
        <p:spPr>
          <a:xfrm>
            <a:off x="763523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304" name="Rectangle 28"/>
          <p:cNvSpPr/>
          <p:nvPr/>
        </p:nvSpPr>
        <p:spPr>
          <a:xfrm>
            <a:off x="9875519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29"/>
          <p:cNvSpPr/>
          <p:nvPr/>
        </p:nvSpPr>
        <p:spPr>
          <a:xfrm>
            <a:off x="9875519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30"/>
          <p:cNvSpPr txBox="1"/>
          <p:nvPr/>
        </p:nvSpPr>
        <p:spPr>
          <a:xfrm>
            <a:off x="1001267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Investment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001267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308" name="TextBox 32"/>
          <p:cNvSpPr txBox="1"/>
          <p:nvPr/>
        </p:nvSpPr>
        <p:spPr>
          <a:xfrm>
            <a:off x="1001267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$100  to $600</a:t>
            </a:r>
          </a:p>
        </p:txBody>
      </p:sp>
      <p:sp>
        <p:nvSpPr>
          <p:cNvPr id="309" name="TextBox 33"/>
          <p:cNvSpPr txBox="1"/>
          <p:nvPr/>
        </p:nvSpPr>
        <p:spPr>
          <a:xfrm>
            <a:off x="1001267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Oval 6"/>
          <p:cNvGrpSpPr/>
          <p:nvPr/>
        </p:nvGrpSpPr>
        <p:grpSpPr>
          <a:xfrm>
            <a:off x="45719" y="320040"/>
            <a:ext cx="365762" cy="365761"/>
            <a:chOff x="0" y="0"/>
            <a:chExt cx="365760" cy="365760"/>
          </a:xfrm>
        </p:grpSpPr>
        <p:sp>
          <p:nvSpPr>
            <p:cNvPr id="332" name="Circle"/>
            <p:cNvSpPr/>
            <p:nvPr/>
          </p:nvSpPr>
          <p:spPr>
            <a:xfrm>
              <a:off x="-1" y="-1"/>
              <a:ext cx="365762" cy="36576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3" name="6"/>
            <p:cNvSpPr txBox="1"/>
            <p:nvPr/>
          </p:nvSpPr>
          <p:spPr>
            <a:xfrm>
              <a:off x="99283" y="12789"/>
              <a:ext cx="16719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33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You Don't Need a Grant</a:t>
            </a:r>
          </a:p>
        </p:txBody>
      </p:sp>
      <p:sp>
        <p:nvSpPr>
          <p:cNvPr id="338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6"/>
          <p:cNvSpPr txBox="1"/>
          <p:nvPr/>
        </p:nvSpPr>
        <p:spPr>
          <a:xfrm>
            <a:off x="73151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341" name="TextBox 7"/>
          <p:cNvSpPr txBox="1"/>
          <p:nvPr/>
        </p:nvSpPr>
        <p:spPr>
          <a:xfrm>
            <a:off x="73151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342" name="Rectangle 8"/>
          <p:cNvSpPr/>
          <p:nvPr/>
        </p:nvSpPr>
        <p:spPr>
          <a:xfrm>
            <a:off x="6217920" y="4572000"/>
            <a:ext cx="54864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Rectangle 9"/>
          <p:cNvSpPr/>
          <p:nvPr/>
        </p:nvSpPr>
        <p:spPr>
          <a:xfrm>
            <a:off x="6217920" y="45720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0"/>
          <p:cNvSpPr txBox="1"/>
          <p:nvPr/>
        </p:nvSpPr>
        <p:spPr>
          <a:xfrm>
            <a:off x="649223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THE REST</a:t>
            </a:r>
          </a:p>
        </p:txBody>
      </p:sp>
      <p:sp>
        <p:nvSpPr>
          <p:cNvPr id="345" name="TextBox 11"/>
          <p:cNvSpPr txBox="1"/>
          <p:nvPr/>
        </p:nvSpPr>
        <p:spPr>
          <a:xfrm>
            <a:off x="649223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The learning goal is clinical reasoning, text/screen does the job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02919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$0 today · $25 next month · $100 next year · full starter stack in the Workshop Guide, Section 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(2 min)</a:t>
            </a:r>
          </a:p>
        </p:txBody>
      </p:sp>
      <p:sp>
        <p:nvSpPr>
          <p:cNvPr id="3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Think of a clinical skill your fellows need to learn</a:t>
            </a:r>
          </a:p>
          <a:p>
            <a:r>
              <a:rPr/>
              <a:t>Text and audio, images included: ECG, X-ray, CT, labs? AR? Screen-based? VR?</a:t>
            </a:r>
          </a:p>
          <a:p>
            <a:r>
              <a:rPr/>
              <a:t>Which fits, and would the free option work?</a:t>
            </a:r>
          </a:p>
          <a:p>
            <a:r>
              <a:rPr/>
              <a:t>Share your reasoning with your table group</a:t>
            </a:r>
          </a:p>
        </p:txBody>
      </p:sp>
      <p:sp>
        <p:nvSpPr>
          <p:cNvPr id="37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Share-Out, 3 min</a:t>
            </a:r>
          </a:p>
        </p:txBody>
      </p:sp>
      <p:sp>
        <p:nvSpPr>
          <p:cNvPr id="424" name="Rectangle 3"/>
          <p:cNvSpPr/>
          <p:nvPr/>
        </p:nvSpPr>
        <p:spPr>
          <a:xfrm>
            <a:off x="640080" y="1371600"/>
            <a:ext cx="10972801" cy="32004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4"/>
          <p:cNvSpPr txBox="1"/>
          <p:nvPr/>
        </p:nvSpPr>
        <p:spPr>
          <a:xfrm>
            <a:off x="1143000" y="1828800"/>
            <a:ext cx="9966961" cy="1756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2-3 groups share their plan (60 seconds each)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your educational need?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 tool did you pick, and why?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371600"/>
            <a:ext cx="10881361" cy="19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Everything from today is in the Workshop Guide, bookmark it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The Zero Dollar Starter Kit: 9 free tools you can use Monday morning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All resource links, prompt templates, and the worksheet stay available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don't need a grant, an IT ticket, or a technology expert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need to know what your learners need, and you already know that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685800" y="548640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