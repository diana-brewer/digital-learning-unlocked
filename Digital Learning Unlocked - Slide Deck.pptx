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0"/>
    <p:sldId id="504" r:id="rId201"/>
    <p:sldId id="505" r:id="rId202"/>
    <p:sldId id="506" r:id="rId203"/>
    <p:sldId id="507" r:id="rId204"/>
    <p:sldId id="508" r:id="rId24"/>
    <p:sldId id="509" r:id="rId26"/>
    <p:sldId id="510" r:id="rId31"/>
    <p:sldId id="511" r:id="rId33"/>
    <p:sldId id="512" r:id="rId34"/>
    <p:sldId id="513" r:id="rId35"/>
    <p:sldId id="51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4" Type="http://schemas.openxmlformats.org/officeDocument/2006/relationships/slide" Target="slides/slide9.xml"/><Relationship Id="rId26" Type="http://schemas.openxmlformats.org/officeDocument/2006/relationships/slide" Target="slides/slide10.xml"/><Relationship Id="rId31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~30 min presentation + 20 min workshop + 5 min share &amp; wrap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Think · Pair · Share after each section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Every AI Teaching Tool Sits on This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Static or dynamic, grounded or ungrounded: today we visit three quadrants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map lives in your guide, Section 1, with links to all three demos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44475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A6B7E"/>
                </a:solidFill>
              </a:rPr>
              <a:t>STATIC (built once, fixed)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44475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A6B7E"/>
                </a:solidFill>
              </a:rPr>
              <a:t>DYNAMIC (regenerated each time)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5603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A6B7E"/>
                </a:solidFill>
              </a:rPr>
              <a:t>UNGROUNDED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A6B7E"/>
                </a:solidFill>
              </a:rPr>
              <a:t>GROUNDED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1755648"/>
            <a:ext cx="4892040" cy="1828800"/>
          </a:xfrm>
          <a:prstGeom prst="roundRect">
            <a:avLst/>
          </a:prstGeom>
          <a:solidFill>
            <a:srgbClr val="F0F4F8"/>
          </a:solidFill>
          <a:ln w="15875">
            <a:solidFill>
              <a:srgbClr val="D5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5A6B7E"/>
                </a:solidFill>
              </a:rPr>
              <a:t>STATIC + UNGROUNDED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1A2332"/>
                </a:solidFill>
              </a:rPr>
              <a:t>A made-up case, frozen. Not today’s focus.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755648"/>
            <a:ext cx="4892040" cy="1828800"/>
          </a:xfrm>
          <a:prstGeom prst="roundRect">
            <a:avLst/>
          </a:prstGeom>
          <a:solidFill>
            <a:srgbClr val="FDF6F0"/>
          </a:solidFill>
          <a:ln w="15875">
            <a:solidFill>
              <a:srgbClr val="E8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C66A28"/>
                </a:solidFill>
              </a:rPr>
              <a:t>DYNAMIC + UNGROUNDED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1A2332"/>
                </a:solidFill>
              </a:rPr>
              <a:t>Demo 2 · the chatbot case. Fresh numbers every run; nobody wrote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730752"/>
            <a:ext cx="4892040" cy="1828800"/>
          </a:xfrm>
          <a:prstGeom prst="roundRect">
            <a:avLst/>
          </a:prstGeom>
          <a:solidFill>
            <a:srgbClr val="F0F6FA"/>
          </a:solidFill>
          <a:ln w="15875">
            <a:solidFill>
              <a:srgbClr val="2D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2D5F7C"/>
                </a:solidFill>
              </a:rPr>
              <a:t>STATIC + GROUNDED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1A2332"/>
                </a:solidFill>
              </a:rPr>
              <a:t>Demo 1 · the AI-built branching case, grounded in the published MedEdPORTAL case.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730752"/>
            <a:ext cx="4892040" cy="1828800"/>
          </a:xfrm>
          <a:prstGeom prst="roundRect">
            <a:avLst/>
          </a:prstGeom>
          <a:solidFill>
            <a:srgbClr val="F0F8F4"/>
          </a:solidFill>
          <a:ln w="15875">
            <a:solidFill>
              <a:srgbClr val="2D86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400" b="1">
                <a:solidFill>
                  <a:srgbClr val="2D8659"/>
                </a:solidFill>
              </a:rPr>
              <a:t>DYNAMIC + GROUNDED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1A2332"/>
                </a:solidFill>
              </a:rPr>
              <a:t>Demo 3 · the case notebook. Every answer cites the source it came from.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Build a Static, Grounded Case (6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turn: a chatbot builds a branching case from a real source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BUILD IT, IN-CHAT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Claude Artifacts or ChatGPT Canvas, laptop or phone</a:t>
            </a:r>
          </a:p>
          <a:p>
            <a:r>
              <a:rPr sz="1800" b="0">
                <a:solidFill>
                  <a:srgbClr val="1A2332"/>
                </a:solidFill>
              </a:rPr>
              <a:t>Paste the Prompt Card from Section 2</a:t>
            </a:r>
          </a:p>
          <a:p>
            <a:r>
              <a:rPr sz="1800" b="0">
                <a:solidFill>
                  <a:srgbClr val="1A2332"/>
                </a:solidFill>
              </a:rPr>
              <a:t>Your branching case renders in the chat, no files to save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your own case and feel a built-once tool</a:t>
            </a:r>
          </a:p>
          <a:p>
            <a:r>
              <a:rPr sz="1800" b="0">
                <a:solidFill>
                  <a:srgbClr val="1A2332"/>
                </a:solidFill>
              </a:rPr>
              <a:t>Grounded: it draws on the published MedEdPORTAL case, the 19-year-old from the Running Example</a:t>
            </a:r>
          </a:p>
          <a:p>
            <a:r>
              <a:rPr sz="1800" b="0">
                <a:solidFill>
                  <a:srgbClr val="1A2332"/>
                </a:solidFill>
              </a:rPr>
              <a:t>On your phone? Pair with a laptop neighbor, or pick it up tonight: the prompt is saved in your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Quadrant: Static + Grounded. Built once, tied to a real, cited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Run the AI Conversational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turn: paste Today’s Demo Case into any chatbot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RUN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Paste Today’s Demo Case from Section 3</a:t>
            </a:r>
          </a:p>
          <a:p>
            <a:r>
              <a:rPr sz="1800" b="0">
                <a:solidFill>
                  <a:srgbClr val="1A2332"/>
                </a:solidFill>
              </a:rPr>
              <a:t>Role-play a few turns as the student</a:t>
            </a:r>
          </a:p>
          <a:p>
            <a:r>
              <a:rPr sz="1800" b="0">
                <a:solidFill>
                  <a:srgbClr val="1A2332"/>
                </a:solidFill>
              </a:rPr>
              <a:t>Let the case take you wherever it goes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Trade screens with your neighbor</a:t>
            </a:r>
          </a:p>
          <a:p>
            <a:r>
              <a:rPr sz="1800" b="0">
                <a:solidFill>
                  <a:srgbClr val="1A2332"/>
                </a:solidFill>
              </a:rPr>
              <a:t>The vitals, the labs, the exam details</a:t>
            </a:r>
          </a:p>
          <a:p>
            <a:r>
              <a:rPr sz="1800" b="0">
                <a:solidFill>
                  <a:srgbClr val="1A2332"/>
                </a:solidFill>
              </a:rPr>
              <a:t>They will not 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Quadrant: Dynamic + Ungrounded. Fresh numbers every run, nobody wrote this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Elephant, Live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engaging, and nobody wrote this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ELEPHANT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Every run is a fresh case with fresh numbers</a:t>
            </a:r>
          </a:p>
          <a:p>
            <a:r>
              <a:rPr sz="1800" b="0">
                <a:solidFill>
                  <a:srgbClr val="1A2332"/>
                </a:solidFill>
              </a:rPr>
              <a:t>No source, no review, and no consistency between your run and your neighbor’s</a:t>
            </a:r>
          </a:p>
          <a:p>
            <a:r>
              <a:rPr sz="1800" b="0">
                <a:solidFill>
                  <a:srgbClr val="1A2332"/>
                </a:solidFill>
              </a:rPr>
              <a:t>Dynamic, yes. Grounded,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DEBRIEF WITH YOUR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What did you notice was different between your case and your neighbor’s?</a:t>
            </a:r>
          </a:p>
          <a:p>
            <a:r>
              <a:rPr sz="1800" b="0">
                <a:solidFill>
                  <a:srgbClr val="1A2332"/>
                </a:solidFill>
              </a:rPr>
              <a:t>What would that mean for grading students on this?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Hold that thought. The fix is one quadrant away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Grounded, Dynamic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Watch live, then ask it one question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WATCH, THEN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pre-built notebook: all six published case files, already in it</a:t>
            </a:r>
          </a:p>
          <a:p>
            <a:r>
              <a:rPr sz="1800" b="0">
                <a:solidFill>
                  <a:srgbClr val="1A2332"/>
                </a:solidFill>
              </a:rPr>
              <a:t>Open the link and ask it one question about the case</a:t>
            </a:r>
          </a:p>
          <a:p>
            <a:r>
              <a:rPr sz="1800" b="0">
                <a:solidFill>
                  <a:srgbClr val="1A2332"/>
                </a:solidFill>
              </a:rPr>
              <a:t>Watch where it points: every answer shows the source it came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TRY IT AFTER THE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Quizzes, flashcards, and audio overviews come from the same sources: after the session, or during the capstone once your table has a notebook open</a:t>
            </a:r>
          </a:p>
          <a:p>
            <a:r>
              <a:rPr sz="1800" b="0">
                <a:solidFill>
                  <a:srgbClr val="1A2332"/>
                </a:solidFill>
              </a:rPr>
              <a:t>One is already in your guide: the AML notebook’s audio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Quadrant: Dynamic + Grounded, the payoff. Fresh answers, real sources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5: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