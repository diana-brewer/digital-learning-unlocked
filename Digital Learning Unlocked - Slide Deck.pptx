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9" r:id="rId31"/>
    <p:sldId id="281" r:id="rId33"/>
    <p:sldId id="282" r:id="rId34"/>
    <p:sldId id="283" r:id="rId35"/>
    <p:sldId id="284" r:id="rId3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1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ana-brewer.github.io/digital-learning-unlocked/workshop-branching-demo.html" TargetMode="External"/><Relationship Id="rId3" Type="http://schemas.openxmlformats.org/officeDocument/2006/relationships/hyperlink" Target="https://diana-brewer.github.io/digital-learning-unlocked/index.html#topic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ana-brewer.github.io/digital-learning-unlocked/index.html#topic2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otebook.google.com/notebook/db46c5da-59d3-4a7b-8c29-52e5588b39a1" TargetMode="External"/><Relationship Id="rId3" Type="http://schemas.openxmlformats.org/officeDocument/2006/relationships/hyperlink" Target="https://diana-brewer.github.io/digital-learning-unlocked/index.html#topic4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ana-brewer.github.io/digital-learning-unlocked/index.html#topic4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ana-brewer.github.io/digital-learning-unlocked/workshop-case-demo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ana-brewer.github.io/digital-learning-unlocked/index.html#topic5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ana-brewer.github.io/digital-learning-unlocked/index.html#topic7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ana-brewer.github.io/digital-learning-unlocked/index.html#topic8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brewerd@ohs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42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5943600"/>
            <a:ext cx="12191697" cy="9144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960119" y="2011679"/>
            <a:ext cx="10241282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Digital Learning Unlocked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1417320" y="3474720"/>
            <a:ext cx="932688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F4A55A"/>
                </a:solidFill>
              </a:defRPr>
            </a:lvl1pPr>
          </a:lstStyle>
          <a:p>
            <a:pPr/>
            <a:r>
              <a:t>Affordable Tools and Tech for Next-Gen APP Education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417320" y="4572000"/>
            <a:ext cx="93268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Diana Brewer, PA-C  ·  September 2026 APP Fellowship Conference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D5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Oval 1"/>
          <p:cNvGrpSpPr/>
          <p:nvPr/>
        </p:nvGrpSpPr>
        <p:grpSpPr>
          <a:xfrm>
            <a:off x="914399" y="2285999"/>
            <a:ext cx="1097282" cy="1097282"/>
            <a:chOff x="0" y="0"/>
            <a:chExt cx="1097280" cy="1097280"/>
          </a:xfrm>
        </p:grpSpPr>
        <p:sp>
          <p:nvSpPr>
            <p:cNvPr id="99" name="Circle"/>
            <p:cNvSpPr/>
            <p:nvPr/>
          </p:nvSpPr>
          <p:spPr>
            <a:xfrm>
              <a:off x="-1" y="-1"/>
              <a:ext cx="1097282" cy="10972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0" name="1"/>
            <p:cNvSpPr txBox="1"/>
            <p:nvPr/>
          </p:nvSpPr>
          <p:spPr>
            <a:xfrm>
              <a:off x="206412" y="273972"/>
              <a:ext cx="684456" cy="54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3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02" name="TextBox 2"/>
          <p:cNvSpPr txBox="1"/>
          <p:nvPr/>
        </p:nvSpPr>
        <p:spPr>
          <a:xfrm>
            <a:off x="2331719" y="2286000"/>
            <a:ext cx="8595362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Welcome &amp; Framing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2331719" y="3200400"/>
            <a:ext cx="8595362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4A55A"/>
                </a:solidFill>
              </a:defRPr>
            </a:lvl1pPr>
          </a:lstStyle>
          <a:p>
            <a:pPr/>
            <a:r>
              <a:t>You don't need to be a technology expert. You need to be a clinician who knows what your learners need.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Conflict of Interest &amp; Session Format</a:t>
            </a:r>
          </a:p>
        </p:txBody>
      </p:sp>
      <p:sp>
        <p:nvSpPr>
          <p:cNvPr id="107" name="TextBox 3"/>
          <p:cNvSpPr txBox="1"/>
          <p:nvPr/>
        </p:nvSpPr>
        <p:spPr>
          <a:xfrm>
            <a:off x="685800" y="1371600"/>
            <a:ext cx="5394961" cy="259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COI: Diana Brewer is a co-founder of Sapient Clinician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This session is vendor-neutral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60 min: ~35 min presentation + 20 min workshop + 5 min share &amp; wrap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Keep the Workshop Guide open on your phone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Think · Pair · Share after each section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Everything stays available after the conference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7360919" y="2286000"/>
            <a:ext cx="40233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[QR code → Workshop Guide page]</a:t>
            </a:r>
          </a:p>
        </p:txBody>
      </p:sp>
      <p:sp>
        <p:nvSpPr>
          <p:cNvPr id="109" name="Rectangle 5"/>
          <p:cNvSpPr/>
          <p:nvPr/>
        </p:nvSpPr>
        <p:spPr>
          <a:xfrm>
            <a:off x="7772400" y="2560320"/>
            <a:ext cx="3200400" cy="32004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D5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Oval 1"/>
          <p:cNvGrpSpPr/>
          <p:nvPr/>
        </p:nvGrpSpPr>
        <p:grpSpPr>
          <a:xfrm>
            <a:off x="914399" y="2285999"/>
            <a:ext cx="1097282" cy="1097282"/>
            <a:chOff x="0" y="0"/>
            <a:chExt cx="1097280" cy="1097280"/>
          </a:xfrm>
        </p:grpSpPr>
        <p:sp>
          <p:nvSpPr>
            <p:cNvPr id="111" name="Circle"/>
            <p:cNvSpPr/>
            <p:nvPr/>
          </p:nvSpPr>
          <p:spPr>
            <a:xfrm>
              <a:off x="-1" y="-1"/>
              <a:ext cx="1097282" cy="10972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2" name="2"/>
            <p:cNvSpPr txBox="1"/>
            <p:nvPr/>
          </p:nvSpPr>
          <p:spPr>
            <a:xfrm>
              <a:off x="206412" y="273972"/>
              <a:ext cx="684456" cy="54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3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14" name="TextBox 2"/>
          <p:cNvSpPr txBox="1"/>
          <p:nvPr/>
        </p:nvSpPr>
        <p:spPr>
          <a:xfrm>
            <a:off x="2331719" y="2286000"/>
            <a:ext cx="8595362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Objective 1 — Digital Tools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2331719" y="3200400"/>
            <a:ext cx="85953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4A55A"/>
                </a:solidFill>
              </a:defRPr>
            </a:lvl1pPr>
          </a:lstStyle>
          <a:p>
            <a:pPr/>
            <a:r>
              <a:t>Free or low-cost platforms for creating interactive content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Demo: Branching Clinical Scenario</a:t>
            </a:r>
          </a:p>
        </p:txBody>
      </p:sp>
      <p:sp>
        <p:nvSpPr>
          <p:cNvPr id="119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Try this on your phone now</a:t>
            </a:r>
          </a:p>
        </p:txBody>
      </p:sp>
      <p:sp>
        <p:nvSpPr>
          <p:cNvPr id="120" name="Rectangle 4"/>
          <p:cNvSpPr/>
          <p:nvPr/>
        </p:nvSpPr>
        <p:spPr>
          <a:xfrm>
            <a:off x="640080" y="1371600"/>
            <a:ext cx="5486401" cy="411480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5"/>
          <p:cNvSpPr/>
          <p:nvPr/>
        </p:nvSpPr>
        <p:spPr>
          <a:xfrm>
            <a:off x="640080" y="1371600"/>
            <a:ext cx="50801" cy="41148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6"/>
          <p:cNvSpPr txBox="1"/>
          <p:nvPr/>
        </p:nvSpPr>
        <p:spPr>
          <a:xfrm>
            <a:off x="960119" y="1554480"/>
            <a:ext cx="49377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D5F7C"/>
                </a:solidFill>
              </a:defRPr>
            </a:lvl1pPr>
          </a:lstStyle>
          <a:p>
            <a:pPr/>
            <a:r>
              <a:t>WHAT IT IS</a:t>
            </a:r>
          </a:p>
        </p:txBody>
      </p:sp>
      <p:sp>
        <p:nvSpPr>
          <p:cNvPr id="123" name="TextBox 7"/>
          <p:cNvSpPr txBox="1"/>
          <p:nvPr/>
        </p:nvSpPr>
        <p:spPr>
          <a:xfrm>
            <a:off x="960119" y="1920239"/>
            <a:ext cx="4937762" cy="2301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65-year-old with acute confusion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Make decisions, see consequences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Built with H5P (free, open-source)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No programming required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Every decision is a clinical action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The reasoning path IS the assessment</a:t>
            </a:r>
          </a:p>
        </p:txBody>
      </p:sp>
      <p:sp>
        <p:nvSpPr>
          <p:cNvPr id="124" name="Rectangle 8"/>
          <p:cNvSpPr/>
          <p:nvPr/>
        </p:nvSpPr>
        <p:spPr>
          <a:xfrm>
            <a:off x="6583680" y="1371600"/>
            <a:ext cx="5029201" cy="1828800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9"/>
          <p:cNvSpPr/>
          <p:nvPr/>
        </p:nvSpPr>
        <p:spPr>
          <a:xfrm>
            <a:off x="6583680" y="1371600"/>
            <a:ext cx="50801" cy="18288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10"/>
          <p:cNvSpPr txBox="1"/>
          <p:nvPr/>
        </p:nvSpPr>
        <p:spPr>
          <a:xfrm>
            <a:off x="6903719" y="1554480"/>
            <a:ext cx="4480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TRY IT NOW</a:t>
            </a:r>
          </a:p>
        </p:txBody>
      </p:sp>
      <p:sp>
        <p:nvSpPr>
          <p:cNvPr id="127" name="TextBox 11"/>
          <p:cNvSpPr txBox="1"/>
          <p:nvPr/>
        </p:nvSpPr>
        <p:spPr>
          <a:xfrm>
            <a:off x="6903719" y="1920239"/>
            <a:ext cx="4480562" cy="36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▶ Branching Scenario Demo</a:t>
            </a:r>
          </a:p>
        </p:txBody>
      </p:sp>
      <p:sp>
        <p:nvSpPr>
          <p:cNvPr id="128" name="TextBox 12"/>
          <p:cNvSpPr txBox="1"/>
          <p:nvPr/>
        </p:nvSpPr>
        <p:spPr>
          <a:xfrm>
            <a:off x="6903719" y="2743200"/>
            <a:ext cx="4480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A6B7E"/>
                </a:solidFill>
              </a:defRPr>
            </a:lvl1pPr>
          </a:lstStyle>
          <a:p>
            <a:pPr/>
            <a:r>
              <a:t>Cost to recreate: $0  ·  Time to build: ~1 hour</a:t>
            </a:r>
          </a:p>
        </p:txBody>
      </p:sp>
      <p:sp>
        <p:nvSpPr>
          <p:cNvPr id="129" name="TextBox 13"/>
          <p:cNvSpPr txBox="1"/>
          <p:nvPr/>
        </p:nvSpPr>
        <p:spPr>
          <a:xfrm>
            <a:off x="6903719" y="3657600"/>
            <a:ext cx="4480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Workshop Guide → Section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Tool Reference — Content Creation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Full list with pricing and links in the Workshop Guide</a:t>
            </a:r>
          </a:p>
        </p:txBody>
      </p:sp>
      <p:graphicFrame>
        <p:nvGraphicFramePr>
          <p:cNvPr id="134" name="Table 4"/>
          <p:cNvGraphicFramePr/>
          <p:nvPr/>
        </p:nvGraphicFramePr>
        <p:xfrm>
          <a:off x="457200" y="1371600"/>
          <a:ext cx="11247120" cy="224027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286000"/>
                <a:gridCol w="2560320"/>
                <a:gridCol w="64008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Canva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~$14/mo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Infographics, visual cases, AI-assisted design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H5P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8659"/>
                          </a:solidFill>
                        </a:rPr>
                        <a:t>Free (OSS)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Branching scenarios, interactive content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Nearpod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$120/yr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Live interactive lectures, formative assessment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Pear Deck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$150/yr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Interactive slides with embedded questions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Gamma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$10/mo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AI-generated presentations from a prompt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MedEdPORTAL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8659"/>
                          </a:solidFill>
                        </a:rPr>
                        <a:t>Free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Peer-reviewed, ready-to-use teaching modules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5" name="Rectangle 5"/>
          <p:cNvSpPr/>
          <p:nvPr/>
        </p:nvSpPr>
        <p:spPr>
          <a:xfrm>
            <a:off x="457199" y="5303520"/>
            <a:ext cx="11247122" cy="1097281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6"/>
          <p:cNvSpPr/>
          <p:nvPr/>
        </p:nvSpPr>
        <p:spPr>
          <a:xfrm>
            <a:off x="457200" y="5303520"/>
            <a:ext cx="50800" cy="109728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7"/>
          <p:cNvSpPr txBox="1"/>
          <p:nvPr/>
        </p:nvSpPr>
        <p:spPr>
          <a:xfrm>
            <a:off x="731520" y="5376671"/>
            <a:ext cx="10789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E8833A"/>
                </a:solidFill>
              </a:defRPr>
            </a:lvl1pPr>
          </a:lstStyle>
          <a:p>
            <a:pPr/>
            <a:r>
              <a:t>IMPORTANT</a:t>
            </a:r>
          </a:p>
        </p:txBody>
      </p:sp>
      <p:sp>
        <p:nvSpPr>
          <p:cNvPr id="138" name="TextBox 8"/>
          <p:cNvSpPr txBox="1"/>
          <p:nvPr/>
        </p:nvSpPr>
        <p:spPr>
          <a:xfrm>
            <a:off x="731520" y="5669279"/>
            <a:ext cx="10789920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A2332"/>
                </a:solidFill>
              </a:defRPr>
            </a:lvl1pPr>
          </a:lstStyle>
          <a:p>
            <a:pPr/>
            <a:r>
              <a:t>Study tools (Anki, Quizlet, Brainscape) support memorization, NOT assessment. In the AI era, any assessment that asks students to select an answer can be solved by AI.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Think · Pair · Share — 2 min</a:t>
            </a:r>
          </a:p>
        </p:txBody>
      </p:sp>
      <p:sp>
        <p:nvSpPr>
          <p:cNvPr id="142" name="Rectangle 3"/>
          <p:cNvSpPr/>
          <p:nvPr/>
        </p:nvSpPr>
        <p:spPr>
          <a:xfrm>
            <a:off x="640080" y="1371600"/>
            <a:ext cx="10972801" cy="365760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Rectangle 4"/>
          <p:cNvSpPr/>
          <p:nvPr/>
        </p:nvSpPr>
        <p:spPr>
          <a:xfrm>
            <a:off x="640080" y="1371600"/>
            <a:ext cx="50801" cy="36576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5"/>
          <p:cNvSpPr txBox="1"/>
          <p:nvPr/>
        </p:nvSpPr>
        <p:spPr>
          <a:xfrm>
            <a:off x="1143000" y="1828800"/>
            <a:ext cx="9966961" cy="198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Turn to your table group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Share one tool you already use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Share one tool from the list you're curious about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What's one educational challenge you wish you had a tool for?</a:t>
            </a:r>
          </a:p>
        </p:txBody>
      </p:sp>
      <p:sp>
        <p:nvSpPr>
          <p:cNvPr id="145" name="TextBox 6"/>
          <p:cNvSpPr txBox="1"/>
          <p:nvPr/>
        </p:nvSpPr>
        <p:spPr>
          <a:xfrm>
            <a:off x="1143000" y="5303520"/>
            <a:ext cx="99669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Workshop Guide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The Pedagogical Challenge</a:t>
            </a:r>
          </a:p>
        </p:txBody>
      </p:sp>
      <p:sp>
        <p:nvSpPr>
          <p:cNvPr id="155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In the AI era, we must rethink assessment</a:t>
            </a:r>
          </a:p>
        </p:txBody>
      </p:sp>
      <p:sp>
        <p:nvSpPr>
          <p:cNvPr id="156" name="Rectangle 4"/>
          <p:cNvSpPr/>
          <p:nvPr/>
        </p:nvSpPr>
        <p:spPr>
          <a:xfrm>
            <a:off x="640080" y="1371600"/>
            <a:ext cx="10972801" cy="3657600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Rectangle 5"/>
          <p:cNvSpPr/>
          <p:nvPr/>
        </p:nvSpPr>
        <p:spPr>
          <a:xfrm>
            <a:off x="640080" y="1371600"/>
            <a:ext cx="50801" cy="36576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6"/>
          <p:cNvSpPr txBox="1"/>
          <p:nvPr/>
        </p:nvSpPr>
        <p:spPr>
          <a:xfrm>
            <a:off x="960119" y="1554480"/>
            <a:ext cx="99669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THE CORE MESSAGE</a:t>
            </a:r>
          </a:p>
        </p:txBody>
      </p:sp>
      <p:sp>
        <p:nvSpPr>
          <p:cNvPr id="159" name="TextBox 7"/>
          <p:cNvSpPr txBox="1"/>
          <p:nvPr/>
        </p:nvSpPr>
        <p:spPr>
          <a:xfrm>
            <a:off x="960119" y="2011679"/>
            <a:ext cx="9966962" cy="3088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If we use AI to create multiple-choice quizzes, students will use AI to answer them.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That's not education — that's an arms race we've already lost.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Use AI to create cognitively demanding, authentic learning experiences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that AI can't do for the student: simulated encounters, reflective writing,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clinical reasoning cases, formative feedback on authentic work.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Use AI to build the scaffolding, not to replace the thinking.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Objective 2 — Conversational Chatbots</a:t>
            </a:r>
          </a:p>
        </p:txBody>
      </p:sp>
      <p:sp>
        <p:nvSpPr>
          <p:cNvPr id="163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Conversational tools that generate content — and can hallucinate · Full list with pricing in the Workshop Guide → Section 3</a:t>
            </a:r>
          </a:p>
        </p:txBody>
      </p:sp>
      <p:graphicFrame>
        <p:nvGraphicFramePr>
          <p:cNvPr id="164" name="Table 4"/>
          <p:cNvGraphicFramePr/>
          <p:nvPr/>
        </p:nvGraphicFramePr>
        <p:xfrm>
          <a:off x="457200" y="1371600"/>
          <a:ext cx="11247120" cy="192023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2286000"/>
                <a:gridCol w="7132319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Key Features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ChatGPT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$20/mo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Most versatile. File upload. Voice mode. Custom GPTs.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Claude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$17/mo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Best for long content, complex reasoning. 200K context.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Gemini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$20/mo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Google Workspace integration. Deep Research with citations.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Grok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w/ X / ~$30/mo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Real-time web search. No enterprise/EDU plan.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Copilot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$10/mo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M365 integration. Many institutions already include it.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D5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Oval 1"/>
          <p:cNvGrpSpPr/>
          <p:nvPr/>
        </p:nvGrpSpPr>
        <p:grpSpPr>
          <a:xfrm>
            <a:off x="914399" y="2285999"/>
            <a:ext cx="1097282" cy="1097282"/>
            <a:chOff x="0" y="0"/>
            <a:chExt cx="1097280" cy="1097280"/>
          </a:xfrm>
        </p:grpSpPr>
        <p:sp>
          <p:nvSpPr>
            <p:cNvPr id="166" name="Circle"/>
            <p:cNvSpPr/>
            <p:nvPr/>
          </p:nvSpPr>
          <p:spPr>
            <a:xfrm>
              <a:off x="-1" y="-1"/>
              <a:ext cx="1097282" cy="10972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7" name="4"/>
            <p:cNvSpPr txBox="1"/>
            <p:nvPr/>
          </p:nvSpPr>
          <p:spPr>
            <a:xfrm>
              <a:off x="206412" y="273972"/>
              <a:ext cx="684456" cy="54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3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169" name="TextBox 2"/>
          <p:cNvSpPr txBox="1"/>
          <p:nvPr/>
        </p:nvSpPr>
        <p:spPr>
          <a:xfrm>
            <a:off x="2331719" y="2286000"/>
            <a:ext cx="8595362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Objective 2 — Grounding AI</a:t>
            </a:r>
          </a:p>
        </p:txBody>
      </p:sp>
      <p:sp>
        <p:nvSpPr>
          <p:cNvPr id="170" name="TextBox 3"/>
          <p:cNvSpPr txBox="1"/>
          <p:nvPr/>
        </p:nvSpPr>
        <p:spPr>
          <a:xfrm>
            <a:off x="2331719" y="3200400"/>
            <a:ext cx="85953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4A55A"/>
                </a:solidFill>
              </a:defRPr>
            </a:lvl1pPr>
          </a:lstStyle>
          <a:p>
            <a:pPr/>
            <a:r>
              <a:t>Preventing hallucinations by grounding in your source material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Data Aggregation &amp; Grounding Tools</a:t>
            </a:r>
          </a:p>
        </p:txBody>
      </p:sp>
      <p:sp>
        <p:nvSpPr>
          <p:cNvPr id="174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RAG without writing code</a:t>
            </a:r>
          </a:p>
        </p:txBody>
      </p:sp>
      <p:sp>
        <p:nvSpPr>
          <p:cNvPr id="175" name="Rectangle 4"/>
          <p:cNvSpPr/>
          <p:nvPr/>
        </p:nvSpPr>
        <p:spPr>
          <a:xfrm>
            <a:off x="457199" y="1371600"/>
            <a:ext cx="11247122" cy="2743200"/>
          </a:xfrm>
          <a:prstGeom prst="rect">
            <a:avLst/>
          </a:prstGeom>
          <a:solidFill>
            <a:srgbClr val="F0F8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5"/>
          <p:cNvSpPr/>
          <p:nvPr/>
        </p:nvSpPr>
        <p:spPr>
          <a:xfrm>
            <a:off x="457200" y="1371600"/>
            <a:ext cx="50800" cy="2743200"/>
          </a:xfrm>
          <a:prstGeom prst="rect">
            <a:avLst/>
          </a:prstGeom>
          <a:solidFill>
            <a:srgbClr val="2D865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6"/>
          <p:cNvSpPr txBox="1"/>
          <p:nvPr/>
        </p:nvSpPr>
        <p:spPr>
          <a:xfrm>
            <a:off x="777239" y="1554480"/>
            <a:ext cx="10424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D8659"/>
                </a:solidFill>
              </a:defRPr>
            </a:lvl1pPr>
          </a:lstStyle>
          <a:p>
            <a:pPr/>
            <a:r>
              <a:t>⭐ THE MOST IMPORTANT TOOL IN THIS SESSION</a:t>
            </a:r>
          </a:p>
        </p:txBody>
      </p:sp>
      <p:sp>
        <p:nvSpPr>
          <p:cNvPr id="178" name="TextBox 7"/>
          <p:cNvSpPr txBox="1"/>
          <p:nvPr/>
        </p:nvSpPr>
        <p:spPr>
          <a:xfrm>
            <a:off x="777239" y="1920239"/>
            <a:ext cx="1042416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E4258"/>
                </a:solidFill>
              </a:defRPr>
            </a:lvl1pPr>
          </a:lstStyle>
          <a:p>
            <a:pPr/>
            <a:r>
              <a:t>Google NotebookLM — FREE</a:t>
            </a:r>
          </a:p>
        </p:txBody>
      </p:sp>
      <p:sp>
        <p:nvSpPr>
          <p:cNvPr id="179" name="TextBox 8"/>
          <p:cNvSpPr txBox="1"/>
          <p:nvPr/>
        </p:nvSpPr>
        <p:spPr>
          <a:xfrm>
            <a:off x="777239" y="2468879"/>
            <a:ext cx="10424161" cy="1011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1A2332"/>
                </a:solidFill>
              </a:defRPr>
            </a:pPr>
            <a:r>
              <a:t>• Upload your source documents → AI responses grounded ONLY in what you uploaded</a:t>
            </a:r>
          </a:p>
          <a:p>
            <a:pPr>
              <a:spcBef>
                <a:spcPts val="800"/>
              </a:spcBef>
              <a:defRPr sz="1600">
                <a:solidFill>
                  <a:srgbClr val="1A2332"/>
                </a:solidFill>
              </a:defRPr>
            </a:pPr>
            <a:r>
              <a:t>• If the answer isn't in your documents, it says so. Zero hallucination risk.</a:t>
            </a:r>
          </a:p>
          <a:p>
            <a:pPr>
              <a:spcBef>
                <a:spcPts val="800"/>
              </a:spcBef>
              <a:defRPr sz="1600">
                <a:solidFill>
                  <a:srgbClr val="1A2332"/>
                </a:solidFill>
              </a:defRPr>
            </a:pPr>
            <a:r>
              <a:t>• Generates study guides, FAQs, and audio podcast discussions</a:t>
            </a:r>
          </a:p>
        </p:txBody>
      </p:sp>
      <p:graphicFrame>
        <p:nvGraphicFramePr>
          <p:cNvPr id="180" name="Table 9"/>
          <p:cNvGraphicFramePr/>
          <p:nvPr/>
        </p:nvGraphicFramePr>
        <p:xfrm>
          <a:off x="457200" y="4389120"/>
          <a:ext cx="11247120" cy="96012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286000"/>
                <a:gridCol w="2560320"/>
                <a:gridCol w="64008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Perplexity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/ $20/mo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AI answer engine that cites every source. Best for EBM exercises.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DeepSeek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8659"/>
                          </a:solidFill>
                        </a:rPr>
                        <a:t>Free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Reasoning model with visible chain-of-thought. Self-hostable for privacy.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The Grounded AI Workflow — No Code Required</a:t>
            </a:r>
          </a:p>
        </p:txBody>
      </p:sp>
      <p:sp>
        <p:nvSpPr>
          <p:cNvPr id="184" name="Rectangle 3"/>
          <p:cNvSpPr/>
          <p:nvPr/>
        </p:nvSpPr>
        <p:spPr>
          <a:xfrm>
            <a:off x="365759" y="1645920"/>
            <a:ext cx="2194562" cy="36576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 4"/>
          <p:cNvSpPr/>
          <p:nvPr/>
        </p:nvSpPr>
        <p:spPr>
          <a:xfrm>
            <a:off x="365759" y="1645920"/>
            <a:ext cx="2194562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88" name="Oval 5"/>
          <p:cNvGrpSpPr/>
          <p:nvPr/>
        </p:nvGrpSpPr>
        <p:grpSpPr>
          <a:xfrm>
            <a:off x="1097280" y="1828799"/>
            <a:ext cx="731521" cy="731522"/>
            <a:chOff x="0" y="0"/>
            <a:chExt cx="731520" cy="731520"/>
          </a:xfrm>
        </p:grpSpPr>
        <p:sp>
          <p:nvSpPr>
            <p:cNvPr id="186" name="Circle"/>
            <p:cNvSpPr/>
            <p:nvPr/>
          </p:nvSpPr>
          <p:spPr>
            <a:xfrm>
              <a:off x="-1" y="-1"/>
              <a:ext cx="731522" cy="73152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1"/>
            <p:cNvSpPr txBox="1"/>
            <p:nvPr/>
          </p:nvSpPr>
          <p:spPr>
            <a:xfrm>
              <a:off x="152848" y="195669"/>
              <a:ext cx="425824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89" name="TextBox 6"/>
          <p:cNvSpPr txBox="1"/>
          <p:nvPr/>
        </p:nvSpPr>
        <p:spPr>
          <a:xfrm>
            <a:off x="502920" y="2743200"/>
            <a:ext cx="192023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1E4258"/>
                </a:solidFill>
              </a:defRPr>
            </a:lvl1pPr>
          </a:lstStyle>
          <a:p>
            <a:pPr/>
            <a:r>
              <a:t>Prepare</a:t>
            </a:r>
          </a:p>
        </p:txBody>
      </p:sp>
      <p:sp>
        <p:nvSpPr>
          <p:cNvPr id="190" name="TextBox 7"/>
          <p:cNvSpPr txBox="1"/>
          <p:nvPr/>
        </p:nvSpPr>
        <p:spPr>
          <a:xfrm>
            <a:off x="502920" y="3291840"/>
            <a:ext cx="1920239" cy="867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A6B7E"/>
                </a:solidFill>
              </a:defRPr>
            </a:pPr>
            <a:r>
              <a:t>Gather your source material:</a:t>
            </a:r>
            <a:br/>
            <a:r>
              <a:t>guidelines, case notes,</a:t>
            </a:r>
            <a:br/>
            <a:r>
              <a:t>articles, lecture slides</a:t>
            </a:r>
          </a:p>
        </p:txBody>
      </p:sp>
      <p:sp>
        <p:nvSpPr>
          <p:cNvPr id="191" name="Rectangle 8"/>
          <p:cNvSpPr/>
          <p:nvPr/>
        </p:nvSpPr>
        <p:spPr>
          <a:xfrm>
            <a:off x="2743199" y="1645920"/>
            <a:ext cx="2194562" cy="36576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Rectangle 9"/>
          <p:cNvSpPr/>
          <p:nvPr/>
        </p:nvSpPr>
        <p:spPr>
          <a:xfrm>
            <a:off x="2743199" y="1645920"/>
            <a:ext cx="2194562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95" name="Oval 10"/>
          <p:cNvGrpSpPr/>
          <p:nvPr/>
        </p:nvGrpSpPr>
        <p:grpSpPr>
          <a:xfrm>
            <a:off x="3474720" y="1828799"/>
            <a:ext cx="731521" cy="731522"/>
            <a:chOff x="0" y="0"/>
            <a:chExt cx="731520" cy="731520"/>
          </a:xfrm>
        </p:grpSpPr>
        <p:sp>
          <p:nvSpPr>
            <p:cNvPr id="193" name="Circle"/>
            <p:cNvSpPr/>
            <p:nvPr/>
          </p:nvSpPr>
          <p:spPr>
            <a:xfrm>
              <a:off x="-1" y="-1"/>
              <a:ext cx="731522" cy="73152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4" name="2"/>
            <p:cNvSpPr txBox="1"/>
            <p:nvPr/>
          </p:nvSpPr>
          <p:spPr>
            <a:xfrm>
              <a:off x="152848" y="195669"/>
              <a:ext cx="425824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96" name="TextBox 11"/>
          <p:cNvSpPr txBox="1"/>
          <p:nvPr/>
        </p:nvSpPr>
        <p:spPr>
          <a:xfrm>
            <a:off x="2880359" y="2743200"/>
            <a:ext cx="19202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1E4258"/>
                </a:solidFill>
              </a:defRPr>
            </a:lvl1pPr>
          </a:lstStyle>
          <a:p>
            <a:pPr/>
            <a:r>
              <a:t>Upload</a:t>
            </a:r>
          </a:p>
        </p:txBody>
      </p:sp>
      <p:sp>
        <p:nvSpPr>
          <p:cNvPr id="197" name="TextBox 12"/>
          <p:cNvSpPr txBox="1"/>
          <p:nvPr/>
        </p:nvSpPr>
        <p:spPr>
          <a:xfrm>
            <a:off x="2880359" y="3291840"/>
            <a:ext cx="1920240" cy="867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A6B7E"/>
                </a:solidFill>
              </a:defRPr>
            </a:pPr>
            <a:r>
              <a:t>Upload to NotebookLM (free)</a:t>
            </a:r>
            <a:br/>
            <a:r>
              <a:t>or ChatGPT/Claude with</a:t>
            </a:r>
            <a:br/>
            <a:r>
              <a:t>file upload</a:t>
            </a:r>
          </a:p>
        </p:txBody>
      </p:sp>
      <p:sp>
        <p:nvSpPr>
          <p:cNvPr id="198" name="Rectangle 13"/>
          <p:cNvSpPr/>
          <p:nvPr/>
        </p:nvSpPr>
        <p:spPr>
          <a:xfrm>
            <a:off x="5120640" y="1645920"/>
            <a:ext cx="2194561" cy="36576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Rectangle 14"/>
          <p:cNvSpPr/>
          <p:nvPr/>
        </p:nvSpPr>
        <p:spPr>
          <a:xfrm>
            <a:off x="5120640" y="1645920"/>
            <a:ext cx="2194561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2" name="Oval 15"/>
          <p:cNvGrpSpPr/>
          <p:nvPr/>
        </p:nvGrpSpPr>
        <p:grpSpPr>
          <a:xfrm>
            <a:off x="5852159" y="1828799"/>
            <a:ext cx="731521" cy="731522"/>
            <a:chOff x="0" y="0"/>
            <a:chExt cx="731520" cy="731520"/>
          </a:xfrm>
        </p:grpSpPr>
        <p:sp>
          <p:nvSpPr>
            <p:cNvPr id="200" name="Circle"/>
            <p:cNvSpPr/>
            <p:nvPr/>
          </p:nvSpPr>
          <p:spPr>
            <a:xfrm>
              <a:off x="-1" y="-1"/>
              <a:ext cx="731522" cy="73152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1" name="3"/>
            <p:cNvSpPr txBox="1"/>
            <p:nvPr/>
          </p:nvSpPr>
          <p:spPr>
            <a:xfrm>
              <a:off x="152848" y="195669"/>
              <a:ext cx="425824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03" name="TextBox 16"/>
          <p:cNvSpPr txBox="1"/>
          <p:nvPr/>
        </p:nvSpPr>
        <p:spPr>
          <a:xfrm>
            <a:off x="5257799" y="2743200"/>
            <a:ext cx="19202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1E4258"/>
                </a:solidFill>
              </a:defRPr>
            </a:lvl1pPr>
          </a:lstStyle>
          <a:p>
            <a:pPr/>
            <a:r>
              <a:t>Ground</a:t>
            </a:r>
          </a:p>
        </p:txBody>
      </p:sp>
      <p:sp>
        <p:nvSpPr>
          <p:cNvPr id="204" name="TextBox 17"/>
          <p:cNvSpPr txBox="1"/>
          <p:nvPr/>
        </p:nvSpPr>
        <p:spPr>
          <a:xfrm>
            <a:off x="5257799" y="3291840"/>
            <a:ext cx="1920240" cy="867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A6B7E"/>
                </a:solidFill>
              </a:defRPr>
            </a:pPr>
            <a:r>
              <a:t>Add this instruction:</a:t>
            </a:r>
            <a:br/>
            <a:r>
              <a:t>"Base your response only</a:t>
            </a:r>
            <a:br/>
            <a:r>
              <a:t>on the attached documents"</a:t>
            </a:r>
          </a:p>
        </p:txBody>
      </p:sp>
      <p:sp>
        <p:nvSpPr>
          <p:cNvPr id="205" name="Rectangle 18"/>
          <p:cNvSpPr/>
          <p:nvPr/>
        </p:nvSpPr>
        <p:spPr>
          <a:xfrm>
            <a:off x="7498080" y="1645920"/>
            <a:ext cx="2194561" cy="36576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Rectangle 19"/>
          <p:cNvSpPr/>
          <p:nvPr/>
        </p:nvSpPr>
        <p:spPr>
          <a:xfrm>
            <a:off x="7498080" y="1645920"/>
            <a:ext cx="2194561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9" name="Oval 20"/>
          <p:cNvGrpSpPr/>
          <p:nvPr/>
        </p:nvGrpSpPr>
        <p:grpSpPr>
          <a:xfrm>
            <a:off x="8229599" y="1828799"/>
            <a:ext cx="731522" cy="731522"/>
            <a:chOff x="0" y="0"/>
            <a:chExt cx="731520" cy="731520"/>
          </a:xfrm>
        </p:grpSpPr>
        <p:sp>
          <p:nvSpPr>
            <p:cNvPr id="207" name="Circle"/>
            <p:cNvSpPr/>
            <p:nvPr/>
          </p:nvSpPr>
          <p:spPr>
            <a:xfrm>
              <a:off x="-1" y="-1"/>
              <a:ext cx="731522" cy="73152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8" name="4"/>
            <p:cNvSpPr txBox="1"/>
            <p:nvPr/>
          </p:nvSpPr>
          <p:spPr>
            <a:xfrm>
              <a:off x="152848" y="195669"/>
              <a:ext cx="425824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210" name="TextBox 21"/>
          <p:cNvSpPr txBox="1"/>
          <p:nvPr/>
        </p:nvSpPr>
        <p:spPr>
          <a:xfrm>
            <a:off x="7635239" y="2743200"/>
            <a:ext cx="19202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1E4258"/>
                </a:solidFill>
              </a:defRPr>
            </a:lvl1pPr>
          </a:lstStyle>
          <a:p>
            <a:pPr/>
            <a:r>
              <a:t>Verify</a:t>
            </a:r>
          </a:p>
        </p:txBody>
      </p:sp>
      <p:sp>
        <p:nvSpPr>
          <p:cNvPr id="211" name="TextBox 22"/>
          <p:cNvSpPr txBox="1"/>
          <p:nvPr/>
        </p:nvSpPr>
        <p:spPr>
          <a:xfrm>
            <a:off x="7635239" y="3291840"/>
            <a:ext cx="1920240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A6B7E"/>
                </a:solidFill>
              </a:defRPr>
            </a:pPr>
            <a:r>
              <a:t>Spot-check lab values,</a:t>
            </a:r>
            <a:br/>
            <a:r>
              <a:t>drug dosages, clinical</a:t>
            </a:r>
            <a:br/>
            <a:r>
              <a:t>facts against your source</a:t>
            </a:r>
          </a:p>
        </p:txBody>
      </p:sp>
      <p:sp>
        <p:nvSpPr>
          <p:cNvPr id="212" name="Rectangle 23"/>
          <p:cNvSpPr/>
          <p:nvPr/>
        </p:nvSpPr>
        <p:spPr>
          <a:xfrm>
            <a:off x="9875519" y="1645920"/>
            <a:ext cx="2194561" cy="36576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Rectangle 24"/>
          <p:cNvSpPr/>
          <p:nvPr/>
        </p:nvSpPr>
        <p:spPr>
          <a:xfrm>
            <a:off x="9875519" y="1645920"/>
            <a:ext cx="2194561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6" name="Oval 25"/>
          <p:cNvGrpSpPr/>
          <p:nvPr/>
        </p:nvGrpSpPr>
        <p:grpSpPr>
          <a:xfrm>
            <a:off x="10607040" y="1828799"/>
            <a:ext cx="731521" cy="731522"/>
            <a:chOff x="0" y="0"/>
            <a:chExt cx="731520" cy="731520"/>
          </a:xfrm>
        </p:grpSpPr>
        <p:sp>
          <p:nvSpPr>
            <p:cNvPr id="214" name="Circle"/>
            <p:cNvSpPr/>
            <p:nvPr/>
          </p:nvSpPr>
          <p:spPr>
            <a:xfrm>
              <a:off x="-1" y="-1"/>
              <a:ext cx="731522" cy="73152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5" name="5"/>
            <p:cNvSpPr txBox="1"/>
            <p:nvPr/>
          </p:nvSpPr>
          <p:spPr>
            <a:xfrm>
              <a:off x="152848" y="195669"/>
              <a:ext cx="425824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17" name="TextBox 26"/>
          <p:cNvSpPr txBox="1"/>
          <p:nvPr/>
        </p:nvSpPr>
        <p:spPr>
          <a:xfrm>
            <a:off x="10012679" y="2743200"/>
            <a:ext cx="19202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1E4258"/>
                </a:solidFill>
              </a:defRPr>
            </a:lvl1pPr>
          </a:lstStyle>
          <a:p>
            <a:pPr/>
            <a:r>
              <a:t>Reuse</a:t>
            </a:r>
          </a:p>
        </p:txBody>
      </p:sp>
      <p:sp>
        <p:nvSpPr>
          <p:cNvPr id="218" name="TextBox 27"/>
          <p:cNvSpPr txBox="1"/>
          <p:nvPr/>
        </p:nvSpPr>
        <p:spPr>
          <a:xfrm>
            <a:off x="10012679" y="3291840"/>
            <a:ext cx="1920240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5A6B7E"/>
                </a:solidFill>
              </a:defRPr>
            </a:pPr>
            <a:r>
              <a:t>Save the notebook.</a:t>
            </a:r>
            <a:br/>
            <a:r>
              <a:t>It becomes your personal</a:t>
            </a:r>
            <a:br/>
            <a:r>
              <a:t>AI case library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Live Demo: NotebookLM Grounding</a:t>
            </a:r>
          </a:p>
        </p:txBody>
      </p:sp>
      <p:sp>
        <p:nvSpPr>
          <p:cNvPr id="222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Show the problem, then the solution</a:t>
            </a:r>
          </a:p>
        </p:txBody>
      </p:sp>
      <p:sp>
        <p:nvSpPr>
          <p:cNvPr id="223" name="Rectangle 4"/>
          <p:cNvSpPr/>
          <p:nvPr/>
        </p:nvSpPr>
        <p:spPr>
          <a:xfrm>
            <a:off x="640080" y="1371600"/>
            <a:ext cx="5486401" cy="411480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5"/>
          <p:cNvSpPr/>
          <p:nvPr/>
        </p:nvSpPr>
        <p:spPr>
          <a:xfrm>
            <a:off x="640080" y="1371600"/>
            <a:ext cx="50801" cy="41148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6"/>
          <p:cNvSpPr txBox="1"/>
          <p:nvPr/>
        </p:nvSpPr>
        <p:spPr>
          <a:xfrm>
            <a:off x="960119" y="1554480"/>
            <a:ext cx="49377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D5F7C"/>
                </a:solidFill>
              </a:defRPr>
            </a:lvl1pPr>
          </a:lstStyle>
          <a:p>
            <a:pPr/>
            <a:r>
              <a:t>DEMO SCRIPT</a:t>
            </a:r>
          </a:p>
        </p:txBody>
      </p:sp>
      <p:sp>
        <p:nvSpPr>
          <p:cNvPr id="226" name="TextBox 7"/>
          <p:cNvSpPr txBox="1"/>
          <p:nvPr/>
        </p:nvSpPr>
        <p:spPr>
          <a:xfrm>
            <a:off x="960119" y="1920239"/>
            <a:ext cx="4937762" cy="1783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1A2332"/>
                </a:solidFill>
              </a:defRPr>
            </a:pPr>
            <a:r>
              <a:t>1. ChatGPT WITHOUT sources → show hallucination</a:t>
            </a:r>
          </a:p>
          <a:p>
            <a:pPr>
              <a:spcBef>
                <a:spcPts val="800"/>
              </a:spcBef>
              <a:defRPr sz="1700">
                <a:solidFill>
                  <a:srgbClr val="1A2332"/>
                </a:solidFill>
              </a:defRPr>
            </a:pPr>
            <a:r>
              <a:t>2. Open NotebookLM with pericarditis guidelines</a:t>
            </a:r>
          </a:p>
          <a:p>
            <a:pPr>
              <a:spcBef>
                <a:spcPts val="800"/>
              </a:spcBef>
              <a:defRPr sz="1700">
                <a:solidFill>
                  <a:srgbClr val="1A2332"/>
                </a:solidFill>
              </a:defRPr>
            </a:pPr>
            <a:r>
              <a:t>3. Same question → grounded, cited response</a:t>
            </a:r>
          </a:p>
          <a:p>
            <a:pPr>
              <a:spcBef>
                <a:spcPts val="800"/>
              </a:spcBef>
              <a:defRPr sz="1700">
                <a:solidFill>
                  <a:srgbClr val="1A2332"/>
                </a:solidFill>
              </a:defRPr>
            </a:pPr>
            <a:r>
              <a:t>4. Generate clinical reasoning exercise + rubric</a:t>
            </a:r>
          </a:p>
          <a:p>
            <a:pPr>
              <a:spcBef>
                <a:spcPts val="800"/>
              </a:spcBef>
              <a:defRPr sz="1700">
                <a:solidFill>
                  <a:srgbClr val="1A2332"/>
                </a:solidFill>
              </a:defRPr>
            </a:pPr>
            <a:r>
              <a:t>5. Audio Overview (podcast) — play 15 seconds</a:t>
            </a:r>
          </a:p>
        </p:txBody>
      </p:sp>
      <p:sp>
        <p:nvSpPr>
          <p:cNvPr id="227" name="Rectangle 8"/>
          <p:cNvSpPr/>
          <p:nvPr/>
        </p:nvSpPr>
        <p:spPr>
          <a:xfrm>
            <a:off x="6583680" y="1371600"/>
            <a:ext cx="5029201" cy="1828800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Rectangle 9"/>
          <p:cNvSpPr/>
          <p:nvPr/>
        </p:nvSpPr>
        <p:spPr>
          <a:xfrm>
            <a:off x="6583680" y="1371600"/>
            <a:ext cx="50801" cy="18288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10"/>
          <p:cNvSpPr txBox="1"/>
          <p:nvPr/>
        </p:nvSpPr>
        <p:spPr>
          <a:xfrm>
            <a:off x="6903719" y="1554480"/>
            <a:ext cx="4480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OPEN NOW</a:t>
            </a:r>
          </a:p>
        </p:txBody>
      </p:sp>
      <p:sp>
        <p:nvSpPr>
          <p:cNvPr id="230" name="TextBox 11"/>
          <p:cNvSpPr txBox="1"/>
          <p:nvPr/>
        </p:nvSpPr>
        <p:spPr>
          <a:xfrm>
            <a:off x="6903719" y="1920239"/>
            <a:ext cx="4480562" cy="36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▶ NotebookLM</a:t>
            </a:r>
          </a:p>
        </p:txBody>
      </p:sp>
      <p:sp>
        <p:nvSpPr>
          <p:cNvPr id="231" name="TextBox 12"/>
          <p:cNvSpPr txBox="1"/>
          <p:nvPr/>
        </p:nvSpPr>
        <p:spPr>
          <a:xfrm>
            <a:off x="6903719" y="3657600"/>
            <a:ext cx="4480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Workshop Guide → Section 4 (prompts)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Copy-Paste Prompt Templates</a:t>
            </a:r>
          </a:p>
        </p:txBody>
      </p:sp>
      <p:sp>
        <p:nvSpPr>
          <p:cNvPr id="235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Try these now — in the Workshop Guide → Section 4</a:t>
            </a:r>
          </a:p>
        </p:txBody>
      </p:sp>
      <p:sp>
        <p:nvSpPr>
          <p:cNvPr id="236" name="Rectangle 4"/>
          <p:cNvSpPr/>
          <p:nvPr/>
        </p:nvSpPr>
        <p:spPr>
          <a:xfrm>
            <a:off x="640080" y="1371600"/>
            <a:ext cx="10972801" cy="1005839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Rectangle 5"/>
          <p:cNvSpPr/>
          <p:nvPr/>
        </p:nvSpPr>
        <p:spPr>
          <a:xfrm>
            <a:off x="640080" y="1371600"/>
            <a:ext cx="50801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6"/>
          <p:cNvSpPr txBox="1"/>
          <p:nvPr/>
        </p:nvSpPr>
        <p:spPr>
          <a:xfrm>
            <a:off x="960119" y="1444752"/>
            <a:ext cx="12801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Prompt 1</a:t>
            </a:r>
          </a:p>
        </p:txBody>
      </p:sp>
      <p:sp>
        <p:nvSpPr>
          <p:cNvPr id="239" name="TextBox 7"/>
          <p:cNvSpPr txBox="1"/>
          <p:nvPr/>
        </p:nvSpPr>
        <p:spPr>
          <a:xfrm>
            <a:off x="2331719" y="1444752"/>
            <a:ext cx="4480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E4258"/>
                </a:solidFill>
              </a:defRPr>
            </a:lvl1pPr>
          </a:lstStyle>
          <a:p>
            <a:pPr/>
            <a:r>
              <a:t>Grounded Clinical Reasoning Case</a:t>
            </a:r>
          </a:p>
        </p:txBody>
      </p:sp>
      <p:sp>
        <p:nvSpPr>
          <p:cNvPr id="240" name="TextBox 8"/>
          <p:cNvSpPr txBox="1"/>
          <p:nvPr/>
        </p:nvSpPr>
        <p:spPr>
          <a:xfrm>
            <a:off x="960119" y="1828800"/>
            <a:ext cx="905256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A6B7E"/>
                </a:solidFill>
              </a:defRPr>
            </a:lvl1pPr>
          </a:lstStyle>
          <a:p>
            <a:pPr/>
            <a:r>
              <a:t>For NotebookLM or ChatGPT with file upload</a:t>
            </a:r>
          </a:p>
        </p:txBody>
      </p:sp>
      <p:sp>
        <p:nvSpPr>
          <p:cNvPr id="241" name="Rectangle 9"/>
          <p:cNvSpPr/>
          <p:nvPr/>
        </p:nvSpPr>
        <p:spPr>
          <a:xfrm>
            <a:off x="640080" y="2560320"/>
            <a:ext cx="10972801" cy="100584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Rectangle 10"/>
          <p:cNvSpPr/>
          <p:nvPr/>
        </p:nvSpPr>
        <p:spPr>
          <a:xfrm>
            <a:off x="640080" y="2560320"/>
            <a:ext cx="50801" cy="100584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11"/>
          <p:cNvSpPr txBox="1"/>
          <p:nvPr/>
        </p:nvSpPr>
        <p:spPr>
          <a:xfrm>
            <a:off x="960119" y="2633472"/>
            <a:ext cx="12801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Prompt 2</a:t>
            </a:r>
          </a:p>
        </p:txBody>
      </p:sp>
      <p:sp>
        <p:nvSpPr>
          <p:cNvPr id="244" name="TextBox 12"/>
          <p:cNvSpPr txBox="1"/>
          <p:nvPr/>
        </p:nvSpPr>
        <p:spPr>
          <a:xfrm>
            <a:off x="2331719" y="2633472"/>
            <a:ext cx="4480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E4258"/>
                </a:solidFill>
              </a:defRPr>
            </a:lvl1pPr>
          </a:lstStyle>
          <a:p>
            <a:pPr/>
            <a:r>
              <a:t>Simulated Patient Encounter</a:t>
            </a:r>
          </a:p>
        </p:txBody>
      </p:sp>
      <p:sp>
        <p:nvSpPr>
          <p:cNvPr id="245" name="TextBox 13"/>
          <p:cNvSpPr txBox="1"/>
          <p:nvPr/>
        </p:nvSpPr>
        <p:spPr>
          <a:xfrm>
            <a:off x="960119" y="3017520"/>
            <a:ext cx="90525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A6B7E"/>
                </a:solidFill>
              </a:defRPr>
            </a:lvl1pPr>
          </a:lstStyle>
          <a:p>
            <a:pPr/>
            <a:r>
              <a:t>For ChatGPT voice mode or Claude</a:t>
            </a:r>
          </a:p>
        </p:txBody>
      </p:sp>
      <p:sp>
        <p:nvSpPr>
          <p:cNvPr id="246" name="Rectangle 14"/>
          <p:cNvSpPr/>
          <p:nvPr/>
        </p:nvSpPr>
        <p:spPr>
          <a:xfrm>
            <a:off x="640080" y="3749038"/>
            <a:ext cx="10972801" cy="100584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Rectangle 15"/>
          <p:cNvSpPr/>
          <p:nvPr/>
        </p:nvSpPr>
        <p:spPr>
          <a:xfrm>
            <a:off x="640080" y="3749038"/>
            <a:ext cx="50801" cy="100584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16"/>
          <p:cNvSpPr txBox="1"/>
          <p:nvPr/>
        </p:nvSpPr>
        <p:spPr>
          <a:xfrm>
            <a:off x="960119" y="3822191"/>
            <a:ext cx="12801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Prompt 3</a:t>
            </a:r>
          </a:p>
        </p:txBody>
      </p:sp>
      <p:sp>
        <p:nvSpPr>
          <p:cNvPr id="249" name="TextBox 17"/>
          <p:cNvSpPr txBox="1"/>
          <p:nvPr/>
        </p:nvSpPr>
        <p:spPr>
          <a:xfrm>
            <a:off x="2331719" y="3822191"/>
            <a:ext cx="4480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E4258"/>
                </a:solidFill>
              </a:defRPr>
            </a:lvl1pPr>
          </a:lstStyle>
          <a:p>
            <a:pPr/>
            <a:r>
              <a:t>Structured Feedback Rubric</a:t>
            </a:r>
          </a:p>
        </p:txBody>
      </p:sp>
      <p:sp>
        <p:nvSpPr>
          <p:cNvPr id="250" name="TextBox 18"/>
          <p:cNvSpPr txBox="1"/>
          <p:nvPr/>
        </p:nvSpPr>
        <p:spPr>
          <a:xfrm>
            <a:off x="960119" y="4206238"/>
            <a:ext cx="90525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A6B7E"/>
                </a:solidFill>
              </a:defRPr>
            </a:lvl1pPr>
          </a:lstStyle>
          <a:p>
            <a:pPr/>
            <a:r>
              <a:t>Evaluates reasoning, not just answers</a:t>
            </a:r>
          </a:p>
        </p:txBody>
      </p:sp>
      <p:sp>
        <p:nvSpPr>
          <p:cNvPr id="251" name="Rectangle 19"/>
          <p:cNvSpPr/>
          <p:nvPr/>
        </p:nvSpPr>
        <p:spPr>
          <a:xfrm>
            <a:off x="640080" y="4937759"/>
            <a:ext cx="10972801" cy="100584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Rectangle 20"/>
          <p:cNvSpPr/>
          <p:nvPr/>
        </p:nvSpPr>
        <p:spPr>
          <a:xfrm>
            <a:off x="640080" y="4937759"/>
            <a:ext cx="50801" cy="100584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21"/>
          <p:cNvSpPr txBox="1"/>
          <p:nvPr/>
        </p:nvSpPr>
        <p:spPr>
          <a:xfrm>
            <a:off x="960119" y="5010911"/>
            <a:ext cx="12801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Prompt 4</a:t>
            </a:r>
          </a:p>
        </p:txBody>
      </p:sp>
      <p:sp>
        <p:nvSpPr>
          <p:cNvPr id="254" name="TextBox 22"/>
          <p:cNvSpPr txBox="1"/>
          <p:nvPr/>
        </p:nvSpPr>
        <p:spPr>
          <a:xfrm>
            <a:off x="2331719" y="5010911"/>
            <a:ext cx="448056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E4258"/>
                </a:solidFill>
              </a:defRPr>
            </a:lvl1pPr>
          </a:lstStyle>
          <a:p>
            <a:pPr/>
            <a:r>
              <a:t>Reflective Writing Prompts</a:t>
            </a:r>
          </a:p>
        </p:txBody>
      </p:sp>
      <p:sp>
        <p:nvSpPr>
          <p:cNvPr id="255" name="TextBox 23"/>
          <p:cNvSpPr txBox="1"/>
          <p:nvPr/>
        </p:nvSpPr>
        <p:spPr>
          <a:xfrm>
            <a:off x="960119" y="5394959"/>
            <a:ext cx="90525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5A6B7E"/>
                </a:solidFill>
              </a:defRPr>
            </a:lvl1pPr>
          </a:lstStyle>
          <a:p>
            <a:pPr/>
            <a:r>
              <a:t>Creates prompts AI can't answer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Think · Pair · Share — 2 min</a:t>
            </a:r>
          </a:p>
        </p:txBody>
      </p:sp>
      <p:sp>
        <p:nvSpPr>
          <p:cNvPr id="259" name="Rectangle 3"/>
          <p:cNvSpPr/>
          <p:nvPr/>
        </p:nvSpPr>
        <p:spPr>
          <a:xfrm>
            <a:off x="640080" y="1371600"/>
            <a:ext cx="10972801" cy="365760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4"/>
          <p:cNvSpPr/>
          <p:nvPr/>
        </p:nvSpPr>
        <p:spPr>
          <a:xfrm>
            <a:off x="640080" y="1371600"/>
            <a:ext cx="50801" cy="36576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5"/>
          <p:cNvSpPr txBox="1"/>
          <p:nvPr/>
        </p:nvSpPr>
        <p:spPr>
          <a:xfrm>
            <a:off x="1143000" y="1828800"/>
            <a:ext cx="9966961" cy="198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On your phone, open ChatGPT, Claude, or Gemini (all free)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Copy and paste Prompt #1 or #2 from the Workshop Guide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If you have a clinical guideline, upload it first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Share with your table — what worked? What surprised you?</a:t>
            </a:r>
          </a:p>
        </p:txBody>
      </p:sp>
      <p:sp>
        <p:nvSpPr>
          <p:cNvPr id="262" name="TextBox 6"/>
          <p:cNvSpPr txBox="1"/>
          <p:nvPr/>
        </p:nvSpPr>
        <p:spPr>
          <a:xfrm>
            <a:off x="1143000" y="5303520"/>
            <a:ext cx="99669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Workshop Guide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D5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Oval 1"/>
          <p:cNvGrpSpPr/>
          <p:nvPr/>
        </p:nvGrpSpPr>
        <p:grpSpPr>
          <a:xfrm>
            <a:off x="914399" y="2285999"/>
            <a:ext cx="1097282" cy="1097282"/>
            <a:chOff x="0" y="0"/>
            <a:chExt cx="1097280" cy="1097280"/>
          </a:xfrm>
        </p:grpSpPr>
        <p:sp>
          <p:nvSpPr>
            <p:cNvPr id="264" name="Circle"/>
            <p:cNvSpPr/>
            <p:nvPr/>
          </p:nvSpPr>
          <p:spPr>
            <a:xfrm>
              <a:off x="-1" y="-1"/>
              <a:ext cx="1097282" cy="10972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5" name="5"/>
            <p:cNvSpPr txBox="1"/>
            <p:nvPr/>
          </p:nvSpPr>
          <p:spPr>
            <a:xfrm>
              <a:off x="206412" y="273972"/>
              <a:ext cx="684456" cy="54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3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67" name="TextBox 2"/>
          <p:cNvSpPr txBox="1"/>
          <p:nvPr/>
        </p:nvSpPr>
        <p:spPr>
          <a:xfrm>
            <a:off x="2331719" y="2286000"/>
            <a:ext cx="8595362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Objective 3 — Simulation Spectrum</a:t>
            </a:r>
          </a:p>
        </p:txBody>
      </p:sp>
      <p:sp>
        <p:nvSpPr>
          <p:cNvPr id="268" name="TextBox 3"/>
          <p:cNvSpPr txBox="1"/>
          <p:nvPr/>
        </p:nvSpPr>
        <p:spPr>
          <a:xfrm>
            <a:off x="2331719" y="3200400"/>
            <a:ext cx="85953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4A55A"/>
                </a:solidFill>
              </a:defRPr>
            </a:lvl1pPr>
          </a:lstStyle>
          <a:p>
            <a:pPr/>
            <a:r>
              <a:t>Match the technology to the learning goal — from text to VR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A Clinician's Perspective on Simulation</a:t>
            </a:r>
          </a:p>
        </p:txBody>
      </p:sp>
      <p:sp>
        <p:nvSpPr>
          <p:cNvPr id="272" name="Rectangle 3"/>
          <p:cNvSpPr/>
          <p:nvPr/>
        </p:nvSpPr>
        <p:spPr>
          <a:xfrm>
            <a:off x="640080" y="1371600"/>
            <a:ext cx="10972801" cy="3657600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Rectangle 4"/>
          <p:cNvSpPr/>
          <p:nvPr/>
        </p:nvSpPr>
        <p:spPr>
          <a:xfrm>
            <a:off x="640080" y="1371600"/>
            <a:ext cx="50801" cy="36576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5"/>
          <p:cNvSpPr txBox="1"/>
          <p:nvPr/>
        </p:nvSpPr>
        <p:spPr>
          <a:xfrm>
            <a:off x="960119" y="1554480"/>
            <a:ext cx="99669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FROM THE TRENCHES</a:t>
            </a:r>
          </a:p>
        </p:txBody>
      </p:sp>
      <p:sp>
        <p:nvSpPr>
          <p:cNvPr id="275" name="TextBox 6"/>
          <p:cNvSpPr txBox="1"/>
          <p:nvPr/>
        </p:nvSpPr>
        <p:spPr>
          <a:xfrm>
            <a:off x="960119" y="2011679"/>
            <a:ext cx="9966962" cy="26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Immersion doesn't require a headset.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A well-designed text-and-audio case — where a learner interviews a patient,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orders labs, interprets an ECG, and builds a differential — can teach clinical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reasoning as effectively as a $500 VR setup.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What matters is the thinking the learner does, not the fidelity of the interface.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The Fidelity Spectrum</a:t>
            </a:r>
          </a:p>
        </p:txBody>
      </p:sp>
      <p:sp>
        <p:nvSpPr>
          <p:cNvPr id="279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The most expensive simulation is not the best simulation</a:t>
            </a:r>
          </a:p>
        </p:txBody>
      </p:sp>
      <p:sp>
        <p:nvSpPr>
          <p:cNvPr id="280" name="Rectangle 4"/>
          <p:cNvSpPr/>
          <p:nvPr/>
        </p:nvSpPr>
        <p:spPr>
          <a:xfrm>
            <a:off x="365759" y="1371600"/>
            <a:ext cx="2194562" cy="384048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Rectangle 5"/>
          <p:cNvSpPr/>
          <p:nvPr/>
        </p:nvSpPr>
        <p:spPr>
          <a:xfrm>
            <a:off x="365759" y="1371600"/>
            <a:ext cx="2194562" cy="508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6"/>
          <p:cNvSpPr txBox="1"/>
          <p:nvPr/>
        </p:nvSpPr>
        <p:spPr>
          <a:xfrm>
            <a:off x="502920" y="1554480"/>
            <a:ext cx="192023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33A"/>
                </a:solidFill>
              </a:defRPr>
            </a:lvl1pPr>
          </a:lstStyle>
          <a:p>
            <a:pPr/>
            <a:r>
              <a:t>LEVEL 1</a:t>
            </a:r>
          </a:p>
        </p:txBody>
      </p:sp>
      <p:sp>
        <p:nvSpPr>
          <p:cNvPr id="283" name="TextBox 7"/>
          <p:cNvSpPr txBox="1"/>
          <p:nvPr/>
        </p:nvSpPr>
        <p:spPr>
          <a:xfrm>
            <a:off x="502920" y="1920239"/>
            <a:ext cx="1920239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1E4258"/>
                </a:solidFill>
              </a:defRPr>
            </a:lvl1pPr>
          </a:lstStyle>
          <a:p>
            <a:pPr/>
            <a:r>
              <a:t>Text &amp; Audio</a:t>
            </a:r>
          </a:p>
        </p:txBody>
      </p:sp>
      <p:sp>
        <p:nvSpPr>
          <p:cNvPr id="284" name="TextBox 8"/>
          <p:cNvSpPr txBox="1"/>
          <p:nvPr/>
        </p:nvSpPr>
        <p:spPr>
          <a:xfrm>
            <a:off x="502920" y="2560320"/>
            <a:ext cx="1920239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D8659"/>
                </a:solidFill>
              </a:defRPr>
            </a:lvl1pPr>
          </a:lstStyle>
          <a:p>
            <a:pPr/>
            <a:r>
              <a:t>Free — $20/mo</a:t>
            </a:r>
          </a:p>
        </p:txBody>
      </p:sp>
      <p:sp>
        <p:nvSpPr>
          <p:cNvPr id="285" name="TextBox 9"/>
          <p:cNvSpPr txBox="1"/>
          <p:nvPr/>
        </p:nvSpPr>
        <p:spPr>
          <a:xfrm>
            <a:off x="502920" y="3017520"/>
            <a:ext cx="1920239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A6B7E"/>
                </a:solidFill>
              </a:defRPr>
            </a:lvl1pPr>
          </a:lstStyle>
          <a:p>
            <a:pPr/>
            <a:r>
              <a:t>Interview, labs, differential, images</a:t>
            </a:r>
          </a:p>
        </p:txBody>
      </p:sp>
      <p:sp>
        <p:nvSpPr>
          <p:cNvPr id="286" name="Rectangle 10"/>
          <p:cNvSpPr/>
          <p:nvPr/>
        </p:nvSpPr>
        <p:spPr>
          <a:xfrm>
            <a:off x="2743199" y="1371600"/>
            <a:ext cx="2194562" cy="384048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11"/>
          <p:cNvSpPr/>
          <p:nvPr/>
        </p:nvSpPr>
        <p:spPr>
          <a:xfrm>
            <a:off x="2743199" y="1371600"/>
            <a:ext cx="2194562" cy="508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12"/>
          <p:cNvSpPr txBox="1"/>
          <p:nvPr/>
        </p:nvSpPr>
        <p:spPr>
          <a:xfrm>
            <a:off x="2880359" y="1554480"/>
            <a:ext cx="192024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33A"/>
                </a:solidFill>
              </a:defRPr>
            </a:lvl1pPr>
          </a:lstStyle>
          <a:p>
            <a:pPr/>
            <a:r>
              <a:t>LEVEL 2</a:t>
            </a:r>
          </a:p>
        </p:txBody>
      </p:sp>
      <p:sp>
        <p:nvSpPr>
          <p:cNvPr id="289" name="TextBox 13"/>
          <p:cNvSpPr txBox="1"/>
          <p:nvPr/>
        </p:nvSpPr>
        <p:spPr>
          <a:xfrm>
            <a:off x="2880359" y="1920239"/>
            <a:ext cx="1920240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1E4258"/>
                </a:solidFill>
              </a:defRPr>
            </a:lvl1pPr>
          </a:lstStyle>
          <a:p>
            <a:pPr/>
            <a:r>
              <a:t>Image-Based</a:t>
            </a:r>
          </a:p>
        </p:txBody>
      </p:sp>
      <p:sp>
        <p:nvSpPr>
          <p:cNvPr id="290" name="TextBox 14"/>
          <p:cNvSpPr txBox="1"/>
          <p:nvPr/>
        </p:nvSpPr>
        <p:spPr>
          <a:xfrm>
            <a:off x="2880359" y="2560320"/>
            <a:ext cx="19202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D8659"/>
                </a:solidFill>
              </a:defRPr>
            </a:lvl1pPr>
          </a:lstStyle>
          <a:p>
            <a:pPr/>
            <a:r>
              <a:t>Free — $25</a:t>
            </a:r>
          </a:p>
        </p:txBody>
      </p:sp>
      <p:sp>
        <p:nvSpPr>
          <p:cNvPr id="291" name="TextBox 15"/>
          <p:cNvSpPr txBox="1"/>
          <p:nvPr/>
        </p:nvSpPr>
        <p:spPr>
          <a:xfrm>
            <a:off x="2880359" y="3017520"/>
            <a:ext cx="192024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A6B7E"/>
                </a:solidFill>
              </a:defRPr>
            </a:lvl1pPr>
          </a:lstStyle>
          <a:p>
            <a:pPr/>
            <a:r>
              <a:t>ECGs, radiology, lab interpretation</a:t>
            </a:r>
          </a:p>
        </p:txBody>
      </p:sp>
      <p:sp>
        <p:nvSpPr>
          <p:cNvPr id="292" name="Rectangle 16"/>
          <p:cNvSpPr/>
          <p:nvPr/>
        </p:nvSpPr>
        <p:spPr>
          <a:xfrm>
            <a:off x="5120640" y="1371600"/>
            <a:ext cx="2194561" cy="384048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Rectangle 17"/>
          <p:cNvSpPr/>
          <p:nvPr/>
        </p:nvSpPr>
        <p:spPr>
          <a:xfrm>
            <a:off x="5120640" y="1371600"/>
            <a:ext cx="2194561" cy="508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18"/>
          <p:cNvSpPr txBox="1"/>
          <p:nvPr/>
        </p:nvSpPr>
        <p:spPr>
          <a:xfrm>
            <a:off x="5257799" y="1554480"/>
            <a:ext cx="192024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33A"/>
                </a:solidFill>
              </a:defRPr>
            </a:lvl1pPr>
          </a:lstStyle>
          <a:p>
            <a:pPr/>
            <a:r>
              <a:t>LEVEL 3</a:t>
            </a:r>
          </a:p>
        </p:txBody>
      </p:sp>
      <p:sp>
        <p:nvSpPr>
          <p:cNvPr id="295" name="TextBox 19"/>
          <p:cNvSpPr txBox="1"/>
          <p:nvPr/>
        </p:nvSpPr>
        <p:spPr>
          <a:xfrm>
            <a:off x="5257799" y="1920239"/>
            <a:ext cx="1920240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1E4258"/>
                </a:solidFill>
              </a:defRPr>
            </a:lvl1pPr>
          </a:lstStyle>
          <a:p>
            <a:pPr/>
            <a:r>
              <a:t>Screen-Based</a:t>
            </a:r>
          </a:p>
        </p:txBody>
      </p:sp>
      <p:sp>
        <p:nvSpPr>
          <p:cNvPr id="296" name="TextBox 20"/>
          <p:cNvSpPr txBox="1"/>
          <p:nvPr/>
        </p:nvSpPr>
        <p:spPr>
          <a:xfrm>
            <a:off x="5257799" y="2560320"/>
            <a:ext cx="19202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D8659"/>
                </a:solidFill>
              </a:defRPr>
            </a:lvl1pPr>
          </a:lstStyle>
          <a:p>
            <a:pPr/>
            <a:r>
              <a:t>Free trial — inst.</a:t>
            </a:r>
          </a:p>
        </p:txBody>
      </p:sp>
      <p:sp>
        <p:nvSpPr>
          <p:cNvPr id="297" name="TextBox 21"/>
          <p:cNvSpPr txBox="1"/>
          <p:nvPr/>
        </p:nvSpPr>
        <p:spPr>
          <a:xfrm>
            <a:off x="5257799" y="3017520"/>
            <a:ext cx="192024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A6B7E"/>
                </a:solidFill>
              </a:defRPr>
            </a:lvl1pPr>
          </a:lstStyle>
          <a:p>
            <a:pPr/>
            <a:r>
              <a:t>Virtual patients, branching scenarios</a:t>
            </a:r>
          </a:p>
        </p:txBody>
      </p:sp>
      <p:sp>
        <p:nvSpPr>
          <p:cNvPr id="298" name="Rectangle 22"/>
          <p:cNvSpPr/>
          <p:nvPr/>
        </p:nvSpPr>
        <p:spPr>
          <a:xfrm>
            <a:off x="7498080" y="1371600"/>
            <a:ext cx="2194561" cy="384048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Rectangle 23"/>
          <p:cNvSpPr/>
          <p:nvPr/>
        </p:nvSpPr>
        <p:spPr>
          <a:xfrm>
            <a:off x="7498080" y="1371600"/>
            <a:ext cx="2194561" cy="508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24"/>
          <p:cNvSpPr txBox="1"/>
          <p:nvPr/>
        </p:nvSpPr>
        <p:spPr>
          <a:xfrm>
            <a:off x="7635239" y="1554480"/>
            <a:ext cx="192024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33A"/>
                </a:solidFill>
              </a:defRPr>
            </a:lvl1pPr>
          </a:lstStyle>
          <a:p>
            <a:pPr/>
            <a:r>
              <a:t>LEVEL 4</a:t>
            </a:r>
          </a:p>
        </p:txBody>
      </p:sp>
      <p:sp>
        <p:nvSpPr>
          <p:cNvPr id="301" name="TextBox 25"/>
          <p:cNvSpPr txBox="1"/>
          <p:nvPr/>
        </p:nvSpPr>
        <p:spPr>
          <a:xfrm>
            <a:off x="7635239" y="1920239"/>
            <a:ext cx="1920240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1E4258"/>
                </a:solidFill>
              </a:defRPr>
            </a:lvl1pPr>
          </a:lstStyle>
          <a:p>
            <a:pPr/>
            <a:r>
              <a:t>AR (Phone)</a:t>
            </a:r>
          </a:p>
        </p:txBody>
      </p:sp>
      <p:sp>
        <p:nvSpPr>
          <p:cNvPr id="302" name="TextBox 26"/>
          <p:cNvSpPr txBox="1"/>
          <p:nvPr/>
        </p:nvSpPr>
        <p:spPr>
          <a:xfrm>
            <a:off x="7635239" y="2560320"/>
            <a:ext cx="19202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D8659"/>
                </a:solidFill>
              </a:defRPr>
            </a:lvl1pPr>
          </a:lstStyle>
          <a:p>
            <a:pPr/>
            <a:r>
              <a:t>Free — $25</a:t>
            </a:r>
          </a:p>
        </p:txBody>
      </p:sp>
      <p:sp>
        <p:nvSpPr>
          <p:cNvPr id="303" name="TextBox 27"/>
          <p:cNvSpPr txBox="1"/>
          <p:nvPr/>
        </p:nvSpPr>
        <p:spPr>
          <a:xfrm>
            <a:off x="7635239" y="3017520"/>
            <a:ext cx="192024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A6B7E"/>
                </a:solidFill>
              </a:defRPr>
            </a:lvl1pPr>
          </a:lstStyle>
          <a:p>
            <a:pPr/>
            <a:r>
              <a:t>3D anatomy on phone, no headset</a:t>
            </a:r>
          </a:p>
        </p:txBody>
      </p:sp>
      <p:sp>
        <p:nvSpPr>
          <p:cNvPr id="304" name="Rectangle 28"/>
          <p:cNvSpPr/>
          <p:nvPr/>
        </p:nvSpPr>
        <p:spPr>
          <a:xfrm>
            <a:off x="9875519" y="1371600"/>
            <a:ext cx="2194561" cy="384048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Rectangle 29"/>
          <p:cNvSpPr/>
          <p:nvPr/>
        </p:nvSpPr>
        <p:spPr>
          <a:xfrm>
            <a:off x="9875519" y="1371600"/>
            <a:ext cx="2194561" cy="508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TextBox 30"/>
          <p:cNvSpPr txBox="1"/>
          <p:nvPr/>
        </p:nvSpPr>
        <p:spPr>
          <a:xfrm>
            <a:off x="10012679" y="1554480"/>
            <a:ext cx="192024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33A"/>
                </a:solidFill>
              </a:defRPr>
            </a:lvl1pPr>
          </a:lstStyle>
          <a:p>
            <a:pPr/>
            <a:r>
              <a:t>LEVEL 5</a:t>
            </a:r>
          </a:p>
        </p:txBody>
      </p:sp>
      <p:sp>
        <p:nvSpPr>
          <p:cNvPr id="307" name="TextBox 31"/>
          <p:cNvSpPr txBox="1"/>
          <p:nvPr/>
        </p:nvSpPr>
        <p:spPr>
          <a:xfrm>
            <a:off x="10012679" y="1920239"/>
            <a:ext cx="1920240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1E4258"/>
                </a:solidFill>
              </a:defRPr>
            </a:lvl1pPr>
          </a:lstStyle>
          <a:p>
            <a:pPr/>
            <a:r>
              <a:t>Immersive VR</a:t>
            </a:r>
          </a:p>
        </p:txBody>
      </p:sp>
      <p:sp>
        <p:nvSpPr>
          <p:cNvPr id="308" name="TextBox 32"/>
          <p:cNvSpPr txBox="1"/>
          <p:nvPr/>
        </p:nvSpPr>
        <p:spPr>
          <a:xfrm>
            <a:off x="10012679" y="2560320"/>
            <a:ext cx="19202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D8659"/>
                </a:solidFill>
              </a:defRPr>
            </a:lvl1pPr>
          </a:lstStyle>
          <a:p>
            <a:pPr/>
            <a:r>
              <a:t>$100 — $600</a:t>
            </a:r>
          </a:p>
        </p:txBody>
      </p:sp>
      <p:sp>
        <p:nvSpPr>
          <p:cNvPr id="309" name="TextBox 33"/>
          <p:cNvSpPr txBox="1"/>
          <p:nvPr/>
        </p:nvSpPr>
        <p:spPr>
          <a:xfrm>
            <a:off x="10012679" y="3017520"/>
            <a:ext cx="192024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A6B7E"/>
                </a:solidFill>
              </a:defRPr>
            </a:lvl1pPr>
          </a:lstStyle>
          <a:p>
            <a:pPr/>
            <a:r>
              <a:t>Procedures, team scenarios, physical skills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Demo: Interactive Clinical Reasoning Case</a:t>
            </a:r>
          </a:p>
        </p:txBody>
      </p:sp>
      <p:sp>
        <p:nvSpPr>
          <p:cNvPr id="313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Try this on your phone now — no VR needed</a:t>
            </a:r>
          </a:p>
        </p:txBody>
      </p:sp>
      <p:sp>
        <p:nvSpPr>
          <p:cNvPr id="314" name="Rectangle 4"/>
          <p:cNvSpPr/>
          <p:nvPr/>
        </p:nvSpPr>
        <p:spPr>
          <a:xfrm>
            <a:off x="640080" y="1371600"/>
            <a:ext cx="5486401" cy="411480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Rectangle 5"/>
          <p:cNvSpPr/>
          <p:nvPr/>
        </p:nvSpPr>
        <p:spPr>
          <a:xfrm>
            <a:off x="640080" y="1371600"/>
            <a:ext cx="50801" cy="41148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6"/>
          <p:cNvSpPr txBox="1"/>
          <p:nvPr/>
        </p:nvSpPr>
        <p:spPr>
          <a:xfrm>
            <a:off x="960119" y="1554480"/>
            <a:ext cx="49377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D5F7C"/>
                </a:solidFill>
              </a:defRPr>
            </a:lvl1pPr>
          </a:lstStyle>
          <a:p>
            <a:pPr/>
            <a:r>
              <a:t>WHAT YOU'LL DO</a:t>
            </a:r>
          </a:p>
        </p:txBody>
      </p:sp>
      <p:sp>
        <p:nvSpPr>
          <p:cNvPr id="317" name="TextBox 7"/>
          <p:cNvSpPr txBox="1"/>
          <p:nvPr/>
        </p:nvSpPr>
        <p:spPr>
          <a:xfrm>
            <a:off x="960119" y="1920239"/>
            <a:ext cx="4937762" cy="2301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19-year-old male with sharp chest pain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Interview the patient (text-based)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Order labs, interpret an ECG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Build your differential with reasoning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Write your assessment and plan</a:t>
            </a:r>
          </a:p>
          <a:p>
            <a:pPr>
              <a:spcBef>
                <a:spcPts val="800"/>
              </a:spcBef>
              <a:defRPr>
                <a:solidFill>
                  <a:srgbClr val="1A2332"/>
                </a:solidFill>
              </a:defRPr>
            </a:pPr>
            <a:r>
              <a:t>• Receive feedback on your reasoning process</a:t>
            </a:r>
          </a:p>
        </p:txBody>
      </p:sp>
      <p:sp>
        <p:nvSpPr>
          <p:cNvPr id="318" name="Rectangle 8"/>
          <p:cNvSpPr/>
          <p:nvPr/>
        </p:nvSpPr>
        <p:spPr>
          <a:xfrm>
            <a:off x="6583680" y="1371600"/>
            <a:ext cx="5029201" cy="1828800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Rectangle 9"/>
          <p:cNvSpPr/>
          <p:nvPr/>
        </p:nvSpPr>
        <p:spPr>
          <a:xfrm>
            <a:off x="6583680" y="1371600"/>
            <a:ext cx="50801" cy="18288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10"/>
          <p:cNvSpPr txBox="1"/>
          <p:nvPr/>
        </p:nvSpPr>
        <p:spPr>
          <a:xfrm>
            <a:off x="6903719" y="1554480"/>
            <a:ext cx="4480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66A28"/>
                </a:solidFill>
              </a:defRPr>
            </a:lvl1pPr>
          </a:lstStyle>
          <a:p>
            <a:pPr/>
            <a:r>
              <a:t>TRY IT NOW</a:t>
            </a:r>
          </a:p>
        </p:txBody>
      </p:sp>
      <p:sp>
        <p:nvSpPr>
          <p:cNvPr id="321" name="TextBox 11"/>
          <p:cNvSpPr txBox="1"/>
          <p:nvPr/>
        </p:nvSpPr>
        <p:spPr>
          <a:xfrm>
            <a:off x="6903719" y="1920239"/>
            <a:ext cx="4480562" cy="36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▶ Clinical Reasoning Case</a:t>
            </a:r>
          </a:p>
        </p:txBody>
      </p:sp>
      <p:sp>
        <p:nvSpPr>
          <p:cNvPr id="322" name="Rectangle 12"/>
          <p:cNvSpPr/>
          <p:nvPr/>
        </p:nvSpPr>
        <p:spPr>
          <a:xfrm>
            <a:off x="6583680" y="3474720"/>
            <a:ext cx="5029201" cy="1828801"/>
          </a:xfrm>
          <a:prstGeom prst="rect">
            <a:avLst/>
          </a:prstGeom>
          <a:solidFill>
            <a:srgbClr val="F0F8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Rectangle 13"/>
          <p:cNvSpPr/>
          <p:nvPr/>
        </p:nvSpPr>
        <p:spPr>
          <a:xfrm>
            <a:off x="6583680" y="3474720"/>
            <a:ext cx="50801" cy="1828801"/>
          </a:xfrm>
          <a:prstGeom prst="rect">
            <a:avLst/>
          </a:prstGeom>
          <a:solidFill>
            <a:srgbClr val="2D865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14"/>
          <p:cNvSpPr txBox="1"/>
          <p:nvPr/>
        </p:nvSpPr>
        <p:spPr>
          <a:xfrm>
            <a:off x="6903719" y="3657599"/>
            <a:ext cx="44805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D8659"/>
                </a:solidFill>
              </a:defRPr>
            </a:lvl1pPr>
          </a:lstStyle>
          <a:p>
            <a:pPr/>
            <a:r>
              <a:t>KEY MESSAGE</a:t>
            </a:r>
          </a:p>
        </p:txBody>
      </p:sp>
      <p:sp>
        <p:nvSpPr>
          <p:cNvPr id="325" name="TextBox 15"/>
          <p:cNvSpPr txBox="1"/>
          <p:nvPr/>
        </p:nvSpPr>
        <p:spPr>
          <a:xfrm>
            <a:off x="6903719" y="4023359"/>
            <a:ext cx="44805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A2332"/>
                </a:solidFill>
              </a:defRPr>
            </a:lvl1pPr>
          </a:lstStyle>
          <a:p>
            <a:pPr/>
            <a:r>
              <a:t>No multiple choice. The reasoning IS the assessment. This is authentic assessment in the AI era.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Simulation Tools by Fidelity Level</a:t>
            </a:r>
          </a:p>
        </p:txBody>
      </p:sp>
      <p:sp>
        <p:nvSpPr>
          <p:cNvPr id="329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Full list with pricing in the Workshop Guide → Sections 5 &amp; 6</a:t>
            </a:r>
          </a:p>
        </p:txBody>
      </p:sp>
      <p:graphicFrame>
        <p:nvGraphicFramePr>
          <p:cNvPr id="330" name="Table 4"/>
          <p:cNvGraphicFramePr/>
          <p:nvPr/>
        </p:nvGraphicFramePr>
        <p:xfrm>
          <a:off x="457200" y="1371600"/>
          <a:ext cx="11247120" cy="28803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2743200"/>
                <a:gridCol w="2286000"/>
                <a:gridCol w="438912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Fidelity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Text/Audio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ChatGPT (patient sim)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History-taking, communication practice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Text/Audio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Flip (video reflection)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Case presentations, peer feedback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Image/Screen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H5P (branching)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Branching clinical decision trees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Image/Screen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Body Interact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 trial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Virtual patient simulator (targets PA)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3D Anatomy/AR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BioDigital Human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Free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Browser-based 3D anatomy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3D Anatomy/AR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Visible Body Atlas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$25 one-time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3D anatomy + AR on phone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VR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OMS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Institutional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Explicitly targets PA/APP programs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VR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SimX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Institutional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150+ VR patient scenarios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Oval 6"/>
          <p:cNvGrpSpPr/>
          <p:nvPr/>
        </p:nvGrpSpPr>
        <p:grpSpPr>
          <a:xfrm>
            <a:off x="45719" y="320040"/>
            <a:ext cx="365762" cy="365761"/>
            <a:chOff x="0" y="0"/>
            <a:chExt cx="365760" cy="365760"/>
          </a:xfrm>
        </p:grpSpPr>
        <p:sp>
          <p:nvSpPr>
            <p:cNvPr id="332" name="Circle"/>
            <p:cNvSpPr/>
            <p:nvPr/>
          </p:nvSpPr>
          <p:spPr>
            <a:xfrm>
              <a:off x="-1" y="-1"/>
              <a:ext cx="365762" cy="36576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3" name="6"/>
            <p:cNvSpPr txBox="1"/>
            <p:nvPr/>
          </p:nvSpPr>
          <p:spPr>
            <a:xfrm>
              <a:off x="99283" y="12789"/>
              <a:ext cx="167194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335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VR &amp; Your Starter Stack — When It's Worth the Investment</a:t>
            </a:r>
          </a:p>
        </p:txBody>
      </p:sp>
      <p:graphicFrame>
        <p:nvGraphicFramePr>
          <p:cNvPr id="337" name="Table 3"/>
          <p:cNvGraphicFramePr/>
          <p:nvPr/>
        </p:nvGraphicFramePr>
        <p:xfrm>
          <a:off x="457200" y="1371600"/>
          <a:ext cx="11247120" cy="16002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200400"/>
                <a:gridCol w="2286000"/>
                <a:gridCol w="576072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Starter Stack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What You Get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D5F7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Free Entry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$0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ChatGPT + BioDigital Human + Flip + NotebookLM + H5P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Minimal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$25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Above + Visible Body Atlas (includes AR)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One Headset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~$125–175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Above + 1 refurbished Meta Quest 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D5F7C"/>
                          </a:solidFill>
                        </a:rPr>
                        <a:t>Small Program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~$700–1,100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2332"/>
                          </a:solidFill>
                        </a:rPr>
                        <a:t>Above + 2–3 Meta Quest 3S (~$350 each)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8" name="Rectangle 4"/>
          <p:cNvSpPr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solidFill>
            <a:srgbClr val="F0F8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Rectangle 5"/>
          <p:cNvSpPr/>
          <p:nvPr/>
        </p:nvSpPr>
        <p:spPr>
          <a:xfrm>
            <a:off x="457200" y="4572000"/>
            <a:ext cx="50800" cy="1828800"/>
          </a:xfrm>
          <a:prstGeom prst="rect">
            <a:avLst/>
          </a:prstGeom>
          <a:solidFill>
            <a:srgbClr val="2D865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6"/>
          <p:cNvSpPr txBox="1"/>
          <p:nvPr/>
        </p:nvSpPr>
        <p:spPr>
          <a:xfrm>
            <a:off x="731519" y="4645152"/>
            <a:ext cx="502920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D8659"/>
                </a:solidFill>
              </a:defRPr>
            </a:lvl1pPr>
          </a:lstStyle>
          <a:p>
            <a:pPr/>
            <a:r>
              <a:t>USE VR WHEN</a:t>
            </a:r>
          </a:p>
        </p:txBody>
      </p:sp>
      <p:sp>
        <p:nvSpPr>
          <p:cNvPr id="341" name="TextBox 7"/>
          <p:cNvSpPr txBox="1"/>
          <p:nvPr/>
        </p:nvSpPr>
        <p:spPr>
          <a:xfrm>
            <a:off x="731519" y="4937759"/>
            <a:ext cx="5029202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A2332"/>
                </a:solidFill>
              </a:defRPr>
            </a:lvl1pPr>
          </a:lstStyle>
          <a:p>
            <a:pPr/>
            <a:r>
              <a:t>Procedural skills, team scenarios, high-acuity rehearsal, regular use</a:t>
            </a:r>
          </a:p>
        </p:txBody>
      </p:sp>
      <p:sp>
        <p:nvSpPr>
          <p:cNvPr id="342" name="Rectangle 8"/>
          <p:cNvSpPr/>
          <p:nvPr/>
        </p:nvSpPr>
        <p:spPr>
          <a:xfrm>
            <a:off x="6217920" y="4572000"/>
            <a:ext cx="5486401" cy="1828800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Rectangle 9"/>
          <p:cNvSpPr/>
          <p:nvPr/>
        </p:nvSpPr>
        <p:spPr>
          <a:xfrm>
            <a:off x="6217920" y="4572000"/>
            <a:ext cx="50801" cy="18288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10"/>
          <p:cNvSpPr txBox="1"/>
          <p:nvPr/>
        </p:nvSpPr>
        <p:spPr>
          <a:xfrm>
            <a:off x="6492239" y="4645152"/>
            <a:ext cx="502920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E8833A"/>
                </a:solidFill>
              </a:defRPr>
            </a:lvl1pPr>
          </a:lstStyle>
          <a:p>
            <a:pPr/>
            <a:r>
              <a:t>DON'T USE VR WHEN</a:t>
            </a:r>
          </a:p>
        </p:txBody>
      </p:sp>
      <p:sp>
        <p:nvSpPr>
          <p:cNvPr id="345" name="TextBox 11"/>
          <p:cNvSpPr txBox="1"/>
          <p:nvPr/>
        </p:nvSpPr>
        <p:spPr>
          <a:xfrm>
            <a:off x="6492239" y="4937759"/>
            <a:ext cx="5029202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A2332"/>
                </a:solidFill>
              </a:defRPr>
            </a:lvl1pPr>
          </a:lstStyle>
          <a:p>
            <a:pPr/>
            <a:r>
              <a:t>The learning goal is clinical reasoning — text/screen does the job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Think · Pair · Share — 2 min</a:t>
            </a:r>
          </a:p>
        </p:txBody>
      </p:sp>
      <p:sp>
        <p:nvSpPr>
          <p:cNvPr id="372" name="Rectangle 3"/>
          <p:cNvSpPr/>
          <p:nvPr/>
        </p:nvSpPr>
        <p:spPr>
          <a:xfrm>
            <a:off x="640080" y="1371600"/>
            <a:ext cx="10972801" cy="365760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Rectangle 4"/>
          <p:cNvSpPr/>
          <p:nvPr/>
        </p:nvSpPr>
        <p:spPr>
          <a:xfrm>
            <a:off x="640080" y="1371600"/>
            <a:ext cx="50801" cy="3657600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5"/>
          <p:cNvSpPr txBox="1"/>
          <p:nvPr/>
        </p:nvSpPr>
        <p:spPr>
          <a:xfrm>
            <a:off x="1143000" y="1828800"/>
            <a:ext cx="9966961" cy="198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Think of a clinical skill your fellows need to learn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Which fidelity level would you choose? Text? Images? Screen? AR? VR?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Would the free option work? Or does this skill genuinely require VR?</a:t>
            </a:r>
          </a:p>
          <a:p>
            <a:pPr>
              <a:spcBef>
                <a:spcPts val="1400"/>
              </a:spcBef>
              <a:defRPr sz="2200">
                <a:solidFill>
                  <a:srgbClr val="1E4258"/>
                </a:solidFill>
              </a:defRPr>
            </a:pPr>
            <a:r>
              <a:t>Share your reasoning with your table group</a:t>
            </a:r>
          </a:p>
        </p:txBody>
      </p:sp>
      <p:sp>
        <p:nvSpPr>
          <p:cNvPr id="375" name="TextBox 6"/>
          <p:cNvSpPr txBox="1"/>
          <p:nvPr/>
        </p:nvSpPr>
        <p:spPr>
          <a:xfrm>
            <a:off x="1143000" y="5303520"/>
            <a:ext cx="99669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Workshop Guide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Capstone Design Sprint — 17 min</a:t>
            </a:r>
          </a:p>
        </p:txBody>
      </p:sp>
      <p:sp>
        <p:nvSpPr>
          <p:cNvPr id="385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Turn one of your ideas into a plan you can take back to your program</a:t>
            </a:r>
          </a:p>
        </p:txBody>
      </p:sp>
      <p:sp>
        <p:nvSpPr>
          <p:cNvPr id="386" name="Rectangle 4"/>
          <p:cNvSpPr/>
          <p:nvPr/>
        </p:nvSpPr>
        <p:spPr>
          <a:xfrm>
            <a:off x="640080" y="1371600"/>
            <a:ext cx="10972801" cy="1371600"/>
          </a:xfrm>
          <a:prstGeom prst="rect">
            <a:avLst/>
          </a:prstGeom>
          <a:solidFill>
            <a:srgbClr val="FDF6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Rectangle 5"/>
          <p:cNvSpPr/>
          <p:nvPr/>
        </p:nvSpPr>
        <p:spPr>
          <a:xfrm>
            <a:off x="640080" y="1371600"/>
            <a:ext cx="50801" cy="13716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6"/>
          <p:cNvSpPr txBox="1"/>
          <p:nvPr/>
        </p:nvSpPr>
        <p:spPr>
          <a:xfrm>
            <a:off x="914399" y="1444752"/>
            <a:ext cx="1051560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E8833A"/>
                </a:solidFill>
              </a:defRPr>
            </a:lvl1pPr>
          </a:lstStyle>
          <a:p>
            <a:pPr/>
            <a:r>
              <a:t>WHAT THIS IS</a:t>
            </a:r>
          </a:p>
        </p:txBody>
      </p:sp>
      <p:sp>
        <p:nvSpPr>
          <p:cNvPr id="389" name="TextBox 7"/>
          <p:cNvSpPr txBox="1"/>
          <p:nvPr/>
        </p:nvSpPr>
        <p:spPr>
          <a:xfrm>
            <a:off x="914399" y="1737360"/>
            <a:ext cx="10515602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A2332"/>
                </a:solidFill>
              </a:defRPr>
            </a:lvl1pPr>
          </a:lstStyle>
          <a:p>
            <a:pPr/>
            <a:r>
              <a:t>You've been discussing tools and ideas after each section — now extend that into a full implementation plan. Pick the idea that feels most feasible.</a:t>
            </a:r>
          </a:p>
        </p:txBody>
      </p:sp>
      <p:sp>
        <p:nvSpPr>
          <p:cNvPr id="390" name="Rectangle 8"/>
          <p:cNvSpPr/>
          <p:nvPr/>
        </p:nvSpPr>
        <p:spPr>
          <a:xfrm>
            <a:off x="640079" y="3017520"/>
            <a:ext cx="2103122" cy="18288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Rectangle 9"/>
          <p:cNvSpPr/>
          <p:nvPr/>
        </p:nvSpPr>
        <p:spPr>
          <a:xfrm>
            <a:off x="640079" y="3017520"/>
            <a:ext cx="2103122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94" name="Oval 10"/>
          <p:cNvGrpSpPr/>
          <p:nvPr/>
        </p:nvGrpSpPr>
        <p:grpSpPr>
          <a:xfrm>
            <a:off x="1325880" y="3200399"/>
            <a:ext cx="640081" cy="640082"/>
            <a:chOff x="0" y="0"/>
            <a:chExt cx="640080" cy="640080"/>
          </a:xfrm>
        </p:grpSpPr>
        <p:sp>
          <p:nvSpPr>
            <p:cNvPr id="392" name="Circle"/>
            <p:cNvSpPr/>
            <p:nvPr/>
          </p:nvSpPr>
          <p:spPr>
            <a:xfrm>
              <a:off x="-1" y="-1"/>
              <a:ext cx="640082" cy="6400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3" name="1"/>
            <p:cNvSpPr txBox="1"/>
            <p:nvPr/>
          </p:nvSpPr>
          <p:spPr>
            <a:xfrm>
              <a:off x="139457" y="153496"/>
              <a:ext cx="36116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395" name="TextBox 11"/>
          <p:cNvSpPr txBox="1"/>
          <p:nvPr/>
        </p:nvSpPr>
        <p:spPr>
          <a:xfrm>
            <a:off x="777239" y="4023359"/>
            <a:ext cx="18288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1E4258"/>
                </a:solidFill>
              </a:defRPr>
            </a:pPr>
            <a:r>
              <a:t>Identify</a:t>
            </a:r>
            <a:br/>
            <a:r>
              <a:t>a Need</a:t>
            </a:r>
          </a:p>
        </p:txBody>
      </p:sp>
      <p:sp>
        <p:nvSpPr>
          <p:cNvPr id="396" name="Rectangle 12"/>
          <p:cNvSpPr/>
          <p:nvPr/>
        </p:nvSpPr>
        <p:spPr>
          <a:xfrm>
            <a:off x="2926079" y="3017520"/>
            <a:ext cx="2103121" cy="18288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Rectangle 13"/>
          <p:cNvSpPr/>
          <p:nvPr/>
        </p:nvSpPr>
        <p:spPr>
          <a:xfrm>
            <a:off x="2926079" y="3017520"/>
            <a:ext cx="2103121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00" name="Oval 14"/>
          <p:cNvGrpSpPr/>
          <p:nvPr/>
        </p:nvGrpSpPr>
        <p:grpSpPr>
          <a:xfrm>
            <a:off x="3611879" y="3200399"/>
            <a:ext cx="640081" cy="640082"/>
            <a:chOff x="0" y="0"/>
            <a:chExt cx="640080" cy="640080"/>
          </a:xfrm>
        </p:grpSpPr>
        <p:sp>
          <p:nvSpPr>
            <p:cNvPr id="398" name="Circle"/>
            <p:cNvSpPr/>
            <p:nvPr/>
          </p:nvSpPr>
          <p:spPr>
            <a:xfrm>
              <a:off x="-1" y="-1"/>
              <a:ext cx="640082" cy="6400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9" name="2"/>
            <p:cNvSpPr txBox="1"/>
            <p:nvPr/>
          </p:nvSpPr>
          <p:spPr>
            <a:xfrm>
              <a:off x="139457" y="153496"/>
              <a:ext cx="36116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401" name="TextBox 15"/>
          <p:cNvSpPr txBox="1"/>
          <p:nvPr/>
        </p:nvSpPr>
        <p:spPr>
          <a:xfrm>
            <a:off x="3063240" y="4023359"/>
            <a:ext cx="18288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1E4258"/>
                </a:solidFill>
              </a:defRPr>
            </a:pPr>
            <a:r>
              <a:t>Define</a:t>
            </a:r>
            <a:br/>
            <a:r>
              <a:t>Learning Goals</a:t>
            </a:r>
          </a:p>
        </p:txBody>
      </p:sp>
      <p:sp>
        <p:nvSpPr>
          <p:cNvPr id="402" name="Rectangle 16"/>
          <p:cNvSpPr/>
          <p:nvPr/>
        </p:nvSpPr>
        <p:spPr>
          <a:xfrm>
            <a:off x="5212079" y="3017520"/>
            <a:ext cx="2103121" cy="18288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Rectangle 17"/>
          <p:cNvSpPr/>
          <p:nvPr/>
        </p:nvSpPr>
        <p:spPr>
          <a:xfrm>
            <a:off x="5212079" y="3017520"/>
            <a:ext cx="2103121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06" name="Oval 18"/>
          <p:cNvGrpSpPr/>
          <p:nvPr/>
        </p:nvGrpSpPr>
        <p:grpSpPr>
          <a:xfrm>
            <a:off x="5897879" y="3200399"/>
            <a:ext cx="640081" cy="640082"/>
            <a:chOff x="0" y="0"/>
            <a:chExt cx="640080" cy="640080"/>
          </a:xfrm>
        </p:grpSpPr>
        <p:sp>
          <p:nvSpPr>
            <p:cNvPr id="404" name="Circle"/>
            <p:cNvSpPr/>
            <p:nvPr/>
          </p:nvSpPr>
          <p:spPr>
            <a:xfrm>
              <a:off x="-1" y="-1"/>
              <a:ext cx="640082" cy="6400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5" name="3"/>
            <p:cNvSpPr txBox="1"/>
            <p:nvPr/>
          </p:nvSpPr>
          <p:spPr>
            <a:xfrm>
              <a:off x="139457" y="153496"/>
              <a:ext cx="36116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407" name="TextBox 19"/>
          <p:cNvSpPr txBox="1"/>
          <p:nvPr/>
        </p:nvSpPr>
        <p:spPr>
          <a:xfrm>
            <a:off x="5349240" y="4023359"/>
            <a:ext cx="18288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1E4258"/>
                </a:solidFill>
              </a:defRPr>
            </a:pPr>
            <a:r>
              <a:t>Select</a:t>
            </a:r>
            <a:br/>
            <a:r>
              <a:t>a Tool</a:t>
            </a:r>
          </a:p>
        </p:txBody>
      </p:sp>
      <p:sp>
        <p:nvSpPr>
          <p:cNvPr id="408" name="Rectangle 20"/>
          <p:cNvSpPr/>
          <p:nvPr/>
        </p:nvSpPr>
        <p:spPr>
          <a:xfrm>
            <a:off x="7498078" y="3017520"/>
            <a:ext cx="2103121" cy="18288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Rectangle 21"/>
          <p:cNvSpPr/>
          <p:nvPr/>
        </p:nvSpPr>
        <p:spPr>
          <a:xfrm>
            <a:off x="7498078" y="3017520"/>
            <a:ext cx="2103121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12" name="Oval 22"/>
          <p:cNvGrpSpPr/>
          <p:nvPr/>
        </p:nvGrpSpPr>
        <p:grpSpPr>
          <a:xfrm>
            <a:off x="8183878" y="3200399"/>
            <a:ext cx="640081" cy="640082"/>
            <a:chOff x="0" y="0"/>
            <a:chExt cx="640080" cy="640080"/>
          </a:xfrm>
        </p:grpSpPr>
        <p:sp>
          <p:nvSpPr>
            <p:cNvPr id="410" name="Circle"/>
            <p:cNvSpPr/>
            <p:nvPr/>
          </p:nvSpPr>
          <p:spPr>
            <a:xfrm>
              <a:off x="-1" y="-1"/>
              <a:ext cx="640082" cy="6400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1" name="4"/>
            <p:cNvSpPr txBox="1"/>
            <p:nvPr/>
          </p:nvSpPr>
          <p:spPr>
            <a:xfrm>
              <a:off x="139457" y="153496"/>
              <a:ext cx="36116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413" name="TextBox 23"/>
          <p:cNvSpPr txBox="1"/>
          <p:nvPr/>
        </p:nvSpPr>
        <p:spPr>
          <a:xfrm>
            <a:off x="7635238" y="4023359"/>
            <a:ext cx="18288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1E4258"/>
                </a:solidFill>
              </a:defRPr>
            </a:pPr>
            <a:r>
              <a:t>Map Pedagogy</a:t>
            </a:r>
            <a:br/>
            <a:r>
              <a:t>to Technology</a:t>
            </a:r>
          </a:p>
        </p:txBody>
      </p:sp>
      <p:sp>
        <p:nvSpPr>
          <p:cNvPr id="414" name="Rectangle 24"/>
          <p:cNvSpPr/>
          <p:nvPr/>
        </p:nvSpPr>
        <p:spPr>
          <a:xfrm>
            <a:off x="9784080" y="3017520"/>
            <a:ext cx="2103121" cy="1828801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Rectangle 25"/>
          <p:cNvSpPr/>
          <p:nvPr/>
        </p:nvSpPr>
        <p:spPr>
          <a:xfrm>
            <a:off x="9784080" y="3017520"/>
            <a:ext cx="2103121" cy="50801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18" name="Oval 26"/>
          <p:cNvGrpSpPr/>
          <p:nvPr/>
        </p:nvGrpSpPr>
        <p:grpSpPr>
          <a:xfrm>
            <a:off x="10469880" y="3200399"/>
            <a:ext cx="640081" cy="640082"/>
            <a:chOff x="0" y="0"/>
            <a:chExt cx="640080" cy="640080"/>
          </a:xfrm>
        </p:grpSpPr>
        <p:sp>
          <p:nvSpPr>
            <p:cNvPr id="416" name="Circle"/>
            <p:cNvSpPr/>
            <p:nvPr/>
          </p:nvSpPr>
          <p:spPr>
            <a:xfrm>
              <a:off x="-1" y="-1"/>
              <a:ext cx="640082" cy="640082"/>
            </a:xfrm>
            <a:prstGeom prst="ellipse">
              <a:avLst/>
            </a:prstGeom>
            <a:solidFill>
              <a:srgbClr val="E8833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7" name="5"/>
            <p:cNvSpPr txBox="1"/>
            <p:nvPr/>
          </p:nvSpPr>
          <p:spPr>
            <a:xfrm>
              <a:off x="139457" y="153496"/>
              <a:ext cx="361166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419" name="TextBox 27"/>
          <p:cNvSpPr txBox="1"/>
          <p:nvPr/>
        </p:nvSpPr>
        <p:spPr>
          <a:xfrm>
            <a:off x="9921239" y="4023359"/>
            <a:ext cx="18288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1E4258"/>
                </a:solidFill>
              </a:defRPr>
            </a:pPr>
            <a:r>
              <a:t>Sketch</a:t>
            </a:r>
            <a:br/>
            <a:r>
              <a:t>Implementation</a:t>
            </a:r>
          </a:p>
        </p:txBody>
      </p:sp>
      <p:sp>
        <p:nvSpPr>
          <p:cNvPr id="420" name="TextBox 28"/>
          <p:cNvSpPr txBox="1"/>
          <p:nvPr/>
        </p:nvSpPr>
        <p:spPr>
          <a:xfrm>
            <a:off x="685800" y="5303520"/>
            <a:ext cx="108813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Workshop Guide → Section 7 (Worksheet)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Share-Out — 3 min</a:t>
            </a:r>
          </a:p>
        </p:txBody>
      </p:sp>
      <p:sp>
        <p:nvSpPr>
          <p:cNvPr id="424" name="Rectangle 3"/>
          <p:cNvSpPr/>
          <p:nvPr/>
        </p:nvSpPr>
        <p:spPr>
          <a:xfrm>
            <a:off x="640080" y="1371600"/>
            <a:ext cx="10972801" cy="3200400"/>
          </a:xfrm>
          <a:prstGeom prst="rect">
            <a:avLst/>
          </a:prstGeom>
          <a:solidFill>
            <a:srgbClr val="F0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TextBox 4"/>
          <p:cNvSpPr txBox="1"/>
          <p:nvPr/>
        </p:nvSpPr>
        <p:spPr>
          <a:xfrm>
            <a:off x="1143000" y="1828800"/>
            <a:ext cx="9966961" cy="1756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1E4258"/>
                </a:solidFill>
              </a:defRPr>
            </a:pPr>
            <a:r>
              <a:t>• 2-3 groups share their plan (60 seconds each)</a:t>
            </a:r>
          </a:p>
          <a:p>
            <a:pPr>
              <a:spcBef>
                <a:spcPts val="800"/>
              </a:spcBef>
              <a:defRPr sz="2200">
                <a:solidFill>
                  <a:srgbClr val="1E4258"/>
                </a:solidFill>
              </a:defRPr>
            </a:pPr>
            <a:r>
              <a:t>• What's your educational need?</a:t>
            </a:r>
          </a:p>
          <a:p>
            <a:pPr>
              <a:spcBef>
                <a:spcPts val="800"/>
              </a:spcBef>
              <a:defRPr sz="2200">
                <a:solidFill>
                  <a:srgbClr val="1E4258"/>
                </a:solidFill>
              </a:defRPr>
            </a:pPr>
            <a:r>
              <a:t>• What tool did you pick, and why?</a:t>
            </a:r>
          </a:p>
          <a:p>
            <a:pPr>
              <a:spcBef>
                <a:spcPts val="800"/>
              </a:spcBef>
              <a:defRPr sz="2200">
                <a:solidFill>
                  <a:srgbClr val="1E4258"/>
                </a:solidFill>
              </a:defRPr>
            </a:pPr>
            <a:r>
              <a:t>• What's one barrier and how will you handle it?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Rectangle 1"/>
          <p:cNvSpPr/>
          <p:nvPr/>
        </p:nvSpPr>
        <p:spPr>
          <a:xfrm>
            <a:off x="-1" y="0"/>
            <a:ext cx="12191697" cy="1005839"/>
          </a:xfrm>
          <a:prstGeom prst="rect">
            <a:avLst/>
          </a:prstGeom>
          <a:solidFill>
            <a:srgbClr val="2D5F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2"/>
          <p:cNvSpPr txBox="1"/>
          <p:nvPr/>
        </p:nvSpPr>
        <p:spPr>
          <a:xfrm>
            <a:off x="502919" y="182879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Wrap-Up</a:t>
            </a:r>
          </a:p>
        </p:txBody>
      </p:sp>
      <p:sp>
        <p:nvSpPr>
          <p:cNvPr id="429" name="TextBox 3"/>
          <p:cNvSpPr txBox="1"/>
          <p:nvPr/>
        </p:nvSpPr>
        <p:spPr>
          <a:xfrm>
            <a:off x="502919" y="1097280"/>
            <a:ext cx="111556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A6B7E"/>
                </a:solidFill>
              </a:defRPr>
            </a:lvl1pPr>
          </a:lstStyle>
          <a:p>
            <a:pPr/>
            <a:r>
              <a:t>Start with one tool, one need, one small experiment</a:t>
            </a:r>
          </a:p>
        </p:txBody>
      </p:sp>
      <p:sp>
        <p:nvSpPr>
          <p:cNvPr id="430" name="TextBox 4"/>
          <p:cNvSpPr txBox="1"/>
          <p:nvPr/>
        </p:nvSpPr>
        <p:spPr>
          <a:xfrm>
            <a:off x="685800" y="1371600"/>
            <a:ext cx="10881361" cy="19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1A2332"/>
                </a:solidFill>
              </a:defRPr>
            </a:pPr>
            <a:r>
              <a:t>• Everything from today is in the Workshop Guide — bookmark it</a:t>
            </a:r>
          </a:p>
          <a:p>
            <a:pPr>
              <a:spcBef>
                <a:spcPts val="800"/>
              </a:spcBef>
              <a:defRPr sz="2000">
                <a:solidFill>
                  <a:srgbClr val="1A2332"/>
                </a:solidFill>
              </a:defRPr>
            </a:pPr>
            <a:r>
              <a:t>• The Zero Dollar Starter Kit: 9 free tools you can use Monday morning</a:t>
            </a:r>
          </a:p>
          <a:p>
            <a:pPr>
              <a:spcBef>
                <a:spcPts val="800"/>
              </a:spcBef>
              <a:defRPr sz="2000">
                <a:solidFill>
                  <a:srgbClr val="1A2332"/>
                </a:solidFill>
              </a:defRPr>
            </a:pPr>
            <a:r>
              <a:t>• All resource links, prompt templates, and the worksheet stay available</a:t>
            </a:r>
          </a:p>
          <a:p>
            <a:pPr>
              <a:spcBef>
                <a:spcPts val="800"/>
              </a:spcBef>
              <a:defRPr sz="2000">
                <a:solidFill>
                  <a:srgbClr val="1A2332"/>
                </a:solidFill>
              </a:defRPr>
            </a:pPr>
            <a:r>
              <a:t>• You don't need a grant, an IT ticket, or a technology expert</a:t>
            </a:r>
          </a:p>
          <a:p>
            <a:pPr>
              <a:spcBef>
                <a:spcPts val="800"/>
              </a:spcBef>
              <a:defRPr sz="2000">
                <a:solidFill>
                  <a:srgbClr val="1A2332"/>
                </a:solidFill>
              </a:defRPr>
            </a:pPr>
            <a:r>
              <a:t>• You need to know what your learners need — and you already know that</a:t>
            </a:r>
          </a:p>
        </p:txBody>
      </p:sp>
      <p:sp>
        <p:nvSpPr>
          <p:cNvPr id="431" name="TextBox 5"/>
          <p:cNvSpPr txBox="1"/>
          <p:nvPr/>
        </p:nvSpPr>
        <p:spPr>
          <a:xfrm>
            <a:off x="685800" y="5486400"/>
            <a:ext cx="108813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2D5F7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Workshop Guide → Section 8 (All Resources)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42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Rectangle 1"/>
          <p:cNvSpPr/>
          <p:nvPr/>
        </p:nvSpPr>
        <p:spPr>
          <a:xfrm>
            <a:off x="-1" y="5943600"/>
            <a:ext cx="12191697" cy="914400"/>
          </a:xfrm>
          <a:prstGeom prst="rect">
            <a:avLst/>
          </a:prstGeom>
          <a:solidFill>
            <a:srgbClr val="E883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TextBox 2"/>
          <p:cNvSpPr txBox="1"/>
          <p:nvPr/>
        </p:nvSpPr>
        <p:spPr>
          <a:xfrm>
            <a:off x="960119" y="1828800"/>
            <a:ext cx="10241282" cy="601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435" name="TextBox 3"/>
          <p:cNvSpPr txBox="1"/>
          <p:nvPr/>
        </p:nvSpPr>
        <p:spPr>
          <a:xfrm>
            <a:off x="960119" y="2926079"/>
            <a:ext cx="10241282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F4A55A"/>
                </a:solidFill>
              </a:defRPr>
            </a:lvl1pPr>
          </a:lstStyle>
          <a:p>
            <a:pPr/>
            <a:r>
              <a:t>Diana Brewer, PA-C</a:t>
            </a:r>
          </a:p>
        </p:txBody>
      </p:sp>
      <p:sp>
        <p:nvSpPr>
          <p:cNvPr id="436" name="TextBox 4"/>
          <p:cNvSpPr txBox="1"/>
          <p:nvPr/>
        </p:nvSpPr>
        <p:spPr>
          <a:xfrm>
            <a:off x="960119" y="3474720"/>
            <a:ext cx="102412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Knight Cancer Institute Hem/Onc APP Fellowship Director, OHSU  ·  Co-Founder &amp; CMO, Sapient Clinician</a:t>
            </a:r>
          </a:p>
        </p:txBody>
      </p:sp>
      <p:sp>
        <p:nvSpPr>
          <p:cNvPr id="437" name="TextBox 5"/>
          <p:cNvSpPr txBox="1"/>
          <p:nvPr/>
        </p:nvSpPr>
        <p:spPr>
          <a:xfrm>
            <a:off x="2788920" y="4114800"/>
            <a:ext cx="65836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u="sng">
                <a:solidFill>
                  <a:srgbClr val="FFFF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uFillTx/>
              </a:defRPr>
            </a:pPr>
            <a:r>
              <a:rPr u="sng"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brewerd@ohsu.edu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