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lm.google.com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apientclinician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Digital Learning Unlocked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Affordable Tools and Tech for Next-Gen APP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Diana Brewer, PA-C  ·  September 2026 APP Fellowship Conference  ·  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Welcome &amp;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Conflict of Interest &amp; Session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COI: Diana Brewer is co-founder of Sapient Clinician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This session is vendor-neutral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75 min: 40 min presentation + 30 min workshop + 5 min wrap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Keep the Workshop Guide open on your phone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Think · Pair · Share after each section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Everything stays available after the conference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860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6B7E"/>
                </a:solidFill>
                <a:latin typeface="Calibri"/>
              </a:defRPr>
            </a:pPr>
            <a:r>
              <a:t>[QR code → Workshop Guide page]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60320"/>
            <a:ext cx="32004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1 — Digital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Free or low-cost platforms for creating interactive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Branching Clinical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4114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5F7C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65-year-old with acute confusion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Make decisions, see consequences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Built with H5P (free, open-source)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No programming required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Every decision is a clinical action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The reasoning path IS the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TRY IT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F7C"/>
                </a:solidFill>
                <a:latin typeface="Calibri"/>
                <a:hlinkClick r:id="rId2"/>
              </a:rPr>
              <a:t>▶ Branching Scenario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Cost to recreate: $0  ·  Time to build: ~1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5F7C"/>
                </a:solidFill>
                <a:latin typeface="Calibri"/>
                <a:hlinkClick r:id="rId3"/>
              </a:rPr>
              <a:t>Workshop Guide → Section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Tool Reference — Content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and links in the Workshop Guide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Canva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~$14/mo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Infographics, visual cases, AI-assisted design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H5P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8659"/>
                          </a:solidFill>
                          <a:latin typeface="Calibri"/>
                        </a:defRPr>
                      </a:pPr>
                      <a:r>
                        <a:t>Free (OSS)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Branching scenarios, interactive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Nearpod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$120/yr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Live interactive lectures, formative assessment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Pear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$150/yr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Interactive slides with embedded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Gamma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AI-generated presentations from a prompt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MedEdPORTAL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8659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Peer-reviewed, ready-to-use teaching modules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303520"/>
            <a:ext cx="50800" cy="109728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7667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833A"/>
                </a:solidFill>
                <a:latin typeface="Calibri"/>
              </a:defRPr>
            </a:pPr>
            <a:r>
              <a:t>IMPORTANT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6692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Turn to your table group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you already use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from the list you're curious about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one educational challenge you wish you had a tool for?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AI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Conversational tools that generate content — and can hallucinate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Pedagogical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In the AI era, we must rethink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THE CORE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If we use AI to create multiple-choice quizzes, students will use AI to answer them.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That's not education — that's an arms race we've already lost.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Use AI to create cognitively demanding, authentic learning experiences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that AI can't do for the student: simulated encounters, reflective writing,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clinical reasoning cases, formative feedback on authentic work.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Use AI to build the scaffolding, not to replace the thinking.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Conversational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 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713232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$20/mo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Most versatile. File upload. Voice mode. Custom GPTs.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$17/mo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Best for long content, complex reasoning. 200K context.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$20/mo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Google Workspace integration. Deep Research with citations.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Grok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w/ X / ~$30/mo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Real-time web search. No enterprise/EDU plan.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Copilot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M365 integration. Many institutions already include it.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Grounding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Preventing hallucinations by grounding in your source material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Aggregation &amp; Grounding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RAG without writing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2743200"/>
          </a:xfrm>
          <a:prstGeom prst="rect">
            <a:avLst/>
          </a:prstGeom>
          <a:solidFill>
            <a:srgbClr val="F0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8659"/>
                </a:solidFill>
                <a:latin typeface="Calibri"/>
              </a:defRPr>
            </a:pPr>
            <a:r>
              <a:t>⭐ THE MOST IMPORTANT TOOL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4258"/>
                </a:solidFill>
                <a:latin typeface="Calibri"/>
              </a:defRPr>
            </a:pPr>
            <a:r>
              <a:t>Google NotebookLM —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• Upload your source documents → AI responses grounded ONLY in what you uploaded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• If the answer isn't in your documents, it says so. Zero hallucination risk.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• Generates study guides, FAQs, and audio podcast discussions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389120"/>
          <a:ext cx="1124712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Perplexity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$20/mo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AI answer engine that cites every source. Best for EBM exercises.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8659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Reasoning model with visible chain-of-thought. Self-hostable for privacy.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Grounded AI Workflow — No Code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Prepare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7472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Upload to NotebookLM (free)</a:t>
            </a:r>
            <a:br/>
            <a:r>
              <a:t>or ChatGPT/Claude with</a:t>
            </a:r>
            <a:br/>
            <a:r>
              <a:t>file upload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5216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8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704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Reuse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Demo: NotebookLM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Show the problem, then the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4114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5F7C"/>
                </a:solidFill>
                <a:latin typeface="Calibri"/>
              </a:defRPr>
            </a:pPr>
            <a:r>
              <a:t>DEMO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1. ChatGPT WITHOUT sources → show hallucination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2. Open NotebookLM with pericarditis guidelines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3. Same question → grounded, cited response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4. Generate clinical reasoning exercise + rubric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5. Audio Overview (podcast) — play 15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OPEN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F7C"/>
                </a:solidFill>
                <a:latin typeface="Calibri"/>
                <a:hlinkClick r:id="rId2"/>
              </a:rPr>
              <a:t>▶ NotebookLM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5F7C"/>
                </a:solidFill>
                <a:latin typeface="Calibri"/>
                <a:hlinkClick r:id="rId3"/>
              </a:rPr>
              <a:t>Workshop Guide → Section 4 (prompts)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Copy-Paste Prompt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these now — in the Workshop Guide → Section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447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Grounded Clinical Reasoning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For NotebookLM or ChatGPT with file upload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60320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50800" cy="100584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334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Simulated Patient Encounter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For ChatGPT voice mode or Claude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49039"/>
            <a:ext cx="50800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822191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Structured Feedback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062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Evaluates reasoning, not just answers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37760"/>
            <a:ext cx="50800" cy="100584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109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0109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Reflective Writing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Creates prompts AI can't answer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On your phone, open ChatGPT, Claude, or Gemini (all free)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Copy and paste Prompt #1 or #2 from the Workshop Guide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If you have a clinical guideline, upload it first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with your table — what worked? What surprised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3 — Simulation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Match the technology to the learning goal — from text to VR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 Clinician's Perspective on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FROM THE TRENCHES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Immersion doesn't require a headset.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A well-designed text-and-audio case — where a learner interviews a patient,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orders labs, interprets an ECG, and builds a differential — can teach clinical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reasoning as effectively as a $500 VR setup.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Fidelity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The most expensive simulation is not the best simulation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94560" cy="50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Text &amp;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Interview, labs, differential, images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37160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Image-Based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ECGs, radiology, lab 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1371600"/>
            <a:ext cx="2194560" cy="50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Screen-Based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trial — inst.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Virtual patients, branching scenarios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0" y="137160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AR (Phone)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3D anatomy on phone, no headset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0" y="1371600"/>
            <a:ext cx="2194560" cy="50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Immersive VR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$100 — $600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Procedures, team scenarios, physical skills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Interactive Clinical Reasoning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 — no VR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4114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5F7C"/>
                </a:solidFill>
                <a:latin typeface="Calibri"/>
              </a:defRPr>
            </a:pPr>
            <a:r>
              <a:t>WHAT YOU'LL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19-year-old male with sharp chest pain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Interview the patient (text-based)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Order labs, interpret an ECG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Build your differential with reasoning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Write your assessment and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Receive feedback on your reasoning process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TRY IT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F7C"/>
                </a:solidFill>
                <a:latin typeface="Calibri"/>
                <a:hlinkClick r:id="rId2"/>
              </a:rPr>
              <a:t>▶ Clinical Reasoning Case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474720"/>
            <a:ext cx="5029200" cy="1828800"/>
          </a:xfrm>
          <a:prstGeom prst="rect">
            <a:avLst/>
          </a:prstGeom>
          <a:solidFill>
            <a:srgbClr val="F0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3474720"/>
            <a:ext cx="50800" cy="182880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8659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023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2332"/>
                </a:solidFill>
                <a:latin typeface="Calibri"/>
              </a:defRPr>
            </a:pPr>
            <a:r>
              <a:t>No multiple choice. The reasoning IS the assessment. This is authentic assessment in the AI era.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Simulation Tools by Fidelity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Sections 5 &amp;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286000"/>
                <a:gridCol w="438912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Fidelity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Text/Audio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ChatGPT (patient sim)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History-taking, communication practice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Text/Audio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Flip (video reflection)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Case presentations, peer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Image/Screen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H5P (branching)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Branching clinical decision trees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Image/Screen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Body Interact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Virtual patient simulator (targets 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3D Anatomy/AR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BioDigital Human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Browser-based 3D anatomy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3D Anatomy/AR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Visible Body Atlas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$25 one-time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3D anatomy + AR on 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VR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OMS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Institutional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Explicitly targets PA/APP programs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VR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SimX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Institutional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150+ VR patient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VR Hardware — When It's Worth the Investment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Enables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Google Cardboard / phone VR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$5–$25/viewer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Basic VR demos, 360° anatomy. No controllers.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Meta Quest 2 (refurbished)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~$100–$150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Lowest-cost standalone VR. Runs most medical apps.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Meta Quest 3S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$349.99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Best value for new purchase. Color passthrough AR.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Meta Quest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$599.99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Premium. Not necessary for most programs.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645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8659"/>
                </a:solidFill>
                <a:latin typeface="Calibri"/>
              </a:defRPr>
            </a:pPr>
            <a:r>
              <a:t>USE VR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Procedural skills, team scenarios, high-acuity rehearsal, regular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572000"/>
            <a:ext cx="54864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45720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645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833A"/>
                </a:solidFill>
                <a:latin typeface="Calibri"/>
              </a:defRPr>
            </a:pPr>
            <a:r>
              <a:t>DON'T USE VR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937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The learning goal is clinical reasoning — text/screen does the job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Recommended Starter Stack for Low-Resource Programs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109728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Free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4630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ChatGPT + BioDigital Human + Flip + NotebookLM + H5P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0800" cy="1097280"/>
          </a:xfrm>
          <a:prstGeom prst="rect">
            <a:avLst/>
          </a:prstGeom>
          <a:solidFill>
            <a:srgbClr val="3A7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A9A"/>
                </a:solidFill>
                <a:latin typeface="Calibri"/>
              </a:defRPr>
            </a:pPr>
            <a:r>
              <a:t>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$25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7432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Above + Visible Body Atlas (includes 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50800" cy="109728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23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F7C"/>
                </a:solidFill>
                <a:latin typeface="Calibri"/>
              </a:defRPr>
            </a:pPr>
            <a:r>
              <a:t>One Headset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~$125-175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0233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Above + 1 refurbished Meta Quest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12079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12079"/>
            <a:ext cx="50800" cy="109728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035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33A"/>
                </a:solidFill>
                <a:latin typeface="Calibri"/>
              </a:defRPr>
            </a:pPr>
            <a:r>
              <a:t>Small Program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30351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~$700-1,100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303519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Above + 2-3 Meta Quest 3S (~$350 each)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Think of a clinical skill your fellows need to learn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Which fidelity level would you choose? Text? Images? Screen? AR? VR?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Would the free option work? Or does this skill genuinely require VR?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your reasoning with your table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Capstone Design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Turn one of your ideas into a plan you can take back to your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Capstone Design Sprint —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Extend your earlier discussions into a complete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13716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13716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833A"/>
                </a:solidFill>
                <a:latin typeface="Calibri"/>
              </a:defRPr>
            </a:pPr>
            <a:r>
              <a:t>WHAT THIS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You've been discussing tools and ideas after each section — now extend that into a full implementation plan. Pick the idea that feels most feasible.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5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6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12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97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83879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69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 → Section 7 (Worksheet)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Share-Out — 5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2-3 groups share their plan (60 seconds each)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What's your educational need?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What tool did you pick, and why?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Start with one tool, one need, one small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Everything from today is in the Workshop Guide — bookmark it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The Zero Dollar Starter Kit: 9 free tools you can use Monday morning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All resource links, prompt templates, and the worksheet stay available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You don't need a grant, an IT ticket, or a technology expert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You need to know what your learners need — and you already know that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 → Section 8 (All Resources)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Diana Brewer, PA-C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Chief Medical Officer, Sapient Clinician  ·  APP Fellowship Director, OHSU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4A55A"/>
                </a:solidFill>
                <a:latin typeface="Calibri"/>
                <a:hlinkClick r:id="rId2"/>
              </a:rPr>
              <a:t>contact@sapientclinician.com  ·  sapientclinician.com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