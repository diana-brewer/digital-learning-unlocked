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5" r:id="rId30"/>
    <p:sldId id="262" r:id="rId14"/>
    <p:sldId id="266" r:id="rId18"/>
    <p:sldId id="267" r:id="rId19"/>
    <p:sldId id="268" r:id="rId20"/>
    <p:sldId id="269" r:id="rId21"/>
    <p:sldId id="271" r:id="rId23"/>
    <p:sldId id="272" r:id="rId24"/>
    <p:sldId id="274" r:id="rId26"/>
    <p:sldId id="279" r:id="rId31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" Type="http://schemas.openxmlformats.org/officeDocument/2006/relationships/slide" Target="slides/slide14.xml"/><Relationship Id="rId30" Type="http://schemas.openxmlformats.org/officeDocument/2006/relationships/slide" Target="slides/slide6.xml"/><Relationship Id="rId31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60 min: ~35 min presentation + 20 min workshop + 5 min share &amp;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Scan for the Workshop Guide page</a:t>
            </a:r>
          </a:p>
        </p:txBody>
      </p:sp>
      <p:pic>
        <p:nvPicPr>
          <p:cNvPr id="109" name="Picture 108" descr="workshop-guide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560320"/>
            <a:ext cx="3200400" cy="32004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1: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1: The Hand-Built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Built by hand, grounded by hand, live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IT DOES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Captures clinical reasoning, branch by branch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Grounded: a human vetted every decision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Reusable: runs the same for every learner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Real patients are not multiple choice.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It only answers what its author pre-imagined.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A hiking trail, not open country.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 (run the demo on your phone)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Demo: The Realism Gap, Part 2: The AI Case,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One paste, about sixty seconds, on screen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WHAT THE PASTE PRODUCES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An open-ended case: the learner asks anything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student-ready prompt with rubric feedback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 provenance warning it writes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YOUR TURN COMES AT THE TPS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The exact prompt is in the guide: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Section 4, prompt 5b: Today's Demo Case.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Copy it on your phone when we get there.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(prompts 5 and 5b)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The Realism Gap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one thing you already teach: a case, a treatment update, a procedure, a journal club.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Where is its realism gap?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format would you try first?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Elephant: Nobody Wrote This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Fast, realistic, and unverifiable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Every run is a fresh, unreviewed case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No source. No citation. No reviewer.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Would you sign your name to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THE STAKES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An error propagates to every learner who meets it.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pitfall scales with the stakes: dosing, step order, discharge instructions.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Objective 2 is how we get realism and verifiability.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(Beyond the Case)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Where Ground Truth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Whatever you teach, someone already published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GROUNDING IS BUILT IN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ChatGPT Projects: your files and instructions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Claude: point a project at a folder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Gemini: grounded in your Google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TODAY'S RUNNING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A published MedEdPORTAL case: sore throat to peritonsillar abscess, with a benzocaine twist.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Six files, peer-reviewed, downloadable in the guide.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 is one easy dedicated example, demoing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Sections 3 and 4 (tools, sources, case files)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Grounded AI Workflow: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rPr/>
              <a:t>Upload to any assistant</a:t>
            </a:r>
          </a:p>
          <a:p>
            <a:r>
              <a:rPr/>
              <a:t>NotebookLM, a ChatGPT</a:t>
            </a:r>
          </a:p>
          <a:p>
            <a:r>
              <a:rPr/>
              <a:t>Project, or a Claude project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Live Demo: The Same Case, Grounded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Same question, asked twice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ON SCREEN, DIANA DRIVES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1 · Ungrounded: the same question, no sources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2 · Grounded: the pre-built notebook answers with citations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3 · Bonus: a rubric, and 15 seconds of the audio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ON YOUR 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Open NotebookLM and try it yourself: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notebooklm.google.com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Then run Prompt #1 with the MedEdPORTAL files (guide → Section 4).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 (Prompt #1)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Try It Now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Run Today's Demo Case on your phone (guide → Section 4, prompt 5b).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Then the grounded version: the MedEdPORTAL files into NotebookLM, Prompt #1.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Compare: what would you verify before this case touches a learner?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3: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rPr/>
              <a:t>Match the technology to the learning goal, from text to VR ·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371600"/>
            <a:ext cx="5029201" cy="4114800"/>
          </a:xfrm>
          <a:prstGeom prst="rect">
            <a:avLst/>
          </a:prstGeom>
          <a:solidFill>
            <a:srgbClr val="FD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0" y="1371600"/>
            <a:ext cx="50801" cy="41148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The Fidelity Spectrum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B6B7C"/>
                </a:solidFill>
              </a:rPr>
              <a:t>Match the tool to the goal, not the other way 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5F7C"/>
                </a:solidFill>
              </a:rPr>
              <a:t>THE SPECTRUM,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• Text and audio, $0 to $20/mo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Image-based,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Screen-based, free trials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AR on your phone, free to $25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• Immersive VR, $100 to $600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833A"/>
                </a:solidFill>
              </a:rPr>
              <a:t>WHERE REASONING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19" y="1920239"/>
            <a:ext cx="4480562" cy="2301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2332"/>
                </a:solidFill>
              </a:rPr>
              <a:t>Text and audio, images included: ECG, X-ray, CT, labs.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The uncanny valley of avatar tools is real.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1A2332"/>
                </a:solidFill>
              </a:rPr>
              <a:t>Sapient Clinician does this well (see the COI slide).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5303520"/>
            <a:ext cx="11155682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Think · Pair · Share: Match the Tool (2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Pick a clinical skill your fellows need to learn.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Which point on the spectrum fits, and would the free option do the job?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rPr/>
              <a:t>Capstone Design Sprint (20 min)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Turn one of your ideas into a plan you can take back to your program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You've been discussing tools and ideas after each section,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Share-Out (4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Two or three groups share their plan, 60 seconds each.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What is your educational need? Your tool? Your first step?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7 (the 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E4258"/>
                </a:solidFill>
              </a:rPr>
              <a:t>Start with one tool, one need, one small experiment.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Everything from today is in the Workshop Guide: bookmark it now.</a:t>
            </a:r>
          </a:p>
          <a:p>
            <a:pPr>
              <a:spcBef>
                <a:spcPts val="1600"/>
              </a:spcBef>
            </a:pPr>
            <a:r>
              <a:rPr sz="2200" b="0">
                <a:solidFill>
                  <a:srgbClr val="1E4258"/>
                </a:solidFill>
              </a:rPr>
              <a:t>The Zero Dollar starter kit is in Section 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FF"/>
                </a:solidFill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  <p:pic>
        <p:nvPicPr>
          <p:cNvPr id="438" name="Picture 437" descr="workshop-guide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331720"/>
            <a:ext cx="1828800" cy="1828800"/>
          </a:xfrm>
          <a:prstGeom prst="rect">
            <a:avLst/>
          </a:prstGeom>
        </p:spPr>
      </p:pic>
      <p:sp>
        <p:nvSpPr>
          <p:cNvPr id="439" name="TextBox 438"/>
          <p:cNvSpPr txBox="1"/>
          <p:nvPr/>
        </p:nvSpPr>
        <p:spPr>
          <a:xfrm>
            <a:off x="8503920" y="43159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1E4258"/>
                </a:solidFill>
                <a:latin typeface="Arial"/>
              </a:rPr>
              <a:t>Scan for the 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