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85" r:id="rId30"/>
    <p:sldId id="262" r:id="rId14"/>
    <p:sldId id="266" r:id="rId18"/>
    <p:sldId id="267" r:id="rId19"/>
    <p:sldId id="268" r:id="rId20"/>
    <p:sldId id="269" r:id="rId21"/>
    <p:sldId id="271" r:id="rId23"/>
    <p:sldId id="272" r:id="rId24"/>
    <p:sldId id="274" r:id="rId26"/>
    <p:sldId id="279" r:id="rId31"/>
    <p:sldId id="281" r:id="rId33"/>
    <p:sldId id="282" r:id="rId34"/>
    <p:sldId id="283" r:id="rId35"/>
    <p:sldId id="284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4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6" Type="http://schemas.openxmlformats.org/officeDocument/2006/relationships/slide" Target="slides/slide14.xml"/><Relationship Id="rId30" Type="http://schemas.openxmlformats.org/officeDocument/2006/relationships/slide" Target="slides/slide6.xml"/><Relationship Id="rId31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branching-demo.html" TargetMode="External"/><Relationship Id="rId3" Type="http://schemas.openxmlformats.org/officeDocument/2006/relationships/hyperlink" Target="https://diana-brewer.github.io/digital-learning-unlocked/index.html#topic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.google.com/notebook/db46c5da-59d3-4a7b-8c29-52e5588b39a1" TargetMode="External"/><Relationship Id="rId3" Type="http://schemas.openxmlformats.org/officeDocument/2006/relationships/hyperlink" Target="https://diana-brewer.github.io/digital-learning-unlocked/index.html#topic4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4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COI: Diana Brewer is a co-founder of Sapient Clinician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This session is vendor-neutral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60 min: ~35 min presentation + 20 min workshop + 5 min share &amp; wrap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Keep the Workshop Guide open on your phone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Think · Pair · Share after each section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Everything stays available after the conference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Scan for the Workshop Guide page</a:t>
            </a:r>
          </a:p>
        </p:txBody>
      </p:sp>
      <p:pic>
        <p:nvPicPr>
          <p:cNvPr id="109" name="Picture 108" descr="workshop-guid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560320"/>
            <a:ext cx="3200400" cy="3200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11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12" name="2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14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Objective 1: Digital Tools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Free or low-cost platforms for creating interactive content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Demo: The Realism Gap, Part 1: The Hand-Built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Built by hand, grounded by hand, live on screen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WHAT IT DOES WELL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Captures clinical reasoning, branch by branch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Grounded: a human vetted every decision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Reusable: runs the same for every learner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Real patients are not multiple choice.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It only answers what its author pre-imagined.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A hiking trail, not open country.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2 (run the demo on your phone)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Demo: The Realism Gap, Part 2: The AI Case,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One paste, about sixty seconds, on screen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WHAT THE PASTE PRODUCES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An open-ended case: the learner asks anything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 student-ready prompt with rubric feedback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 provenance warning it writes itself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YOUR TURN COMES AT THE TPS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The exact prompt is in the guide: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Section 4, prompt 5b: Today's Demo Case.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Copy it on your phone when we get there.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(prompts 5 and 5b)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The Realism Gap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one thing you already teach: a case, a treatment update, a procedure, a journal club.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Where is its realism gap?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format would you try first?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Elephant: Nobody Wrote This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Fast, realistic, and unverifiable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Every run is a fresh, unreviewed case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No source. No citation. No reviewer.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Would you sign your name to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STAKES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An error propagates to every learner who meets it.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The pitfall scales with the stakes: dosing, step order, discharge instructions.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Objective 2 is how we get realism and verifiability.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(Beyond the Case)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Where Ground Truth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Whatever you teach, someone already published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GROUNDING IS BUILT IN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ChatGPT Projects: your files and instructions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Claude: point a project at a folder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Gemini: grounded in your Google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TODAY'S RUNNING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A published MedEdPORTAL case: sore throat to peritonsillar abscess, with a benzocaine twist.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Six files, peer-reviewed, downloadable in the guide.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NotebookLM is one easy dedicated example, demoing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Sections 3 and 4 (tools, sources, case files)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The Grounded AI Workflow: No Code Required</a:t>
            </a:r>
          </a:p>
        </p:txBody>
      </p:sp>
      <p:sp>
        <p:nvSpPr>
          <p:cNvPr id="184" name="Rectangle 3"/>
          <p:cNvSpPr/>
          <p:nvPr/>
        </p:nvSpPr>
        <p:spPr>
          <a:xfrm>
            <a:off x="36575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4"/>
          <p:cNvSpPr/>
          <p:nvPr/>
        </p:nvSpPr>
        <p:spPr>
          <a:xfrm>
            <a:off x="36575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88" name="Oval 5"/>
          <p:cNvGrpSpPr/>
          <p:nvPr/>
        </p:nvGrpSpPr>
        <p:grpSpPr>
          <a:xfrm>
            <a:off x="1097280" y="1828799"/>
            <a:ext cx="731521" cy="731522"/>
            <a:chOff x="0" y="0"/>
            <a:chExt cx="731520" cy="731520"/>
          </a:xfrm>
        </p:grpSpPr>
        <p:sp>
          <p:nvSpPr>
            <p:cNvPr id="186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7" name="1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89" name="TextBox 6"/>
          <p:cNvSpPr txBox="1"/>
          <p:nvPr/>
        </p:nvSpPr>
        <p:spPr>
          <a:xfrm>
            <a:off x="502920" y="2743200"/>
            <a:ext cx="1920239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Prepare</a:t>
            </a:r>
          </a:p>
        </p:txBody>
      </p:sp>
      <p:sp>
        <p:nvSpPr>
          <p:cNvPr id="190" name="TextBox 7"/>
          <p:cNvSpPr txBox="1"/>
          <p:nvPr/>
        </p:nvSpPr>
        <p:spPr>
          <a:xfrm>
            <a:off x="502920" y="3291840"/>
            <a:ext cx="1920239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Gather your source material:</a:t>
            </a:r>
            <a:br/>
            <a:r>
              <a:rPr sz="1300"/>
              <a:t>guidelines, case notes,</a:t>
            </a:r>
            <a:br/>
            <a:r>
              <a:rPr sz="1300"/>
              <a:t>articles, lecture slides</a:t>
            </a:r>
          </a:p>
        </p:txBody>
      </p:sp>
      <p:sp>
        <p:nvSpPr>
          <p:cNvPr id="191" name="Rectangle 8"/>
          <p:cNvSpPr/>
          <p:nvPr/>
        </p:nvSpPr>
        <p:spPr>
          <a:xfrm>
            <a:off x="274319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2" name="Rectangle 9"/>
          <p:cNvSpPr/>
          <p:nvPr/>
        </p:nvSpPr>
        <p:spPr>
          <a:xfrm>
            <a:off x="274319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95" name="Oval 10"/>
          <p:cNvGrpSpPr/>
          <p:nvPr/>
        </p:nvGrpSpPr>
        <p:grpSpPr>
          <a:xfrm>
            <a:off x="3474720" y="1828799"/>
            <a:ext cx="731521" cy="731522"/>
            <a:chOff x="0" y="0"/>
            <a:chExt cx="731520" cy="731520"/>
          </a:xfrm>
        </p:grpSpPr>
        <p:sp>
          <p:nvSpPr>
            <p:cNvPr id="193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4" name="2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96" name="TextBox 11"/>
          <p:cNvSpPr txBox="1"/>
          <p:nvPr/>
        </p:nvSpPr>
        <p:spPr>
          <a:xfrm>
            <a:off x="288035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Upload</a:t>
            </a:r>
          </a:p>
        </p:txBody>
      </p:sp>
      <p:sp>
        <p:nvSpPr>
          <p:cNvPr id="197" name="TextBox 12"/>
          <p:cNvSpPr txBox="1"/>
          <p:nvPr/>
        </p:nvSpPr>
        <p:spPr>
          <a:xfrm>
            <a:off x="288035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Upload to any assistant</a:t>
            </a:r>
          </a:p>
          <a:p>
            <a:r>
              <a:rPr sz="1300"/>
              <a:t>NotebookLM, a ChatGPT</a:t>
            </a:r>
          </a:p>
          <a:p>
            <a:r>
              <a:rPr sz="1300"/>
              <a:t>Project, or a Claude project</a:t>
            </a:r>
          </a:p>
        </p:txBody>
      </p:sp>
      <p:sp>
        <p:nvSpPr>
          <p:cNvPr id="198" name="Rectangle 13"/>
          <p:cNvSpPr/>
          <p:nvPr/>
        </p:nvSpPr>
        <p:spPr>
          <a:xfrm>
            <a:off x="512064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9" name="Rectangle 14"/>
          <p:cNvSpPr/>
          <p:nvPr/>
        </p:nvSpPr>
        <p:spPr>
          <a:xfrm>
            <a:off x="512064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2" name="Oval 15"/>
          <p:cNvGrpSpPr/>
          <p:nvPr/>
        </p:nvGrpSpPr>
        <p:grpSpPr>
          <a:xfrm>
            <a:off x="5852159" y="1828799"/>
            <a:ext cx="731521" cy="731522"/>
            <a:chOff x="0" y="0"/>
            <a:chExt cx="731520" cy="731520"/>
          </a:xfrm>
        </p:grpSpPr>
        <p:sp>
          <p:nvSpPr>
            <p:cNvPr id="200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1" name="3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203" name="TextBox 16"/>
          <p:cNvSpPr txBox="1"/>
          <p:nvPr/>
        </p:nvSpPr>
        <p:spPr>
          <a:xfrm>
            <a:off x="525779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Ground</a:t>
            </a:r>
          </a:p>
        </p:txBody>
      </p:sp>
      <p:sp>
        <p:nvSpPr>
          <p:cNvPr id="204" name="TextBox 17"/>
          <p:cNvSpPr txBox="1"/>
          <p:nvPr/>
        </p:nvSpPr>
        <p:spPr>
          <a:xfrm>
            <a:off x="525779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Add this instruction:</a:t>
            </a:r>
            <a:br/>
            <a:r>
              <a:rPr sz="1300"/>
              <a:t>"Base your response only</a:t>
            </a:r>
            <a:br/>
            <a:r>
              <a:rPr sz="1300"/>
              <a:t>on the attached documents"</a:t>
            </a:r>
          </a:p>
        </p:txBody>
      </p:sp>
      <p:sp>
        <p:nvSpPr>
          <p:cNvPr id="205" name="Rectangle 18"/>
          <p:cNvSpPr/>
          <p:nvPr/>
        </p:nvSpPr>
        <p:spPr>
          <a:xfrm>
            <a:off x="749808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Rectangle 19"/>
          <p:cNvSpPr/>
          <p:nvPr/>
        </p:nvSpPr>
        <p:spPr>
          <a:xfrm>
            <a:off x="749808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9" name="Oval 20"/>
          <p:cNvGrpSpPr/>
          <p:nvPr/>
        </p:nvGrpSpPr>
        <p:grpSpPr>
          <a:xfrm>
            <a:off x="8229599" y="1828799"/>
            <a:ext cx="731522" cy="731522"/>
            <a:chOff x="0" y="0"/>
            <a:chExt cx="731520" cy="731520"/>
          </a:xfrm>
        </p:grpSpPr>
        <p:sp>
          <p:nvSpPr>
            <p:cNvPr id="207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8" name="4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210" name="TextBox 21"/>
          <p:cNvSpPr txBox="1"/>
          <p:nvPr/>
        </p:nvSpPr>
        <p:spPr>
          <a:xfrm>
            <a:off x="763523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Verify</a:t>
            </a:r>
          </a:p>
        </p:txBody>
      </p:sp>
      <p:sp>
        <p:nvSpPr>
          <p:cNvPr id="211" name="TextBox 22"/>
          <p:cNvSpPr txBox="1"/>
          <p:nvPr/>
        </p:nvSpPr>
        <p:spPr>
          <a:xfrm>
            <a:off x="763523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Spot-check lab values,</a:t>
            </a:r>
            <a:br/>
            <a:r>
              <a:rPr sz="1300"/>
              <a:t>drug dosages, clinical</a:t>
            </a:r>
            <a:br/>
            <a:r>
              <a:rPr sz="1300"/>
              <a:t>facts against your source</a:t>
            </a:r>
          </a:p>
        </p:txBody>
      </p:sp>
      <p:sp>
        <p:nvSpPr>
          <p:cNvPr id="212" name="Rectangle 23"/>
          <p:cNvSpPr/>
          <p:nvPr/>
        </p:nvSpPr>
        <p:spPr>
          <a:xfrm>
            <a:off x="9875519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Rectangle 24"/>
          <p:cNvSpPr/>
          <p:nvPr/>
        </p:nvSpPr>
        <p:spPr>
          <a:xfrm>
            <a:off x="9875519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16" name="Oval 25"/>
          <p:cNvGrpSpPr/>
          <p:nvPr/>
        </p:nvGrpSpPr>
        <p:grpSpPr>
          <a:xfrm>
            <a:off x="10607040" y="1828799"/>
            <a:ext cx="731521" cy="731522"/>
            <a:chOff x="0" y="0"/>
            <a:chExt cx="731520" cy="731520"/>
          </a:xfrm>
        </p:grpSpPr>
        <p:sp>
          <p:nvSpPr>
            <p:cNvPr id="214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5" name="5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17" name="TextBox 26"/>
          <p:cNvSpPr txBox="1"/>
          <p:nvPr/>
        </p:nvSpPr>
        <p:spPr>
          <a:xfrm>
            <a:off x="1001267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Reuse</a:t>
            </a:r>
          </a:p>
        </p:txBody>
      </p:sp>
      <p:sp>
        <p:nvSpPr>
          <p:cNvPr id="218" name="TextBox 27"/>
          <p:cNvSpPr txBox="1"/>
          <p:nvPr/>
        </p:nvSpPr>
        <p:spPr>
          <a:xfrm>
            <a:off x="1001267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Save the notebook.</a:t>
            </a:r>
            <a:br/>
            <a:r>
              <a:rPr sz="1300"/>
              <a:t>It becomes your personal</a:t>
            </a:r>
            <a:br/>
            <a:r>
              <a:rPr sz="1300"/>
              <a:t>AI case library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Live Demo: The Same Case, Grounded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Same question, asked twice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ON SCREEN, DIANA DRIVES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1 · Ungrounded: the same question, no sources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2 · Grounded: the pre-built notebook answers with citations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3 · Bonus: a rubric, and 15 seconds of the audio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ON YOUR 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Open NotebookLM and try it yourself: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notebooklm.google.com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Then run Prompt #1 with the MedEdPORTAL files (guide → Section 4).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(Prompt #1)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Try It Now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Run Today's Demo Case on your phone (guide → Section 4, prompt 5b).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Then the grounded version: the MedEdPORTAL files into NotebookLM, Prompt #1.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Compare: what would you verify before this case touches a learner?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Objective 3: Simulation Spectrum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Match the technology to the learning goal, from text to VR ·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Fidelity Spectrum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Match the tool to the goal, not the other way 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SPECTRUM, LEFT TO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Text and audio, $0 to $20/mo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Image-based,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Screen-based, free trials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AR on your phone,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Immersive VR, $100 to $600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WHERE REASONING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Text and audio, images included: ECG, X-ray, CT, labs.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The uncanny valley of avatar tools is real.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Sapient Clinician does this well (see the COI slide).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Match the Tool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a clinical skill your fellows need to learn.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point on the spectrum fits, and would the free option do the job?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Capstone Design Sprint (20 min)</a:t>
            </a:r>
          </a:p>
        </p:txBody>
      </p:sp>
      <p:sp>
        <p:nvSpPr>
          <p:cNvPr id="38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Turn one of your ideas into a plan you can take back to your program</a:t>
            </a:r>
          </a:p>
        </p:txBody>
      </p:sp>
      <p:sp>
        <p:nvSpPr>
          <p:cNvPr id="386" name="Rectangle 4"/>
          <p:cNvSpPr/>
          <p:nvPr/>
        </p:nvSpPr>
        <p:spPr>
          <a:xfrm>
            <a:off x="640080" y="1371600"/>
            <a:ext cx="10972801" cy="1371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Rectangle 5"/>
          <p:cNvSpPr/>
          <p:nvPr/>
        </p:nvSpPr>
        <p:spPr>
          <a:xfrm>
            <a:off x="640080" y="1371600"/>
            <a:ext cx="50801" cy="1371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8" name="TextBox 6"/>
          <p:cNvSpPr txBox="1"/>
          <p:nvPr/>
        </p:nvSpPr>
        <p:spPr>
          <a:xfrm>
            <a:off x="914399" y="1444752"/>
            <a:ext cx="105156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rPr/>
              <a:t>WHAT THIS IS</a:t>
            </a:r>
          </a:p>
        </p:txBody>
      </p:sp>
      <p:sp>
        <p:nvSpPr>
          <p:cNvPr id="389" name="TextBox 7"/>
          <p:cNvSpPr txBox="1"/>
          <p:nvPr/>
        </p:nvSpPr>
        <p:spPr>
          <a:xfrm>
            <a:off x="914399" y="1737360"/>
            <a:ext cx="105156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rPr/>
              <a:t>You've been discussing tools and ideas after each section, now extend that into a full implementation plan. Pick the idea that feels most feasible.</a:t>
            </a:r>
          </a:p>
        </p:txBody>
      </p:sp>
      <p:sp>
        <p:nvSpPr>
          <p:cNvPr id="390" name="Rectangle 8"/>
          <p:cNvSpPr/>
          <p:nvPr/>
        </p:nvSpPr>
        <p:spPr>
          <a:xfrm>
            <a:off x="640079" y="3017520"/>
            <a:ext cx="2103122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Rectangle 9"/>
          <p:cNvSpPr/>
          <p:nvPr/>
        </p:nvSpPr>
        <p:spPr>
          <a:xfrm>
            <a:off x="640079" y="3017520"/>
            <a:ext cx="210312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94" name="Oval 10"/>
          <p:cNvGrpSpPr/>
          <p:nvPr/>
        </p:nvGrpSpPr>
        <p:grpSpPr>
          <a:xfrm>
            <a:off x="1325880" y="3200399"/>
            <a:ext cx="640081" cy="640082"/>
            <a:chOff x="0" y="0"/>
            <a:chExt cx="640080" cy="640080"/>
          </a:xfrm>
        </p:grpSpPr>
        <p:sp>
          <p:nvSpPr>
            <p:cNvPr id="392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3" name="1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395" name="TextBox 11"/>
          <p:cNvSpPr txBox="1"/>
          <p:nvPr/>
        </p:nvSpPr>
        <p:spPr>
          <a:xfrm>
            <a:off x="777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Identify</a:t>
            </a:r>
            <a:br/>
            <a:r>
              <a:rPr/>
              <a:t>a Need</a:t>
            </a:r>
          </a:p>
        </p:txBody>
      </p:sp>
      <p:sp>
        <p:nvSpPr>
          <p:cNvPr id="396" name="Rectangle 12"/>
          <p:cNvSpPr/>
          <p:nvPr/>
        </p:nvSpPr>
        <p:spPr>
          <a:xfrm>
            <a:off x="2926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Rectangle 13"/>
          <p:cNvSpPr/>
          <p:nvPr/>
        </p:nvSpPr>
        <p:spPr>
          <a:xfrm>
            <a:off x="2926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0" name="Oval 14"/>
          <p:cNvGrpSpPr/>
          <p:nvPr/>
        </p:nvGrpSpPr>
        <p:grpSpPr>
          <a:xfrm>
            <a:off x="3611879" y="3200399"/>
            <a:ext cx="640081" cy="640082"/>
            <a:chOff x="0" y="0"/>
            <a:chExt cx="640080" cy="640080"/>
          </a:xfrm>
        </p:grpSpPr>
        <p:sp>
          <p:nvSpPr>
            <p:cNvPr id="398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9" name="2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401" name="TextBox 15"/>
          <p:cNvSpPr txBox="1"/>
          <p:nvPr/>
        </p:nvSpPr>
        <p:spPr>
          <a:xfrm>
            <a:off x="3063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Define</a:t>
            </a:r>
            <a:br/>
            <a:r>
              <a:rPr/>
              <a:t>Learning Goals</a:t>
            </a:r>
          </a:p>
        </p:txBody>
      </p:sp>
      <p:sp>
        <p:nvSpPr>
          <p:cNvPr id="402" name="Rectangle 16"/>
          <p:cNvSpPr/>
          <p:nvPr/>
        </p:nvSpPr>
        <p:spPr>
          <a:xfrm>
            <a:off x="5212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Rectangle 17"/>
          <p:cNvSpPr/>
          <p:nvPr/>
        </p:nvSpPr>
        <p:spPr>
          <a:xfrm>
            <a:off x="5212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6" name="Oval 18"/>
          <p:cNvGrpSpPr/>
          <p:nvPr/>
        </p:nvGrpSpPr>
        <p:grpSpPr>
          <a:xfrm>
            <a:off x="5897879" y="3200399"/>
            <a:ext cx="640081" cy="640082"/>
            <a:chOff x="0" y="0"/>
            <a:chExt cx="640080" cy="640080"/>
          </a:xfrm>
        </p:grpSpPr>
        <p:sp>
          <p:nvSpPr>
            <p:cNvPr id="404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5" name="3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407" name="TextBox 19"/>
          <p:cNvSpPr txBox="1"/>
          <p:nvPr/>
        </p:nvSpPr>
        <p:spPr>
          <a:xfrm>
            <a:off x="5349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Select</a:t>
            </a:r>
            <a:br/>
            <a:r>
              <a:rPr/>
              <a:t>a Tool</a:t>
            </a:r>
          </a:p>
        </p:txBody>
      </p:sp>
      <p:sp>
        <p:nvSpPr>
          <p:cNvPr id="408" name="Rectangle 20"/>
          <p:cNvSpPr/>
          <p:nvPr/>
        </p:nvSpPr>
        <p:spPr>
          <a:xfrm>
            <a:off x="7498078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Rectangle 21"/>
          <p:cNvSpPr/>
          <p:nvPr/>
        </p:nvSpPr>
        <p:spPr>
          <a:xfrm>
            <a:off x="7498078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2" name="Oval 22"/>
          <p:cNvGrpSpPr/>
          <p:nvPr/>
        </p:nvGrpSpPr>
        <p:grpSpPr>
          <a:xfrm>
            <a:off x="8183878" y="3200399"/>
            <a:ext cx="640081" cy="640082"/>
            <a:chOff x="0" y="0"/>
            <a:chExt cx="640080" cy="640080"/>
          </a:xfrm>
        </p:grpSpPr>
        <p:sp>
          <p:nvSpPr>
            <p:cNvPr id="410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1" name="4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413" name="TextBox 23"/>
          <p:cNvSpPr txBox="1"/>
          <p:nvPr/>
        </p:nvSpPr>
        <p:spPr>
          <a:xfrm>
            <a:off x="7635238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Map Pedagogy</a:t>
            </a:r>
            <a:br/>
            <a:r>
              <a:rPr/>
              <a:t>to Technology</a:t>
            </a:r>
          </a:p>
        </p:txBody>
      </p:sp>
      <p:sp>
        <p:nvSpPr>
          <p:cNvPr id="414" name="Rectangle 24"/>
          <p:cNvSpPr/>
          <p:nvPr/>
        </p:nvSpPr>
        <p:spPr>
          <a:xfrm>
            <a:off x="9784080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Rectangle 25"/>
          <p:cNvSpPr/>
          <p:nvPr/>
        </p:nvSpPr>
        <p:spPr>
          <a:xfrm>
            <a:off x="9784080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8" name="Oval 26"/>
          <p:cNvGrpSpPr/>
          <p:nvPr/>
        </p:nvGrpSpPr>
        <p:grpSpPr>
          <a:xfrm>
            <a:off x="10469880" y="3200399"/>
            <a:ext cx="640081" cy="640082"/>
            <a:chOff x="0" y="0"/>
            <a:chExt cx="640080" cy="640080"/>
          </a:xfrm>
        </p:grpSpPr>
        <p:sp>
          <p:nvSpPr>
            <p:cNvPr id="416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7" name="5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419" name="TextBox 27"/>
          <p:cNvSpPr txBox="1"/>
          <p:nvPr/>
        </p:nvSpPr>
        <p:spPr>
          <a:xfrm>
            <a:off x="9921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Sketch</a:t>
            </a:r>
            <a:br/>
            <a:r>
              <a:rPr/>
              <a:t>Implementation</a:t>
            </a:r>
          </a:p>
        </p:txBody>
      </p:sp>
      <p:sp>
        <p:nvSpPr>
          <p:cNvPr id="420" name="TextBox 28"/>
          <p:cNvSpPr txBox="1"/>
          <p:nvPr/>
        </p:nvSpPr>
        <p:spPr>
          <a:xfrm>
            <a:off x="685800" y="530352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7 (Worksheet)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Share-Out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Two or three groups share their plan, 60 seconds each.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What is your educational need? Your tool? Your first step?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7 (the 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Start with one tool, one need, one small experiment.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Everything from today is in the Workshop Guide: bookmark it now.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The Zero Dollar starter kit is in Section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  <p:pic>
        <p:nvPicPr>
          <p:cNvPr id="438" name="Picture 437" descr="workshop-guid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31720"/>
            <a:ext cx="1828800" cy="1828800"/>
          </a:xfrm>
          <a:prstGeom prst="rect">
            <a:avLst/>
          </a:prstGeom>
        </p:spPr>
      </p:pic>
      <p:sp>
        <p:nvSpPr>
          <p:cNvPr id="439" name="TextBox 438"/>
          <p:cNvSpPr txBox="1"/>
          <p:nvPr/>
        </p:nvSpPr>
        <p:spPr>
          <a:xfrm>
            <a:off x="8503920" y="43159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1E4258"/>
                </a:solidFill>
                <a:latin typeface="Arial"/>
              </a:rPr>
              <a:t>Scan for the 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