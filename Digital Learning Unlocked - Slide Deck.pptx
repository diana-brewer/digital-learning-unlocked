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5" r:id="rId30"/>
    <p:sldId id="262" r:id="rId14"/>
    <p:sldId id="266" r:id="rId18"/>
    <p:sldId id="300" r:id="rId100"/>
    <p:sldId id="267" r:id="rId19"/>
    <p:sldId id="268" r:id="rId20"/>
    <p:sldId id="269" r:id="rId21"/>
    <p:sldId id="271" r:id="rId23"/>
    <p:sldId id="272" r:id="rId24"/>
    <p:sldId id="274" r:id="rId26"/>
    <p:sldId id="279" r:id="rId31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6" Type="http://schemas.openxmlformats.org/officeDocument/2006/relationships/slide" Target="slides/slide15.xml"/><Relationship Id="rId30" Type="http://schemas.openxmlformats.org/officeDocument/2006/relationships/slide" Target="slides/slide6.xml"/><Relationship Id="rId31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100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COI: Diana Brewer is a co-founder of Sapient Clinician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This session is vendor-neutral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60 min: ~35 min presentation + 20 min workshop + 5 min share &amp; wrap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Keep the Workshop Guide open on your phone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Think · Pair · Share after each section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Section 2: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1: The Hand-Built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The 19-year-old with the sore throat, built branch by branch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WHAT IT DOES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• Captures clinical reasoning, branch by branch</a:t>
            </a:r>
          </a:p>
          <a:p>
            <a:r>
              <a:rPr sz="1800">
                <a:solidFill>
                  <a:srgbClr val="1A2332"/>
                </a:solidFill>
              </a:rPr>
              <a:t>• Grounded: every number is from the published case</a:t>
            </a:r>
          </a:p>
          <a:p>
            <a:r>
              <a:rPr sz="1800">
                <a:solidFill>
                  <a:srgbClr val="1A2332"/>
                </a:solidFill>
              </a:rPr>
              <a:t>• Consistent: every learner sees the same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Real patients are not multiple choice.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It only answers what its author pre-imagined.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A hiking trail, not open country.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 (run the demo on your phone)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2: The AI Case,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Same 19-year-old, now open-ended: one paste, sixty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THE PASTE PRODUCES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An open-ended case: the learner asks anything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student-ready prompt with rubric feedback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provenance warning it writes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RUN IT AND COMPARE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The prompt is in the guide, Section 3: Today's Demo Case.</a:t>
            </a:r>
          </a:p>
          <a:p>
            <a:r>
              <a:rPr sz="1800">
                <a:solidFill>
                  <a:srgbClr val="1A2332"/>
                </a:solidFill>
              </a:rPr>
              <a:t>Run it, then compare numbers with your neighbor.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3 (Today's Demo Case)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Run It and Compare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E4258"/>
                </a:solidFill>
              </a:rPr>
              <a:t>Run Today's Demo Case (guide → Section 3) in any chatbot.</a:t>
            </a:r>
          </a:p>
          <a:p>
            <a:pPr>
              <a:spcBef>
                <a:spcPts val="1000"/>
              </a:spcBef>
            </a:pPr>
            <a:r>
              <a:rPr sz="2200">
                <a:solidFill>
                  <a:srgbClr val="1E4258"/>
                </a:solidFill>
              </a:rPr>
              <a:t>Compare your case with your neighbor's: vitals, labs, details.</a:t>
            </a:r>
          </a:p>
          <a:p>
            <a:pPr>
              <a:spcBef>
                <a:spcPts val="1000"/>
              </a:spcBef>
            </a:pPr>
            <a:r>
              <a:rPr sz="2200">
                <a:solidFill>
                  <a:srgbClr val="1E4258"/>
                </a:solidFill>
              </a:rPr>
              <a:t>The numbers differ. Your students would see the same inconsistency.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Elephant: Nobody Wrote This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Fast, realistic, and unverifiable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• Every run is a fresh case with fresh numbers</a:t>
            </a:r>
          </a:p>
          <a:p>
            <a:r>
              <a:rPr sz="1800">
                <a:solidFill>
                  <a:srgbClr val="1A2332"/>
                </a:solidFill>
              </a:rPr>
              <a:t>• No source. No citation. No reviewer.</a:t>
            </a:r>
          </a:p>
          <a:p>
            <a:r>
              <a:rPr sz="1800">
                <a:solidFill>
                  <a:srgbClr val="1A2332"/>
                </a:solidFill>
              </a:rPr>
              <a:t>• Would you sign your name to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STAKES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An error propagates to every learner who meets it.</a:t>
            </a:r>
          </a:p>
          <a:p>
            <a:r>
              <a:rPr sz="1800">
                <a:solidFill>
                  <a:srgbClr val="1A2332"/>
                </a:solidFill>
              </a:rPr>
              <a:t>The pitfall scales with the stakes: dosing, step order, discharge instructions.</a:t>
            </a:r>
          </a:p>
          <a:p>
            <a:r>
              <a:rPr sz="1800">
                <a:solidFill>
                  <a:srgbClr val="1A2332"/>
                </a:solidFill>
              </a:rPr>
              <a:t>Section 4 is how we get realism and verifiability.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(Beyond the Case)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Section 4: Grounded AI Workflow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Upload published sources, get cited answers, every time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Where Ground Truth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Whatever you teach, someone already published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GROUNDING IS BUILT IN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ChatGPT Projects: your files and instructions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Claude: point a project at a folder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Gemini: grounded in your Google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TODAY'S RUNNING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 published MedEdPORTAL case: sore throat to peritonsillar abscess, with a benzocaine twist.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Six files, peer-reviewed, downloadable in the guide.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NotebookLM is one easy dedicated example, demoing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3 and 4 (tools, sources, case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The Grounded AI Workflow: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Gather your source material:</a:t>
            </a:r>
            <a:br/>
            <a:r>
              <a:rPr sz="1300"/>
              <a:t>guidelines, case notes,</a:t>
            </a:r>
            <a:br/>
            <a:r>
              <a:rPr sz="1300"/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Upload to any assistant</a:t>
            </a:r>
          </a:p>
          <a:p>
            <a:r>
              <a:rPr sz="1300"/>
              <a:t>NotebookLM, a ChatGPT</a:t>
            </a:r>
          </a:p>
          <a:p>
            <a:r>
              <a:rPr sz="1300"/>
              <a:t>Project, or a Claude project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Add this instruction:</a:t>
            </a:r>
            <a:br/>
            <a:r>
              <a:rPr sz="1300"/>
              <a:t>"Base your response only</a:t>
            </a:r>
            <a:br/>
            <a:r>
              <a:rPr sz="1300"/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Spot-check lab values,</a:t>
            </a:r>
            <a:br/>
            <a:r>
              <a:rPr sz="1300"/>
              <a:t>drug dosages, clinical</a:t>
            </a:r>
            <a:br/>
            <a:r>
              <a:rPr sz="1300"/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Save the notebook.</a:t>
            </a:r>
            <a:br/>
            <a:r>
              <a:rPr sz="1300"/>
              <a:t>It becomes your personal</a:t>
            </a:r>
            <a:br/>
            <a:r>
              <a:rPr sz="1300"/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Live Demo: The Same Case, Grounded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Same question, asked twice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ON SCREEN, DIANA DRIVES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1 · Ungrounded: the same question, no sources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2 · Grounded: the pre-built notebook answers with citations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3 · Bonus: a rubric, and 15 seconds of the audio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ON YOUR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2332"/>
                </a:solidFill>
              </a:rPr>
              <a:t>The case notebook is pre-built. Link in the guide, Section 4.</a:t>
            </a:r>
          </a:p>
          <a:p>
            <a:pPr>
              <a:spcBef>
                <a:spcPts val="1000"/>
              </a:spcBef>
            </a:pPr>
            <a:r>
              <a:rPr sz="1600">
                <a:solidFill>
                  <a:srgbClr val="1A2332"/>
                </a:solidFill>
              </a:rPr>
              <a:t>Ask the benzocaine question and watch it cite the files.</a:t>
            </a:r>
          </a:p>
          <a:p>
            <a:pPr>
              <a:spcBef>
                <a:spcPts val="1000"/>
              </a:spcBef>
            </a:pPr>
            <a:r>
              <a:rPr sz="1600">
                <a:solidFill>
                  <a:srgbClr val="1A2332"/>
                </a:solidFill>
              </a:rPr>
              <a:t>No NotebookLM account? ChatGPT or Claude work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 #1)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Try It Now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E4258"/>
                </a:solidFill>
              </a:rPr>
              <a:t>The grounded contrast: open the pre-built case notebook (guide, Section 4), or build your own in NotebookLM, ChatGPT, or Claude.</a:t>
            </a:r>
          </a:p>
          <a:p>
            <a:pPr>
              <a:spcBef>
                <a:spcPts val="1000"/>
              </a:spcBef>
            </a:pPr>
            <a:r>
              <a:rPr sz="2200">
                <a:solidFill>
                  <a:srgbClr val="1E4258"/>
                </a:solidFill>
              </a:rPr>
              <a:t>Upload files 1 and 2, run Prompt #1: the same 19-year-old, now with citations.</a:t>
            </a:r>
          </a:p>
          <a:p>
            <a:pPr>
              <a:spcBef>
                <a:spcPts val="1000"/>
              </a:spcBef>
            </a:pPr>
            <a:r>
              <a:rPr sz="2200">
                <a:solidFill>
                  <a:srgbClr val="1E4258"/>
                </a:solidFill>
              </a:rPr>
              <a:t>Compare with Section 3's run: what did the AI invent, skip, or get right?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Section 5: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Match the technology to the learning goal, from text to VR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Text and audio, images included: ECG, X-ray, CT, labs.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 uncanny valley of avatar tools is real.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Sapient Clinician does this well (see the COI slide).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Capstone Design Sprint (20 min)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Turn one of your ideas into a plan you can take back to your program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rPr/>
              <a:t>You've been discussing tools and ideas after each section,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Identify</a:t>
            </a:r>
            <a:br/>
            <a:r>
              <a:rPr/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Define</a:t>
            </a:r>
            <a:br/>
            <a:r>
              <a:rPr/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Select</a:t>
            </a:r>
            <a:br/>
            <a:r>
              <a:rPr/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Map Pedagogy</a:t>
            </a:r>
            <a:br/>
            <a:r>
              <a:rPr/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Sketch</a:t>
            </a:r>
            <a:br/>
            <a:r>
              <a:rPr/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Two or three groups share their plan, 60 seconds each.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What is your educational need? Your tool? Your first step?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 (the 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