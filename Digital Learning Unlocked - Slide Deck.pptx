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://www.apple.com" TargetMode="External"/><Relationship Id="rId3" Type="http://schemas.openxmlformats.org/officeDocument/2006/relationships/hyperlink" Target="https://diana-brewer.github.io/digital-learning-unlocked/workshop-case-demo.html" TargetMode="External"/><Relationship Id="rId4" Type="http://schemas.openxmlformats.org/officeDocument/2006/relationships/hyperlink" Target="https://diana-brewer.github.io/digital-learning-unlocked/index.html#topic1" TargetMode="Externa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diana-brewer.github.io/digital-learning-unlocked/index.html#topic3" TargetMode="Externa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diana-brewer.github.io/digital-learning-unlocked/index.html#topic5" TargetMode="Externa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sapientclinician.com/demo/" TargetMode="Externa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diana-brewer.github.io/digital-learning-unlocked/index.html#topic6" TargetMode="Externa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://Workshop%20Guide%20%E2%86%92%20Section%207%20(Worksheet)" TargetMode="Externa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diana-brewer.github.io/digital-learning-unlocked/index.html#topic8" TargetMode="Externa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Shape 1"/>
          <p:cNvSpPr/>
          <p:nvPr/>
        </p:nvSpPr>
        <p:spPr>
          <a:xfrm rot="720000">
            <a:off x="6703924" y="-914401"/>
            <a:ext cx="12188953" cy="8686801"/>
          </a:xfrm>
          <a:prstGeom prst="rect">
            <a:avLst/>
          </a:prstGeom>
          <a:solidFill>
            <a:srgbClr val="0F5257">
              <a:alpha val="4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" name="Text 5"/>
          <p:cNvSpPr txBox="1"/>
          <p:nvPr/>
        </p:nvSpPr>
        <p:spPr>
          <a:xfrm>
            <a:off x="5317235" y="1463040"/>
            <a:ext cx="1554481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DLU</a:t>
            </a:r>
          </a:p>
        </p:txBody>
      </p:sp>
      <p:sp>
        <p:nvSpPr>
          <p:cNvPr id="23" name="Text 6"/>
          <p:cNvSpPr txBox="1"/>
          <p:nvPr/>
        </p:nvSpPr>
        <p:spPr>
          <a:xfrm>
            <a:off x="640079" y="2884169"/>
            <a:ext cx="10908794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Digital Learning Unlocked</a:t>
            </a:r>
          </a:p>
        </p:txBody>
      </p:sp>
      <p:sp>
        <p:nvSpPr>
          <p:cNvPr id="24" name="Text 7"/>
          <p:cNvSpPr txBox="1"/>
          <p:nvPr/>
        </p:nvSpPr>
        <p:spPr>
          <a:xfrm>
            <a:off x="640079" y="3923029"/>
            <a:ext cx="1090879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000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Affordable Tools and Tech for Next-Gen APP Education</a:t>
            </a:r>
          </a:p>
        </p:txBody>
      </p:sp>
      <p:sp>
        <p:nvSpPr>
          <p:cNvPr id="25" name="Text 8"/>
          <p:cNvSpPr txBox="1"/>
          <p:nvPr/>
        </p:nvSpPr>
        <p:spPr>
          <a:xfrm>
            <a:off x="640079" y="4728780"/>
            <a:ext cx="10908794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C8D8D7"/>
                </a:solidFill>
              </a:defRPr>
            </a:lvl1pPr>
          </a:lstStyle>
          <a:p>
            <a:pPr/>
            <a:r>
              <a:t>Diana Brewer, PA-C  ·  September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" name="Shape 1"/>
          <p:cNvSpPr/>
          <p:nvPr/>
        </p:nvSpPr>
        <p:spPr>
          <a:xfrm rot="720000">
            <a:off x="6703924" y="-914401"/>
            <a:ext cx="12188953" cy="8686801"/>
          </a:xfrm>
          <a:prstGeom prst="rect">
            <a:avLst/>
          </a:prstGeom>
          <a:solidFill>
            <a:srgbClr val="0F5257">
              <a:alpha val="4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5"/>
          <p:cNvSpPr txBox="1"/>
          <p:nvPr/>
        </p:nvSpPr>
        <p:spPr>
          <a:xfrm>
            <a:off x="914400" y="1663700"/>
            <a:ext cx="914400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0" name="Text 6"/>
          <p:cNvSpPr txBox="1"/>
          <p:nvPr/>
        </p:nvSpPr>
        <p:spPr>
          <a:xfrm>
            <a:off x="2194560" y="1595119"/>
            <a:ext cx="905256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Welcome &amp; Framing</a:t>
            </a:r>
          </a:p>
        </p:txBody>
      </p:sp>
      <p:sp>
        <p:nvSpPr>
          <p:cNvPr id="31" name="Text 7"/>
          <p:cNvSpPr txBox="1"/>
          <p:nvPr/>
        </p:nvSpPr>
        <p:spPr>
          <a:xfrm>
            <a:off x="2194560" y="3040062"/>
            <a:ext cx="8686801" cy="686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5000"/>
              </a:lnSpc>
              <a:defRPr sz="2000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You don't need to be a technology expert.</a:t>
            </a:r>
          </a:p>
          <a:p>
            <a:pPr>
              <a:lnSpc>
                <a:spcPct val="135000"/>
              </a:lnSpc>
              <a:defRPr sz="2000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 txBox="1"/>
          <p:nvPr/>
        </p:nvSpPr>
        <p:spPr>
          <a:xfrm>
            <a:off x="502919" y="47935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WELCOME</a:t>
            </a:r>
          </a:p>
        </p:txBody>
      </p:sp>
      <p:sp>
        <p:nvSpPr>
          <p:cNvPr id="34" name="Text 1"/>
          <p:cNvSpPr txBox="1"/>
          <p:nvPr/>
        </p:nvSpPr>
        <p:spPr>
          <a:xfrm>
            <a:off x="502919" y="843279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Conflict of Interest &amp; Session Format</a:t>
            </a:r>
          </a:p>
        </p:txBody>
      </p:sp>
      <p:sp>
        <p:nvSpPr>
          <p:cNvPr id="35" name="Shape 2"/>
          <p:cNvSpPr/>
          <p:nvPr/>
        </p:nvSpPr>
        <p:spPr>
          <a:xfrm>
            <a:off x="502919" y="1737360"/>
            <a:ext cx="5394961" cy="3200401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" name="Text 3"/>
          <p:cNvSpPr txBox="1"/>
          <p:nvPr/>
        </p:nvSpPr>
        <p:spPr>
          <a:xfrm>
            <a:off x="822960" y="2024687"/>
            <a:ext cx="47548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0F5257"/>
                </a:solidFill>
              </a:defRPr>
            </a:lvl1pPr>
          </a:lstStyle>
          <a:p>
            <a:pPr/>
            <a:r>
              <a:t>DISCLOSURE</a:t>
            </a:r>
          </a:p>
        </p:txBody>
      </p:sp>
      <p:sp>
        <p:nvSpPr>
          <p:cNvPr id="37" name="Text 4"/>
          <p:cNvSpPr txBox="1"/>
          <p:nvPr/>
        </p:nvSpPr>
        <p:spPr>
          <a:xfrm>
            <a:off x="822960" y="2512761"/>
            <a:ext cx="475488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9E7625"/>
                </a:solidFill>
              </a:defRPr>
            </a:pPr>
            <a:r>
              <a:t>COI: </a:t>
            </a:r>
            <a:r>
              <a:rPr b="0">
                <a:solidFill>
                  <a:srgbClr val="1C2A2C"/>
                </a:solidFill>
              </a:rPr>
              <a:t>Diana Brewer is a co-founder of Sapient Clinician</a:t>
            </a:r>
          </a:p>
        </p:txBody>
      </p:sp>
      <p:sp>
        <p:nvSpPr>
          <p:cNvPr id="38" name="Text 5"/>
          <p:cNvSpPr txBox="1"/>
          <p:nvPr/>
        </p:nvSpPr>
        <p:spPr>
          <a:xfrm>
            <a:off x="822960" y="3061401"/>
            <a:ext cx="475488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500">
                <a:solidFill>
                  <a:srgbClr val="1C2A2C"/>
                </a:solidFill>
              </a:defRPr>
            </a:pPr>
            <a:r>
              <a:t>This session is </a:t>
            </a:r>
            <a:r>
              <a:rPr b="1">
                <a:solidFill>
                  <a:srgbClr val="0F5257"/>
                </a:solidFill>
              </a:rPr>
              <a:t>vendor-neutral</a:t>
            </a:r>
          </a:p>
        </p:txBody>
      </p:sp>
      <p:sp>
        <p:nvSpPr>
          <p:cNvPr id="39" name="Shape 8"/>
          <p:cNvSpPr/>
          <p:nvPr/>
        </p:nvSpPr>
        <p:spPr>
          <a:xfrm>
            <a:off x="6263640" y="1737360"/>
            <a:ext cx="5440681" cy="3200401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" name="Text 9"/>
          <p:cNvSpPr txBox="1"/>
          <p:nvPr/>
        </p:nvSpPr>
        <p:spPr>
          <a:xfrm>
            <a:off x="6583680" y="2024687"/>
            <a:ext cx="484632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0F5257"/>
                </a:solidFill>
              </a:defRPr>
            </a:lvl1pPr>
          </a:lstStyle>
          <a:p>
            <a:pPr/>
            <a:r>
              <a:t>HOW THE SESSION WORKS</a:t>
            </a:r>
          </a:p>
        </p:txBody>
      </p:sp>
      <p:sp>
        <p:nvSpPr>
          <p:cNvPr id="41" name="Text 10"/>
          <p:cNvSpPr txBox="1"/>
          <p:nvPr/>
        </p:nvSpPr>
        <p:spPr>
          <a:xfrm>
            <a:off x="6629400" y="2304287"/>
            <a:ext cx="4800600" cy="14819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spcBef>
                <a:spcPts val="10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75 min: 40 min presentation + 30 min workshop + 5 min wrap</a:t>
            </a:r>
          </a:p>
          <a:p>
            <a:pPr marL="342900" indent="-342900">
              <a:spcBef>
                <a:spcPts val="10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Keep the Workshop Guide open on your phone</a:t>
            </a:r>
          </a:p>
          <a:p>
            <a:pPr marL="342900" indent="-342900">
              <a:spcBef>
                <a:spcPts val="10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Think · Pair · Share after each section</a:t>
            </a:r>
          </a:p>
          <a:p>
            <a:pPr marL="342900" indent="-342900">
              <a:spcBef>
                <a:spcPts val="10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Everything stays available after the conference</a:t>
            </a:r>
          </a:p>
        </p:txBody>
      </p:sp>
      <p:pic>
        <p:nvPicPr>
          <p:cNvPr id="42" name="Qq7vkC6SzibZ1VU_Digital Learning Unlocked — Workshop Guide.png" descr="Qq7vkC6SzibZ1VU_Digital Learning Unlocked — Workshop Guid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9" y="0"/>
                </a:moveTo>
                <a:lnTo>
                  <a:pt x="21441" y="0"/>
                </a:lnTo>
                <a:cubicBezTo>
                  <a:pt x="21529" y="0"/>
                  <a:pt x="21600" y="757"/>
                  <a:pt x="21600" y="1690"/>
                </a:cubicBezTo>
                <a:lnTo>
                  <a:pt x="21600" y="19910"/>
                </a:lnTo>
                <a:cubicBezTo>
                  <a:pt x="21600" y="20843"/>
                  <a:pt x="21529" y="21600"/>
                  <a:pt x="21441" y="21600"/>
                </a:cubicBezTo>
                <a:lnTo>
                  <a:pt x="159" y="21600"/>
                </a:lnTo>
                <a:cubicBezTo>
                  <a:pt x="71" y="21600"/>
                  <a:pt x="0" y="20843"/>
                  <a:pt x="0" y="19910"/>
                </a:cubicBezTo>
                <a:lnTo>
                  <a:pt x="0" y="1690"/>
                </a:lnTo>
                <a:cubicBezTo>
                  <a:pt x="0" y="757"/>
                  <a:pt x="71" y="0"/>
                  <a:pt x="159" y="0"/>
                </a:cubicBezTo>
                <a:close/>
              </a:path>
            </a:pathLst>
          </a:custGeom>
        </p:spPr>
      </p:pic>
      <p:sp>
        <p:nvSpPr>
          <p:cNvPr id="43" name="Text 12"/>
          <p:cNvSpPr txBox="1"/>
          <p:nvPr/>
        </p:nvSpPr>
        <p:spPr>
          <a:xfrm>
            <a:off x="822959" y="5656579"/>
            <a:ext cx="10607042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Bookmark the Workshop Guide — share it with colleagues, use it Monday morning.</a:t>
            </a:r>
          </a:p>
        </p:txBody>
      </p:sp>
      <p:sp>
        <p:nvSpPr>
          <p:cNvPr id="44" name="Text 13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  <p:pic>
        <p:nvPicPr>
          <p:cNvPr id="45" name="Qq7vkC6SzibZ1VU_Digital Learning Unlocked — Workshop Guide.png" descr="Qq7vkC6SzibZ1VU_Digital Learning Unlocked — Workshop Guid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24618" y="2747717"/>
            <a:ext cx="2153223" cy="215322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Shape 1"/>
          <p:cNvSpPr/>
          <p:nvPr/>
        </p:nvSpPr>
        <p:spPr>
          <a:xfrm rot="720000">
            <a:off x="6703924" y="-914401"/>
            <a:ext cx="12188953" cy="8686801"/>
          </a:xfrm>
          <a:prstGeom prst="rect">
            <a:avLst/>
          </a:prstGeom>
          <a:solidFill>
            <a:srgbClr val="0F5257">
              <a:alpha val="4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" name="Text 5"/>
          <p:cNvSpPr txBox="1"/>
          <p:nvPr/>
        </p:nvSpPr>
        <p:spPr>
          <a:xfrm>
            <a:off x="914400" y="1663700"/>
            <a:ext cx="914400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50" name="Text 6"/>
          <p:cNvSpPr txBox="1"/>
          <p:nvPr/>
        </p:nvSpPr>
        <p:spPr>
          <a:xfrm>
            <a:off x="2194560" y="1595119"/>
            <a:ext cx="905256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Objective 1 — Digital Tools</a:t>
            </a:r>
          </a:p>
        </p:txBody>
      </p:sp>
      <p:sp>
        <p:nvSpPr>
          <p:cNvPr id="51" name="Text 7"/>
          <p:cNvSpPr txBox="1"/>
          <p:nvPr/>
        </p:nvSpPr>
        <p:spPr>
          <a:xfrm>
            <a:off x="2194559" y="2962909"/>
            <a:ext cx="877824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1 · DEMO</a:t>
            </a:r>
          </a:p>
        </p:txBody>
      </p:sp>
      <p:sp>
        <p:nvSpPr>
          <p:cNvPr id="54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Demo: Branching Clinical Scenario</a:t>
            </a:r>
          </a:p>
        </p:txBody>
      </p:sp>
      <p:sp>
        <p:nvSpPr>
          <p:cNvPr id="55" name="Text 2"/>
          <p:cNvSpPr txBox="1"/>
          <p:nvPr/>
        </p:nvSpPr>
        <p:spPr>
          <a:xfrm>
            <a:off x="502919" y="1548129"/>
            <a:ext cx="10972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Try this on your phone now</a:t>
            </a:r>
          </a:p>
        </p:txBody>
      </p:sp>
      <p:sp>
        <p:nvSpPr>
          <p:cNvPr id="56" name="Shape 3"/>
          <p:cNvSpPr/>
          <p:nvPr/>
        </p:nvSpPr>
        <p:spPr>
          <a:xfrm>
            <a:off x="502919" y="2103120"/>
            <a:ext cx="6766561" cy="3017521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7" name="Text 4"/>
          <p:cNvSpPr txBox="1"/>
          <p:nvPr/>
        </p:nvSpPr>
        <p:spPr>
          <a:xfrm>
            <a:off x="822960" y="2390447"/>
            <a:ext cx="61264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0F5257"/>
                </a:solidFill>
              </a:defRPr>
            </a:lvl1pPr>
          </a:lstStyle>
          <a:p>
            <a:pPr/>
            <a:r>
              <a:t>WHAT IT IS</a:t>
            </a:r>
          </a:p>
        </p:txBody>
      </p:sp>
      <p:sp>
        <p:nvSpPr>
          <p:cNvPr id="58" name="Text 5"/>
          <p:cNvSpPr txBox="1"/>
          <p:nvPr/>
        </p:nvSpPr>
        <p:spPr>
          <a:xfrm>
            <a:off x="868680" y="2651760"/>
            <a:ext cx="6126480" cy="1710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65-year-old with acute confusion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Make decisions, see consequences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Built with H5P (free, open-source)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No programming required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Every decision is a clinical action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The reasoning path IS the assessment</a:t>
            </a:r>
          </a:p>
        </p:txBody>
      </p:sp>
      <p:sp>
        <p:nvSpPr>
          <p:cNvPr id="59" name="Shape 6"/>
          <p:cNvSpPr/>
          <p:nvPr/>
        </p:nvSpPr>
        <p:spPr>
          <a:xfrm>
            <a:off x="7680959" y="2103120"/>
            <a:ext cx="4023361" cy="3017521"/>
          </a:xfrm>
          <a:prstGeom prst="roundRect">
            <a:avLst>
              <a:gd name="adj" fmla="val 2727"/>
            </a:avLst>
          </a:prstGeom>
          <a:solidFill>
            <a:srgbClr val="0A3538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0" name="Text 7"/>
          <p:cNvSpPr txBox="1"/>
          <p:nvPr/>
        </p:nvSpPr>
        <p:spPr>
          <a:xfrm>
            <a:off x="8001000" y="2390447"/>
            <a:ext cx="338328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E2BE6B"/>
                </a:solidFill>
              </a:defRPr>
            </a:lvl1pPr>
          </a:lstStyle>
          <a:p>
            <a:pPr/>
            <a:r>
              <a:t>TRY IT NOW</a:t>
            </a:r>
          </a:p>
        </p:txBody>
      </p:sp>
      <p:sp>
        <p:nvSpPr>
          <p:cNvPr id="61" name="Shape 8"/>
          <p:cNvSpPr/>
          <p:nvPr/>
        </p:nvSpPr>
        <p:spPr>
          <a:xfrm>
            <a:off x="8001000" y="2697479"/>
            <a:ext cx="3383280" cy="457201"/>
          </a:xfrm>
          <a:prstGeom prst="roundRect">
            <a:avLst>
              <a:gd name="adj" fmla="val 50000"/>
            </a:avLst>
          </a:prstGeom>
          <a:solidFill>
            <a:srgbClr val="0F52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" name="Text 9">
            <a:hlinkClick r:id="rId2" invalidUrl="" action="" tgtFrame="" tooltip="" history="1" highlightClick="0" endSnd="0"/>
          </p:cNvPr>
          <p:cNvSpPr txBox="1"/>
          <p:nvPr/>
        </p:nvSpPr>
        <p:spPr>
          <a:xfrm>
            <a:off x="8001000" y="2814657"/>
            <a:ext cx="3383280" cy="222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 u="sng">
                <a:solidFill>
                  <a:srgbClr val="FFFFFF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▶  Branching Scenario Demo</a:t>
            </a:r>
          </a:p>
        </p:txBody>
      </p:sp>
      <p:sp>
        <p:nvSpPr>
          <p:cNvPr id="63" name="Text 10"/>
          <p:cNvSpPr txBox="1"/>
          <p:nvPr/>
        </p:nvSpPr>
        <p:spPr>
          <a:xfrm>
            <a:off x="8001000" y="3624887"/>
            <a:ext cx="338328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/>
            <a:r>
              <a:t>Cost to recreate: $0  ·  Time to build: ~1 hour</a:t>
            </a:r>
          </a:p>
        </p:txBody>
      </p:sp>
      <p:sp>
        <p:nvSpPr>
          <p:cNvPr id="64" name="Text 11"/>
          <p:cNvSpPr txBox="1"/>
          <p:nvPr/>
        </p:nvSpPr>
        <p:spPr>
          <a:xfrm>
            <a:off x="8001000" y="4251959"/>
            <a:ext cx="338328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 u="sng">
                <a:solidFill>
                  <a:schemeClr val="accent4">
                    <a:lumOff val="12500"/>
                  </a:schemeClr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Workshop Guide → Section 2</a:t>
            </a:r>
          </a:p>
        </p:txBody>
      </p:sp>
      <p:sp>
        <p:nvSpPr>
          <p:cNvPr id="65" name="Text 12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1 · REFERENCE</a:t>
            </a:r>
          </a:p>
        </p:txBody>
      </p:sp>
      <p:sp>
        <p:nvSpPr>
          <p:cNvPr id="68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Tool Reference — Content Creation</a:t>
            </a:r>
          </a:p>
        </p:txBody>
      </p:sp>
      <p:sp>
        <p:nvSpPr>
          <p:cNvPr id="69" name="Text 2"/>
          <p:cNvSpPr txBox="1"/>
          <p:nvPr/>
        </p:nvSpPr>
        <p:spPr>
          <a:xfrm>
            <a:off x="502919" y="1548129"/>
            <a:ext cx="10972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Full list with pricing and links in the Workshop Guide</a:t>
            </a:r>
          </a:p>
        </p:txBody>
      </p:sp>
      <p:graphicFrame>
        <p:nvGraphicFramePr>
          <p:cNvPr id="70" name="Table 0"/>
          <p:cNvGraphicFramePr/>
          <p:nvPr/>
        </p:nvGraphicFramePr>
        <p:xfrm>
          <a:off x="502919" y="2057400"/>
          <a:ext cx="11201401" cy="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77440"/>
                <a:gridCol w="2788920"/>
                <a:gridCol w="6035040"/>
              </a:tblGrid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0A3538"/>
                          </a:solidFill>
                        </a:rPr>
                        <a:t>Canva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Free / ~$14/mo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Infographics, visual cases, AI-assisted design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0A3538"/>
                          </a:solidFill>
                        </a:rPr>
                        <a:t>H5P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Free (OSS)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Branching scenarios, interactive content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0A3538"/>
                          </a:solidFill>
                        </a:rPr>
                        <a:t>Nearpod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Free / $120/yr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Live interactive lectures, formative assessment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0A3538"/>
                          </a:solidFill>
                        </a:rPr>
                        <a:t>Pear Deck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Free / $150/yr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Interactive slides with embedded questions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0A3538"/>
                          </a:solidFill>
                        </a:rPr>
                        <a:t>Gamma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Free / $10/mo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AI-generated presentations from a prompt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0A3538"/>
                          </a:solidFill>
                        </a:rPr>
                        <a:t>MedEdPORTAL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Free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Peer-reviewed, ready-to-use teaching modules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</a:tbl>
          </a:graphicData>
        </a:graphic>
      </p:graphicFrame>
      <p:sp>
        <p:nvSpPr>
          <p:cNvPr id="71" name="Shape 3"/>
          <p:cNvSpPr/>
          <p:nvPr/>
        </p:nvSpPr>
        <p:spPr>
          <a:xfrm>
            <a:off x="502919" y="5349240"/>
            <a:ext cx="11201401" cy="1005841"/>
          </a:xfrm>
          <a:prstGeom prst="roundRect">
            <a:avLst>
              <a:gd name="adj" fmla="val 8182"/>
            </a:avLst>
          </a:prstGeom>
          <a:solidFill>
            <a:srgbClr val="F8F2E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2" name="Text 4"/>
          <p:cNvSpPr txBox="1"/>
          <p:nvPr/>
        </p:nvSpPr>
        <p:spPr>
          <a:xfrm>
            <a:off x="822959" y="5667178"/>
            <a:ext cx="10607042" cy="369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pc="150" sz="1200">
                <a:solidFill>
                  <a:srgbClr val="9E7625"/>
                </a:solidFill>
              </a:defRPr>
            </a:pPr>
            <a:r>
              <a:t>IMPORTANT  </a:t>
            </a:r>
            <a:r>
              <a:rPr b="0" spc="0" sz="1300">
                <a:solidFill>
                  <a:srgbClr val="1C2A2C"/>
                </a:solidFill>
              </a:rPr>
              <a:t>Study tools (Anki, Quizlet, Brainscape) support memorization, NOT assessment. In the AI era, any assessment that asks students to select an answer can be solved by AI.</a:t>
            </a:r>
          </a:p>
        </p:txBody>
      </p:sp>
      <p:sp>
        <p:nvSpPr>
          <p:cNvPr id="73" name="Text 5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0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6" name="Shape 1"/>
          <p:cNvSpPr/>
          <p:nvPr/>
        </p:nvSpPr>
        <p:spPr>
          <a:xfrm rot="720000">
            <a:off x="6703924" y="-914401"/>
            <a:ext cx="12188953" cy="8686801"/>
          </a:xfrm>
          <a:prstGeom prst="rect">
            <a:avLst/>
          </a:prstGeom>
          <a:solidFill>
            <a:srgbClr val="0F5257">
              <a:alpha val="4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7" name="Shape 4"/>
          <p:cNvSpPr/>
          <p:nvPr/>
        </p:nvSpPr>
        <p:spPr>
          <a:xfrm>
            <a:off x="4494276" y="960119"/>
            <a:ext cx="3200401" cy="658369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8" name="Text 5"/>
          <p:cNvSpPr txBox="1"/>
          <p:nvPr/>
        </p:nvSpPr>
        <p:spPr>
          <a:xfrm>
            <a:off x="4494276" y="1184727"/>
            <a:ext cx="320040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0A3538"/>
                </a:solidFill>
              </a:defRPr>
            </a:lvl1pPr>
          </a:lstStyle>
          <a:p>
            <a:pPr/>
            <a:r>
              <a:t>Think · Pair · Share — 3 min</a:t>
            </a:r>
          </a:p>
        </p:txBody>
      </p:sp>
      <p:sp>
        <p:nvSpPr>
          <p:cNvPr id="79" name="Text 6"/>
          <p:cNvSpPr txBox="1"/>
          <p:nvPr/>
        </p:nvSpPr>
        <p:spPr>
          <a:xfrm>
            <a:off x="640079" y="2103119"/>
            <a:ext cx="10908794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Turn to your table group</a:t>
            </a:r>
          </a:p>
        </p:txBody>
      </p:sp>
      <p:sp>
        <p:nvSpPr>
          <p:cNvPr id="80" name="Text 8"/>
          <p:cNvSpPr txBox="1"/>
          <p:nvPr/>
        </p:nvSpPr>
        <p:spPr>
          <a:xfrm>
            <a:off x="2377439" y="3180334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81" name="Text 9"/>
          <p:cNvSpPr txBox="1"/>
          <p:nvPr/>
        </p:nvSpPr>
        <p:spPr>
          <a:xfrm>
            <a:off x="3154679" y="3193876"/>
            <a:ext cx="731520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Share one tool you already use</a:t>
            </a:r>
          </a:p>
        </p:txBody>
      </p:sp>
      <p:sp>
        <p:nvSpPr>
          <p:cNvPr id="82" name="Text 11"/>
          <p:cNvSpPr txBox="1"/>
          <p:nvPr/>
        </p:nvSpPr>
        <p:spPr>
          <a:xfrm>
            <a:off x="2377439" y="4049014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83" name="Text 12"/>
          <p:cNvSpPr txBox="1"/>
          <p:nvPr/>
        </p:nvSpPr>
        <p:spPr>
          <a:xfrm>
            <a:off x="3154679" y="4062556"/>
            <a:ext cx="731520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Share one tool from the list you're curious about</a:t>
            </a:r>
          </a:p>
        </p:txBody>
      </p:sp>
      <p:sp>
        <p:nvSpPr>
          <p:cNvPr id="84" name="Text 14"/>
          <p:cNvSpPr txBox="1"/>
          <p:nvPr/>
        </p:nvSpPr>
        <p:spPr>
          <a:xfrm>
            <a:off x="2377439" y="4917693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85" name="Text 15"/>
          <p:cNvSpPr txBox="1"/>
          <p:nvPr/>
        </p:nvSpPr>
        <p:spPr>
          <a:xfrm>
            <a:off x="3154679" y="4931236"/>
            <a:ext cx="731520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What's one educational challenge you wish you had a tool for?</a:t>
            </a:r>
          </a:p>
        </p:txBody>
      </p:sp>
      <p:sp>
        <p:nvSpPr>
          <p:cNvPr id="86" name="Text 16"/>
          <p:cNvSpPr txBox="1"/>
          <p:nvPr/>
        </p:nvSpPr>
        <p:spPr>
          <a:xfrm>
            <a:off x="641603" y="6212897"/>
            <a:ext cx="10908794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 u="sng">
                <a:solidFill>
                  <a:schemeClr val="accent4">
                    <a:lumOff val="12500"/>
                  </a:schemeClr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0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9" name="Shape 1"/>
          <p:cNvSpPr/>
          <p:nvPr/>
        </p:nvSpPr>
        <p:spPr>
          <a:xfrm rot="720000">
            <a:off x="6703924" y="-914401"/>
            <a:ext cx="12188953" cy="8686801"/>
          </a:xfrm>
          <a:prstGeom prst="rect">
            <a:avLst/>
          </a:prstGeom>
          <a:solidFill>
            <a:srgbClr val="0F5257">
              <a:alpha val="4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0" name="Text 5"/>
          <p:cNvSpPr txBox="1"/>
          <p:nvPr/>
        </p:nvSpPr>
        <p:spPr>
          <a:xfrm>
            <a:off x="914400" y="1663700"/>
            <a:ext cx="914400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91" name="Text 6"/>
          <p:cNvSpPr txBox="1"/>
          <p:nvPr/>
        </p:nvSpPr>
        <p:spPr>
          <a:xfrm>
            <a:off x="2194560" y="1595119"/>
            <a:ext cx="905256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Objective 2 — AI Chatbots</a:t>
            </a:r>
          </a:p>
        </p:txBody>
      </p:sp>
      <p:sp>
        <p:nvSpPr>
          <p:cNvPr id="92" name="Text 7"/>
          <p:cNvSpPr txBox="1"/>
          <p:nvPr/>
        </p:nvSpPr>
        <p:spPr>
          <a:xfrm>
            <a:off x="2194559" y="2962909"/>
            <a:ext cx="877824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Conversational tools that generate content — and can hallucinate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2 · FRAMING</a:t>
            </a:r>
          </a:p>
        </p:txBody>
      </p:sp>
      <p:sp>
        <p:nvSpPr>
          <p:cNvPr id="95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The Pedagogical Challenge</a:t>
            </a:r>
          </a:p>
        </p:txBody>
      </p:sp>
      <p:sp>
        <p:nvSpPr>
          <p:cNvPr id="96" name="Text 2"/>
          <p:cNvSpPr txBox="1"/>
          <p:nvPr/>
        </p:nvSpPr>
        <p:spPr>
          <a:xfrm>
            <a:off x="502919" y="1548129"/>
            <a:ext cx="10972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In the AI era, we must rethink assessment</a:t>
            </a:r>
          </a:p>
        </p:txBody>
      </p:sp>
      <p:sp>
        <p:nvSpPr>
          <p:cNvPr id="97" name="Shape 3"/>
          <p:cNvSpPr/>
          <p:nvPr/>
        </p:nvSpPr>
        <p:spPr>
          <a:xfrm>
            <a:off x="502919" y="2103120"/>
            <a:ext cx="11201401" cy="1737361"/>
          </a:xfrm>
          <a:prstGeom prst="roundRect">
            <a:avLst>
              <a:gd name="adj" fmla="val 4737"/>
            </a:avLst>
          </a:prstGeom>
          <a:solidFill>
            <a:srgbClr val="0A3538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8" name="Text 4"/>
          <p:cNvSpPr txBox="1"/>
          <p:nvPr/>
        </p:nvSpPr>
        <p:spPr>
          <a:xfrm>
            <a:off x="822960" y="2390447"/>
            <a:ext cx="105156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E2BE6B"/>
                </a:solidFill>
              </a:defRPr>
            </a:lvl1pPr>
          </a:lstStyle>
          <a:p>
            <a:pPr/>
            <a:r>
              <a:t>THE CORE MESSAGE</a:t>
            </a:r>
          </a:p>
        </p:txBody>
      </p:sp>
      <p:sp>
        <p:nvSpPr>
          <p:cNvPr id="99" name="Text 5"/>
          <p:cNvSpPr txBox="1"/>
          <p:nvPr/>
        </p:nvSpPr>
        <p:spPr>
          <a:xfrm>
            <a:off x="822960" y="2871786"/>
            <a:ext cx="10515601" cy="657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5000"/>
              </a:lnSpc>
              <a:defRPr sz="2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If we use AI to create multiple-choice quizzes, students will use AI to answer them.</a:t>
            </a:r>
          </a:p>
          <a:p>
            <a:pPr>
              <a:lnSpc>
                <a:spcPct val="125000"/>
              </a:lnSpc>
              <a:defRPr sz="2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That's not education — that's an arms race we've already lost.</a:t>
            </a:r>
          </a:p>
        </p:txBody>
      </p:sp>
      <p:sp>
        <p:nvSpPr>
          <p:cNvPr id="100" name="Shape 6"/>
          <p:cNvSpPr/>
          <p:nvPr/>
        </p:nvSpPr>
        <p:spPr>
          <a:xfrm>
            <a:off x="502919" y="4114800"/>
            <a:ext cx="11201401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Text 7"/>
          <p:cNvSpPr txBox="1"/>
          <p:nvPr/>
        </p:nvSpPr>
        <p:spPr>
          <a:xfrm>
            <a:off x="822960" y="4340183"/>
            <a:ext cx="10515601" cy="1012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5000"/>
              </a:lnSpc>
              <a:defRPr sz="1500">
                <a:solidFill>
                  <a:srgbClr val="1C2A2C"/>
                </a:solidFill>
              </a:defRPr>
            </a:pPr>
            <a:r>
              <a:t>Use AI to create cognitively demanding, authentic learning experiences</a:t>
            </a:r>
          </a:p>
          <a:p>
            <a:pPr>
              <a:lnSpc>
                <a:spcPct val="125000"/>
              </a:lnSpc>
              <a:defRPr sz="1500">
                <a:solidFill>
                  <a:srgbClr val="1C2A2C"/>
                </a:solidFill>
              </a:defRPr>
            </a:pPr>
            <a:r>
              <a:t>that AI can't do for the student: </a:t>
            </a:r>
          </a:p>
          <a:p>
            <a:pPr>
              <a:lnSpc>
                <a:spcPct val="125000"/>
              </a:lnSpc>
              <a:defRPr i="1" sz="1500">
                <a:solidFill>
                  <a:srgbClr val="0F5257"/>
                </a:solidFill>
              </a:defRPr>
            </a:pPr>
            <a:r>
              <a:t>simulated encounters, reflective writing,</a:t>
            </a:r>
          </a:p>
          <a:p>
            <a:pPr>
              <a:lnSpc>
                <a:spcPct val="125000"/>
              </a:lnSpc>
              <a:defRPr i="1" sz="1500">
                <a:solidFill>
                  <a:srgbClr val="0F5257"/>
                </a:solidFill>
              </a:defRPr>
            </a:pPr>
            <a:r>
              <a:t>clinical reasoning cases, formative feedback on authentic work.</a:t>
            </a:r>
          </a:p>
        </p:txBody>
      </p:sp>
      <p:sp>
        <p:nvSpPr>
          <p:cNvPr id="102" name="Text 8"/>
          <p:cNvSpPr txBox="1"/>
          <p:nvPr/>
        </p:nvSpPr>
        <p:spPr>
          <a:xfrm>
            <a:off x="502919" y="6009639"/>
            <a:ext cx="112014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900">
                <a:solidFill>
                  <a:srgbClr val="9E7625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Use AI to build the scaffolding, not to replace the thinking.</a:t>
            </a:r>
          </a:p>
        </p:txBody>
      </p:sp>
      <p:sp>
        <p:nvSpPr>
          <p:cNvPr id="103" name="Text 9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2 · REFERENCE</a:t>
            </a:r>
          </a:p>
        </p:txBody>
      </p:sp>
      <p:sp>
        <p:nvSpPr>
          <p:cNvPr id="106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Conversational Chatbots</a:t>
            </a:r>
          </a:p>
        </p:txBody>
      </p:sp>
      <p:sp>
        <p:nvSpPr>
          <p:cNvPr id="107" name="Text 2"/>
          <p:cNvSpPr txBox="1"/>
          <p:nvPr/>
        </p:nvSpPr>
        <p:spPr>
          <a:xfrm>
            <a:off x="502919" y="1548129"/>
            <a:ext cx="10972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Full list with pricing in the Workshop Guide → Section 3</a:t>
            </a:r>
          </a:p>
        </p:txBody>
      </p:sp>
      <p:graphicFrame>
        <p:nvGraphicFramePr>
          <p:cNvPr id="108" name="Table 0"/>
          <p:cNvGraphicFramePr/>
          <p:nvPr/>
        </p:nvGraphicFramePr>
        <p:xfrm>
          <a:off x="502919" y="2148839"/>
          <a:ext cx="11201401" cy="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103120"/>
                <a:gridCol w="2880360"/>
                <a:gridCol w="6217920"/>
              </a:tblGrid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KEY FEATURES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0A3538"/>
                          </a:solidFill>
                        </a:rPr>
                        <a:t>ChatGPT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1C2A2C"/>
                          </a:solidFill>
                        </a:rPr>
                        <a:t>Free / $20/mo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1C2A2C"/>
                          </a:solidFill>
                        </a:rPr>
                        <a:t>Most versatile. File upload. Voice mode. Custom GPTs.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0A3538"/>
                          </a:solidFill>
                        </a:rPr>
                        <a:t>Claude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1C2A2C"/>
                          </a:solidFill>
                        </a:rPr>
                        <a:t>Free / $17/mo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1C2A2C"/>
                          </a:solidFill>
                        </a:rPr>
                        <a:t>Best for long content, complex reasoning. 200K context.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0A3538"/>
                          </a:solidFill>
                        </a:rPr>
                        <a:t>Gemini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1C2A2C"/>
                          </a:solidFill>
                        </a:rPr>
                        <a:t>Free / $20/mo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1C2A2C"/>
                          </a:solidFill>
                        </a:rPr>
                        <a:t>Google Workspace integration. Deep Research with citations.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0A3538"/>
                          </a:solidFill>
                        </a:rPr>
                        <a:t>Grok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1C2A2C"/>
                          </a:solidFill>
                        </a:rPr>
                        <a:t>Free w/ X / ~$30/mo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1C2A2C"/>
                          </a:solidFill>
                        </a:rPr>
                        <a:t>Real-time web search. No enterprise/EDU plan.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0A3538"/>
                          </a:solidFill>
                        </a:rPr>
                        <a:t>Copilot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1C2A2C"/>
                          </a:solidFill>
                        </a:rPr>
                        <a:t>Free / $10/mo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1C2A2C"/>
                          </a:solidFill>
                        </a:rPr>
                        <a:t>M365 integration. Many institutions already include it.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" name="Text 3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Shape 0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2" name="Shape 1"/>
          <p:cNvSpPr/>
          <p:nvPr/>
        </p:nvSpPr>
        <p:spPr>
          <a:xfrm rot="720000">
            <a:off x="6703924" y="-914401"/>
            <a:ext cx="12188953" cy="8686801"/>
          </a:xfrm>
          <a:prstGeom prst="rect">
            <a:avLst/>
          </a:prstGeom>
          <a:solidFill>
            <a:srgbClr val="0F5257">
              <a:alpha val="4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3" name="Text 5"/>
          <p:cNvSpPr txBox="1"/>
          <p:nvPr/>
        </p:nvSpPr>
        <p:spPr>
          <a:xfrm>
            <a:off x="914400" y="1663700"/>
            <a:ext cx="914400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14" name="Text 6"/>
          <p:cNvSpPr txBox="1"/>
          <p:nvPr/>
        </p:nvSpPr>
        <p:spPr>
          <a:xfrm>
            <a:off x="2194560" y="1595119"/>
            <a:ext cx="905256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Objective 2 — Grounding AI</a:t>
            </a:r>
          </a:p>
        </p:txBody>
      </p:sp>
      <p:sp>
        <p:nvSpPr>
          <p:cNvPr id="115" name="Text 7"/>
          <p:cNvSpPr txBox="1"/>
          <p:nvPr/>
        </p:nvSpPr>
        <p:spPr>
          <a:xfrm>
            <a:off x="2194559" y="2962909"/>
            <a:ext cx="877824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Preventing hallucinations by grounding in your source material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2 · REFERENCE</a:t>
            </a:r>
          </a:p>
        </p:txBody>
      </p:sp>
      <p:sp>
        <p:nvSpPr>
          <p:cNvPr id="118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Data Aggregation &amp; Grounding Tools</a:t>
            </a:r>
          </a:p>
        </p:txBody>
      </p:sp>
      <p:sp>
        <p:nvSpPr>
          <p:cNvPr id="119" name="Text 2"/>
          <p:cNvSpPr txBox="1"/>
          <p:nvPr/>
        </p:nvSpPr>
        <p:spPr>
          <a:xfrm>
            <a:off x="502919" y="1548129"/>
            <a:ext cx="10972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RAG without writing code</a:t>
            </a:r>
          </a:p>
        </p:txBody>
      </p:sp>
      <p:sp>
        <p:nvSpPr>
          <p:cNvPr id="120" name="Shape 3"/>
          <p:cNvSpPr/>
          <p:nvPr/>
        </p:nvSpPr>
        <p:spPr>
          <a:xfrm>
            <a:off x="502919" y="2011679"/>
            <a:ext cx="11201401" cy="2011681"/>
          </a:xfrm>
          <a:prstGeom prst="roundRect">
            <a:avLst>
              <a:gd name="adj" fmla="val 4091"/>
            </a:avLst>
          </a:prstGeom>
          <a:solidFill>
            <a:srgbClr val="0A3538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1" name="Text 4"/>
          <p:cNvSpPr txBox="1"/>
          <p:nvPr/>
        </p:nvSpPr>
        <p:spPr>
          <a:xfrm>
            <a:off x="822960" y="2253287"/>
            <a:ext cx="105156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E2BE6B"/>
                </a:solidFill>
              </a:defRPr>
            </a:lvl1pPr>
          </a:lstStyle>
          <a:p>
            <a:pPr/>
            <a:r>
              <a:t>THE MOST IMPORTANT TOOL IN THIS SESSION</a:t>
            </a:r>
          </a:p>
        </p:txBody>
      </p:sp>
      <p:sp>
        <p:nvSpPr>
          <p:cNvPr id="122" name="Text 5"/>
          <p:cNvSpPr txBox="1"/>
          <p:nvPr/>
        </p:nvSpPr>
        <p:spPr>
          <a:xfrm>
            <a:off x="822960" y="2560827"/>
            <a:ext cx="10515601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Google NotebookLM — FREE</a:t>
            </a:r>
          </a:p>
        </p:txBody>
      </p:sp>
      <p:sp>
        <p:nvSpPr>
          <p:cNvPr id="123" name="Text 6"/>
          <p:cNvSpPr txBox="1"/>
          <p:nvPr/>
        </p:nvSpPr>
        <p:spPr>
          <a:xfrm>
            <a:off x="868680" y="3017520"/>
            <a:ext cx="10424160" cy="748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spcBef>
                <a:spcPts val="400"/>
              </a:spcBef>
              <a:buSzPct val="100000"/>
              <a:buChar char="•"/>
              <a:defRPr sz="1400">
                <a:solidFill>
                  <a:srgbClr val="DCEDEB"/>
                </a:solidFill>
              </a:defRPr>
            </a:pPr>
            <a:r>
              <a:t>Upload your source documents → AI responses grounded ONLY in what you uploaded</a:t>
            </a:r>
          </a:p>
          <a:p>
            <a:pPr marL="342900" indent="-342900">
              <a:spcBef>
                <a:spcPts val="400"/>
              </a:spcBef>
              <a:buSzPct val="100000"/>
              <a:buChar char="•"/>
              <a:defRPr sz="1400">
                <a:solidFill>
                  <a:srgbClr val="DCEDEB"/>
                </a:solidFill>
              </a:defRPr>
            </a:pPr>
            <a:r>
              <a:t>If the answer isn't in your documents, it says so. Zero hallucination risk.</a:t>
            </a:r>
          </a:p>
          <a:p>
            <a:pPr marL="342900" indent="-342900">
              <a:spcBef>
                <a:spcPts val="400"/>
              </a:spcBef>
              <a:buSzPct val="100000"/>
              <a:buChar char="•"/>
              <a:defRPr sz="1400">
                <a:solidFill>
                  <a:srgbClr val="DCEDEB"/>
                </a:solidFill>
              </a:defRPr>
            </a:pPr>
            <a:r>
              <a:t>Generates study guides, FAQs, and audio podcast discussions</a:t>
            </a:r>
          </a:p>
        </p:txBody>
      </p:sp>
      <p:graphicFrame>
        <p:nvGraphicFramePr>
          <p:cNvPr id="124" name="Table 0"/>
          <p:cNvGraphicFramePr/>
          <p:nvPr/>
        </p:nvGraphicFramePr>
        <p:xfrm>
          <a:off x="502919" y="4297679"/>
          <a:ext cx="11201401" cy="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103120"/>
                <a:gridCol w="2651760"/>
                <a:gridCol w="6446520"/>
              </a:tblGrid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0A3538"/>
                          </a:solidFill>
                        </a:rPr>
                        <a:t>Perplexity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Free / $20/mo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AI answer engine that cites every source. Best for EBM exercises.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0A3538"/>
                          </a:solidFill>
                        </a:rPr>
                        <a:t>DeepSeek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Free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Reasoning model with visible chain-of-thought. Self-hostable for privacy.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</a:tbl>
          </a:graphicData>
        </a:graphic>
      </p:graphicFrame>
      <p:sp>
        <p:nvSpPr>
          <p:cNvPr id="125" name="Text 7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2 · WORKFLOW</a:t>
            </a:r>
          </a:p>
        </p:txBody>
      </p:sp>
      <p:sp>
        <p:nvSpPr>
          <p:cNvPr id="128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The Grounded AI Workflow — No Code Required</a:t>
            </a:r>
          </a:p>
        </p:txBody>
      </p:sp>
      <p:sp>
        <p:nvSpPr>
          <p:cNvPr id="129" name="Shape 2"/>
          <p:cNvSpPr/>
          <p:nvPr/>
        </p:nvSpPr>
        <p:spPr>
          <a:xfrm>
            <a:off x="502919" y="2103120"/>
            <a:ext cx="2093978" cy="338328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0" name="Text 4"/>
          <p:cNvSpPr txBox="1"/>
          <p:nvPr/>
        </p:nvSpPr>
        <p:spPr>
          <a:xfrm>
            <a:off x="1248155" y="2576829"/>
            <a:ext cx="6035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31" name="Text 5"/>
          <p:cNvSpPr txBox="1"/>
          <p:nvPr/>
        </p:nvSpPr>
        <p:spPr>
          <a:xfrm>
            <a:off x="502919" y="3272789"/>
            <a:ext cx="2093978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Prepare</a:t>
            </a:r>
          </a:p>
        </p:txBody>
      </p:sp>
      <p:sp>
        <p:nvSpPr>
          <p:cNvPr id="132" name="Text 6"/>
          <p:cNvSpPr txBox="1"/>
          <p:nvPr/>
        </p:nvSpPr>
        <p:spPr>
          <a:xfrm>
            <a:off x="612647" y="3657599"/>
            <a:ext cx="1874522" cy="5849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Gather your source material:</a:t>
            </a:r>
          </a:p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guidelines, case notes,</a:t>
            </a:r>
          </a:p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articles, lecture slides</a:t>
            </a:r>
          </a:p>
        </p:txBody>
      </p:sp>
      <p:sp>
        <p:nvSpPr>
          <p:cNvPr id="133" name="Shape 7"/>
          <p:cNvSpPr/>
          <p:nvPr/>
        </p:nvSpPr>
        <p:spPr>
          <a:xfrm>
            <a:off x="2779776" y="2103120"/>
            <a:ext cx="2093977" cy="338328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4" name="Text 9"/>
          <p:cNvSpPr txBox="1"/>
          <p:nvPr/>
        </p:nvSpPr>
        <p:spPr>
          <a:xfrm>
            <a:off x="3525011" y="2576829"/>
            <a:ext cx="6035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35" name="Text 10"/>
          <p:cNvSpPr txBox="1"/>
          <p:nvPr/>
        </p:nvSpPr>
        <p:spPr>
          <a:xfrm>
            <a:off x="2779776" y="3272789"/>
            <a:ext cx="209397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Upload</a:t>
            </a:r>
          </a:p>
        </p:txBody>
      </p:sp>
      <p:sp>
        <p:nvSpPr>
          <p:cNvPr id="136" name="Text 11"/>
          <p:cNvSpPr txBox="1"/>
          <p:nvPr/>
        </p:nvSpPr>
        <p:spPr>
          <a:xfrm>
            <a:off x="2889504" y="3657599"/>
            <a:ext cx="1874521" cy="5849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Upload to NotebookLM (free)</a:t>
            </a:r>
          </a:p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or ChatGPT/Claude with</a:t>
            </a:r>
          </a:p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file upload</a:t>
            </a:r>
          </a:p>
        </p:txBody>
      </p:sp>
      <p:sp>
        <p:nvSpPr>
          <p:cNvPr id="137" name="Shape 12"/>
          <p:cNvSpPr/>
          <p:nvPr/>
        </p:nvSpPr>
        <p:spPr>
          <a:xfrm>
            <a:off x="5056632" y="2103120"/>
            <a:ext cx="2093977" cy="338328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8" name="Text 14"/>
          <p:cNvSpPr txBox="1"/>
          <p:nvPr/>
        </p:nvSpPr>
        <p:spPr>
          <a:xfrm>
            <a:off x="5801867" y="2576829"/>
            <a:ext cx="6035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39" name="Text 15"/>
          <p:cNvSpPr txBox="1"/>
          <p:nvPr/>
        </p:nvSpPr>
        <p:spPr>
          <a:xfrm>
            <a:off x="5056632" y="3272789"/>
            <a:ext cx="209397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Ground</a:t>
            </a:r>
          </a:p>
        </p:txBody>
      </p:sp>
      <p:sp>
        <p:nvSpPr>
          <p:cNvPr id="140" name="Text 16"/>
          <p:cNvSpPr txBox="1"/>
          <p:nvPr/>
        </p:nvSpPr>
        <p:spPr>
          <a:xfrm>
            <a:off x="5166359" y="3657599"/>
            <a:ext cx="1874521" cy="5849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Add this instruction:</a:t>
            </a:r>
          </a:p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"Base your response only</a:t>
            </a:r>
          </a:p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on the attached documents"</a:t>
            </a:r>
          </a:p>
        </p:txBody>
      </p:sp>
      <p:sp>
        <p:nvSpPr>
          <p:cNvPr id="141" name="Shape 17"/>
          <p:cNvSpPr/>
          <p:nvPr/>
        </p:nvSpPr>
        <p:spPr>
          <a:xfrm>
            <a:off x="7333488" y="2103120"/>
            <a:ext cx="2093977" cy="338328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2" name="Text 19"/>
          <p:cNvSpPr txBox="1"/>
          <p:nvPr/>
        </p:nvSpPr>
        <p:spPr>
          <a:xfrm>
            <a:off x="8078723" y="2576829"/>
            <a:ext cx="6035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43" name="Text 20"/>
          <p:cNvSpPr txBox="1"/>
          <p:nvPr/>
        </p:nvSpPr>
        <p:spPr>
          <a:xfrm>
            <a:off x="7333487" y="3272789"/>
            <a:ext cx="2093978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Verify</a:t>
            </a:r>
          </a:p>
        </p:txBody>
      </p:sp>
      <p:sp>
        <p:nvSpPr>
          <p:cNvPr id="144" name="Text 21"/>
          <p:cNvSpPr txBox="1"/>
          <p:nvPr/>
        </p:nvSpPr>
        <p:spPr>
          <a:xfrm>
            <a:off x="7443216" y="3657599"/>
            <a:ext cx="1874521" cy="5849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Spot-check lab values,</a:t>
            </a:r>
          </a:p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drug dosages, clinical</a:t>
            </a:r>
          </a:p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facts against your source</a:t>
            </a:r>
          </a:p>
        </p:txBody>
      </p:sp>
      <p:sp>
        <p:nvSpPr>
          <p:cNvPr id="145" name="Shape 22"/>
          <p:cNvSpPr/>
          <p:nvPr/>
        </p:nvSpPr>
        <p:spPr>
          <a:xfrm>
            <a:off x="9610343" y="2103120"/>
            <a:ext cx="2093977" cy="338328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6" name="Text 24"/>
          <p:cNvSpPr txBox="1"/>
          <p:nvPr/>
        </p:nvSpPr>
        <p:spPr>
          <a:xfrm>
            <a:off x="10355580" y="2576829"/>
            <a:ext cx="6035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47" name="Text 25"/>
          <p:cNvSpPr txBox="1"/>
          <p:nvPr/>
        </p:nvSpPr>
        <p:spPr>
          <a:xfrm>
            <a:off x="9610343" y="3272789"/>
            <a:ext cx="209397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Reuse</a:t>
            </a:r>
          </a:p>
        </p:txBody>
      </p:sp>
      <p:sp>
        <p:nvSpPr>
          <p:cNvPr id="148" name="Text 26"/>
          <p:cNvSpPr txBox="1"/>
          <p:nvPr/>
        </p:nvSpPr>
        <p:spPr>
          <a:xfrm>
            <a:off x="9720071" y="3657599"/>
            <a:ext cx="1874521" cy="5849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Save the notebook.</a:t>
            </a:r>
          </a:p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It becomes your personal</a:t>
            </a:r>
          </a:p>
          <a:p>
            <a:pPr algn="ctr">
              <a:lnSpc>
                <a:spcPct val="115000"/>
              </a:lnSpc>
              <a:defRPr sz="1200">
                <a:solidFill>
                  <a:srgbClr val="5F7173"/>
                </a:solidFill>
              </a:defRPr>
            </a:pPr>
            <a:r>
              <a:t>AI case library</a:t>
            </a:r>
          </a:p>
        </p:txBody>
      </p:sp>
      <p:sp>
        <p:nvSpPr>
          <p:cNvPr id="149" name="Text 27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2 · DEMO</a:t>
            </a:r>
          </a:p>
        </p:txBody>
      </p:sp>
      <p:sp>
        <p:nvSpPr>
          <p:cNvPr id="152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Live Demo: NotebookLM Grounding</a:t>
            </a:r>
          </a:p>
        </p:txBody>
      </p:sp>
      <p:sp>
        <p:nvSpPr>
          <p:cNvPr id="153" name="Text 2"/>
          <p:cNvSpPr txBox="1"/>
          <p:nvPr/>
        </p:nvSpPr>
        <p:spPr>
          <a:xfrm>
            <a:off x="502919" y="1548129"/>
            <a:ext cx="10972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Show the problem, then the solution</a:t>
            </a:r>
          </a:p>
        </p:txBody>
      </p:sp>
      <p:sp>
        <p:nvSpPr>
          <p:cNvPr id="154" name="Shape 3"/>
          <p:cNvSpPr/>
          <p:nvPr/>
        </p:nvSpPr>
        <p:spPr>
          <a:xfrm>
            <a:off x="502919" y="2103120"/>
            <a:ext cx="6766561" cy="3749041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5" name="Text 4"/>
          <p:cNvSpPr txBox="1"/>
          <p:nvPr/>
        </p:nvSpPr>
        <p:spPr>
          <a:xfrm>
            <a:off x="822960" y="2390447"/>
            <a:ext cx="61264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0F5257"/>
                </a:solidFill>
              </a:defRPr>
            </a:lvl1pPr>
          </a:lstStyle>
          <a:p>
            <a:pPr/>
            <a:r>
              <a:t>DEMO SCRIPT</a:t>
            </a:r>
          </a:p>
        </p:txBody>
      </p:sp>
      <p:sp>
        <p:nvSpPr>
          <p:cNvPr id="156" name="Text 5"/>
          <p:cNvSpPr txBox="1"/>
          <p:nvPr/>
        </p:nvSpPr>
        <p:spPr>
          <a:xfrm>
            <a:off x="868680" y="2697479"/>
            <a:ext cx="6126480" cy="1619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800"/>
              </a:spcBef>
              <a:defRPr sz="1500">
                <a:solidFill>
                  <a:srgbClr val="1C2A2C"/>
                </a:solidFill>
              </a:defRPr>
            </a:pPr>
            <a:r>
              <a:t>1. ChatGPT WITHOUT sources → show hallucination</a:t>
            </a:r>
          </a:p>
          <a:p>
            <a:pPr>
              <a:lnSpc>
                <a:spcPct val="115000"/>
              </a:lnSpc>
              <a:spcBef>
                <a:spcPts val="800"/>
              </a:spcBef>
              <a:defRPr sz="1500">
                <a:solidFill>
                  <a:srgbClr val="1C2A2C"/>
                </a:solidFill>
              </a:defRPr>
            </a:pPr>
            <a:r>
              <a:t>2. Open NotebookLM with pericarditis guidelines</a:t>
            </a:r>
          </a:p>
          <a:p>
            <a:pPr>
              <a:lnSpc>
                <a:spcPct val="115000"/>
              </a:lnSpc>
              <a:spcBef>
                <a:spcPts val="800"/>
              </a:spcBef>
              <a:defRPr sz="1500">
                <a:solidFill>
                  <a:srgbClr val="1C2A2C"/>
                </a:solidFill>
              </a:defRPr>
            </a:pPr>
            <a:r>
              <a:t>3. Same question → grounded, cited response</a:t>
            </a:r>
          </a:p>
          <a:p>
            <a:pPr>
              <a:lnSpc>
                <a:spcPct val="115000"/>
              </a:lnSpc>
              <a:spcBef>
                <a:spcPts val="800"/>
              </a:spcBef>
              <a:defRPr sz="1500">
                <a:solidFill>
                  <a:srgbClr val="1C2A2C"/>
                </a:solidFill>
              </a:defRPr>
            </a:pPr>
            <a:r>
              <a:t>4. Generate clinical reasoning exercise + rubric</a:t>
            </a:r>
          </a:p>
          <a:p>
            <a:pPr>
              <a:lnSpc>
                <a:spcPct val="115000"/>
              </a:lnSpc>
              <a:defRPr sz="1500">
                <a:solidFill>
                  <a:srgbClr val="1C2A2C"/>
                </a:solidFill>
              </a:defRPr>
            </a:pPr>
            <a:r>
              <a:t>5. Audio Overview (podcast) — play 15 seconds</a:t>
            </a:r>
          </a:p>
        </p:txBody>
      </p:sp>
      <p:sp>
        <p:nvSpPr>
          <p:cNvPr id="157" name="Shape 6"/>
          <p:cNvSpPr/>
          <p:nvPr/>
        </p:nvSpPr>
        <p:spPr>
          <a:xfrm>
            <a:off x="7680959" y="2103120"/>
            <a:ext cx="4023361" cy="3749041"/>
          </a:xfrm>
          <a:prstGeom prst="roundRect">
            <a:avLst>
              <a:gd name="adj" fmla="val 2195"/>
            </a:avLst>
          </a:prstGeom>
          <a:solidFill>
            <a:srgbClr val="0A3538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8" name="Text 7"/>
          <p:cNvSpPr txBox="1"/>
          <p:nvPr/>
        </p:nvSpPr>
        <p:spPr>
          <a:xfrm>
            <a:off x="8001000" y="2390447"/>
            <a:ext cx="338328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E2BE6B"/>
                </a:solidFill>
              </a:defRPr>
            </a:lvl1pPr>
          </a:lstStyle>
          <a:p>
            <a:pPr/>
            <a:r>
              <a:t>OPEN NOW</a:t>
            </a:r>
          </a:p>
        </p:txBody>
      </p:sp>
      <p:sp>
        <p:nvSpPr>
          <p:cNvPr id="159" name="Shape 8"/>
          <p:cNvSpPr/>
          <p:nvPr/>
        </p:nvSpPr>
        <p:spPr>
          <a:xfrm>
            <a:off x="8001000" y="2697479"/>
            <a:ext cx="3383280" cy="457201"/>
          </a:xfrm>
          <a:prstGeom prst="roundRect">
            <a:avLst>
              <a:gd name="adj" fmla="val 50000"/>
            </a:avLst>
          </a:prstGeom>
          <a:solidFill>
            <a:srgbClr val="0F52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0" name="Text 9"/>
          <p:cNvSpPr txBox="1"/>
          <p:nvPr/>
        </p:nvSpPr>
        <p:spPr>
          <a:xfrm>
            <a:off x="8001000" y="2814657"/>
            <a:ext cx="3383280" cy="222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▶  NotebookLM</a:t>
            </a:r>
          </a:p>
        </p:txBody>
      </p:sp>
      <p:sp>
        <p:nvSpPr>
          <p:cNvPr id="161" name="Text 10"/>
          <p:cNvSpPr txBox="1"/>
          <p:nvPr/>
        </p:nvSpPr>
        <p:spPr>
          <a:xfrm>
            <a:off x="8001000" y="3579167"/>
            <a:ext cx="338328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E2BE6B"/>
                </a:solidFill>
              </a:defRPr>
            </a:lvl1pPr>
          </a:lstStyle>
          <a:p>
            <a:pPr/>
            <a:r>
              <a:t>Workshop Guide → Section 4 (prompts)</a:t>
            </a:r>
          </a:p>
        </p:txBody>
      </p:sp>
      <p:sp>
        <p:nvSpPr>
          <p:cNvPr id="162" name="Text 11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2 · TRY IT</a:t>
            </a:r>
          </a:p>
        </p:txBody>
      </p:sp>
      <p:sp>
        <p:nvSpPr>
          <p:cNvPr id="165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Copy-Paste Prompt Templates</a:t>
            </a:r>
          </a:p>
        </p:txBody>
      </p:sp>
      <p:sp>
        <p:nvSpPr>
          <p:cNvPr id="166" name="Text 2"/>
          <p:cNvSpPr txBox="1"/>
          <p:nvPr/>
        </p:nvSpPr>
        <p:spPr>
          <a:xfrm>
            <a:off x="502919" y="1548129"/>
            <a:ext cx="10972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Try these now — in the Workshop Guide → Section 4</a:t>
            </a:r>
          </a:p>
        </p:txBody>
      </p:sp>
      <p:sp>
        <p:nvSpPr>
          <p:cNvPr id="167" name="Shape 3"/>
          <p:cNvSpPr/>
          <p:nvPr/>
        </p:nvSpPr>
        <p:spPr>
          <a:xfrm>
            <a:off x="502919" y="2148839"/>
            <a:ext cx="5413249" cy="182880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8" name="Text 4"/>
          <p:cNvSpPr txBox="1"/>
          <p:nvPr/>
        </p:nvSpPr>
        <p:spPr>
          <a:xfrm>
            <a:off x="822960" y="2436167"/>
            <a:ext cx="47548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9E7625"/>
                </a:solidFill>
              </a:defRPr>
            </a:lvl1pPr>
          </a:lstStyle>
          <a:p>
            <a:pPr/>
            <a:r>
              <a:t>PROMPT 1</a:t>
            </a:r>
          </a:p>
        </p:txBody>
      </p:sp>
      <p:sp>
        <p:nvSpPr>
          <p:cNvPr id="169" name="Text 5"/>
          <p:cNvSpPr txBox="1"/>
          <p:nvPr/>
        </p:nvSpPr>
        <p:spPr>
          <a:xfrm>
            <a:off x="822960" y="2884170"/>
            <a:ext cx="4754881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Grounded Clinical Reasoning Case</a:t>
            </a:r>
          </a:p>
        </p:txBody>
      </p:sp>
      <p:sp>
        <p:nvSpPr>
          <p:cNvPr id="170" name="Text 6"/>
          <p:cNvSpPr txBox="1"/>
          <p:nvPr/>
        </p:nvSpPr>
        <p:spPr>
          <a:xfrm>
            <a:off x="822960" y="3574219"/>
            <a:ext cx="475488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F7173"/>
                </a:solidFill>
              </a:defRPr>
            </a:lvl1pPr>
          </a:lstStyle>
          <a:p>
            <a:pPr/>
            <a:r>
              <a:t>For NotebookLM or ChatGPT with file upload</a:t>
            </a:r>
          </a:p>
        </p:txBody>
      </p:sp>
      <p:sp>
        <p:nvSpPr>
          <p:cNvPr id="171" name="Shape 7"/>
          <p:cNvSpPr/>
          <p:nvPr/>
        </p:nvSpPr>
        <p:spPr>
          <a:xfrm>
            <a:off x="6281928" y="2148839"/>
            <a:ext cx="5413249" cy="182880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2" name="Text 8"/>
          <p:cNvSpPr txBox="1"/>
          <p:nvPr/>
        </p:nvSpPr>
        <p:spPr>
          <a:xfrm>
            <a:off x="6601968" y="2436167"/>
            <a:ext cx="47548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9E7625"/>
                </a:solidFill>
              </a:defRPr>
            </a:lvl1pPr>
          </a:lstStyle>
          <a:p>
            <a:pPr/>
            <a:r>
              <a:t>PROMPT 2</a:t>
            </a:r>
          </a:p>
        </p:txBody>
      </p:sp>
      <p:sp>
        <p:nvSpPr>
          <p:cNvPr id="173" name="Text 9"/>
          <p:cNvSpPr txBox="1"/>
          <p:nvPr/>
        </p:nvSpPr>
        <p:spPr>
          <a:xfrm>
            <a:off x="6601968" y="2884170"/>
            <a:ext cx="4754881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Simulated Patient Encounter</a:t>
            </a:r>
          </a:p>
        </p:txBody>
      </p:sp>
      <p:sp>
        <p:nvSpPr>
          <p:cNvPr id="174" name="Text 10"/>
          <p:cNvSpPr txBox="1"/>
          <p:nvPr/>
        </p:nvSpPr>
        <p:spPr>
          <a:xfrm>
            <a:off x="6601968" y="3574219"/>
            <a:ext cx="475488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F7173"/>
                </a:solidFill>
              </a:defRPr>
            </a:lvl1pPr>
          </a:lstStyle>
          <a:p>
            <a:pPr/>
            <a:r>
              <a:t>For ChatGPT voice mode or Claude</a:t>
            </a:r>
          </a:p>
        </p:txBody>
      </p:sp>
      <p:sp>
        <p:nvSpPr>
          <p:cNvPr id="175" name="Shape 11"/>
          <p:cNvSpPr/>
          <p:nvPr/>
        </p:nvSpPr>
        <p:spPr>
          <a:xfrm>
            <a:off x="502919" y="4206240"/>
            <a:ext cx="5413249" cy="182880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6" name="Text 12"/>
          <p:cNvSpPr txBox="1"/>
          <p:nvPr/>
        </p:nvSpPr>
        <p:spPr>
          <a:xfrm>
            <a:off x="822960" y="4493567"/>
            <a:ext cx="47548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9E7625"/>
                </a:solidFill>
              </a:defRPr>
            </a:lvl1pPr>
          </a:lstStyle>
          <a:p>
            <a:pPr/>
            <a:r>
              <a:t>PROMPT 3</a:t>
            </a:r>
          </a:p>
        </p:txBody>
      </p:sp>
      <p:sp>
        <p:nvSpPr>
          <p:cNvPr id="177" name="Text 13"/>
          <p:cNvSpPr txBox="1"/>
          <p:nvPr/>
        </p:nvSpPr>
        <p:spPr>
          <a:xfrm>
            <a:off x="822960" y="4941569"/>
            <a:ext cx="4754881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Structured Feedback Rubric</a:t>
            </a:r>
          </a:p>
        </p:txBody>
      </p:sp>
      <p:sp>
        <p:nvSpPr>
          <p:cNvPr id="178" name="Text 14"/>
          <p:cNvSpPr txBox="1"/>
          <p:nvPr/>
        </p:nvSpPr>
        <p:spPr>
          <a:xfrm>
            <a:off x="822960" y="5631619"/>
            <a:ext cx="475488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F7173"/>
                </a:solidFill>
              </a:defRPr>
            </a:lvl1pPr>
          </a:lstStyle>
          <a:p>
            <a:pPr/>
            <a:r>
              <a:t>Evaluates reasoning, not just answers</a:t>
            </a:r>
          </a:p>
        </p:txBody>
      </p:sp>
      <p:sp>
        <p:nvSpPr>
          <p:cNvPr id="179" name="Shape 15"/>
          <p:cNvSpPr/>
          <p:nvPr/>
        </p:nvSpPr>
        <p:spPr>
          <a:xfrm>
            <a:off x="6281928" y="4206240"/>
            <a:ext cx="5413249" cy="182880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0" name="Text 16"/>
          <p:cNvSpPr txBox="1"/>
          <p:nvPr/>
        </p:nvSpPr>
        <p:spPr>
          <a:xfrm>
            <a:off x="6601968" y="4493567"/>
            <a:ext cx="47548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9E7625"/>
                </a:solidFill>
              </a:defRPr>
            </a:lvl1pPr>
          </a:lstStyle>
          <a:p>
            <a:pPr/>
            <a:r>
              <a:t>PROMPT 4</a:t>
            </a:r>
          </a:p>
        </p:txBody>
      </p:sp>
      <p:sp>
        <p:nvSpPr>
          <p:cNvPr id="181" name="Text 17"/>
          <p:cNvSpPr txBox="1"/>
          <p:nvPr/>
        </p:nvSpPr>
        <p:spPr>
          <a:xfrm>
            <a:off x="6601968" y="4941569"/>
            <a:ext cx="4754881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Reflective Writing Prompts</a:t>
            </a:r>
          </a:p>
        </p:txBody>
      </p:sp>
      <p:sp>
        <p:nvSpPr>
          <p:cNvPr id="182" name="Text 18"/>
          <p:cNvSpPr txBox="1"/>
          <p:nvPr/>
        </p:nvSpPr>
        <p:spPr>
          <a:xfrm>
            <a:off x="6601968" y="5631619"/>
            <a:ext cx="475488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F7173"/>
                </a:solidFill>
              </a:defRPr>
            </a:lvl1pPr>
          </a:lstStyle>
          <a:p>
            <a:pPr/>
            <a:r>
              <a:t>Creates prompts AI can't answer</a:t>
            </a:r>
          </a:p>
        </p:txBody>
      </p:sp>
      <p:sp>
        <p:nvSpPr>
          <p:cNvPr id="183" name="Text 19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hape 0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6" name="Shape 1"/>
          <p:cNvSpPr/>
          <p:nvPr/>
        </p:nvSpPr>
        <p:spPr>
          <a:xfrm rot="720000">
            <a:off x="6703924" y="-914401"/>
            <a:ext cx="12188953" cy="8686801"/>
          </a:xfrm>
          <a:prstGeom prst="rect">
            <a:avLst/>
          </a:prstGeom>
          <a:solidFill>
            <a:srgbClr val="0F5257">
              <a:alpha val="4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7" name="Shape 4"/>
          <p:cNvSpPr/>
          <p:nvPr/>
        </p:nvSpPr>
        <p:spPr>
          <a:xfrm>
            <a:off x="4494276" y="960119"/>
            <a:ext cx="3200401" cy="658369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8" name="Text 5"/>
          <p:cNvSpPr txBox="1"/>
          <p:nvPr/>
        </p:nvSpPr>
        <p:spPr>
          <a:xfrm>
            <a:off x="4494276" y="1184727"/>
            <a:ext cx="320040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0A3538"/>
                </a:solidFill>
              </a:defRPr>
            </a:lvl1pPr>
          </a:lstStyle>
          <a:p>
            <a:pPr/>
            <a:r>
              <a:t>Think · Pair · Share — 3 min</a:t>
            </a:r>
          </a:p>
        </p:txBody>
      </p:sp>
      <p:sp>
        <p:nvSpPr>
          <p:cNvPr id="189" name="Text 6"/>
          <p:cNvSpPr txBox="1"/>
          <p:nvPr/>
        </p:nvSpPr>
        <p:spPr>
          <a:xfrm>
            <a:off x="640079" y="2103119"/>
            <a:ext cx="10908794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Try it now</a:t>
            </a:r>
          </a:p>
        </p:txBody>
      </p:sp>
      <p:sp>
        <p:nvSpPr>
          <p:cNvPr id="190" name="Text 8"/>
          <p:cNvSpPr txBox="1"/>
          <p:nvPr/>
        </p:nvSpPr>
        <p:spPr>
          <a:xfrm>
            <a:off x="1920239" y="2997453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91" name="Text 9"/>
          <p:cNvSpPr txBox="1"/>
          <p:nvPr/>
        </p:nvSpPr>
        <p:spPr>
          <a:xfrm>
            <a:off x="2697480" y="3022294"/>
            <a:ext cx="8503920" cy="219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FFFFFF"/>
                </a:solidFill>
              </a:defRPr>
            </a:lvl1pPr>
          </a:lstStyle>
          <a:p>
            <a:pPr/>
            <a:r>
              <a:t>On your phone, open ChatGPT, Claude, or Gemini (all free)</a:t>
            </a:r>
          </a:p>
        </p:txBody>
      </p:sp>
      <p:sp>
        <p:nvSpPr>
          <p:cNvPr id="192" name="Text 11"/>
          <p:cNvSpPr txBox="1"/>
          <p:nvPr/>
        </p:nvSpPr>
        <p:spPr>
          <a:xfrm>
            <a:off x="1920239" y="3774693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93" name="Text 12"/>
          <p:cNvSpPr txBox="1"/>
          <p:nvPr/>
        </p:nvSpPr>
        <p:spPr>
          <a:xfrm>
            <a:off x="2697480" y="3799534"/>
            <a:ext cx="8503920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FFFFFF"/>
                </a:solidFill>
              </a:defRPr>
            </a:lvl1pPr>
          </a:lstStyle>
          <a:p>
            <a:pPr/>
            <a:r>
              <a:t>Copy and paste Prompt #1 or #2 from the Workshop Guide</a:t>
            </a:r>
          </a:p>
        </p:txBody>
      </p:sp>
      <p:sp>
        <p:nvSpPr>
          <p:cNvPr id="194" name="Text 14"/>
          <p:cNvSpPr txBox="1"/>
          <p:nvPr/>
        </p:nvSpPr>
        <p:spPr>
          <a:xfrm>
            <a:off x="1920239" y="4551934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95" name="Text 15"/>
          <p:cNvSpPr txBox="1"/>
          <p:nvPr/>
        </p:nvSpPr>
        <p:spPr>
          <a:xfrm>
            <a:off x="2697480" y="4576774"/>
            <a:ext cx="8503920" cy="219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FFFFFF"/>
                </a:solidFill>
              </a:defRPr>
            </a:lvl1pPr>
          </a:lstStyle>
          <a:p>
            <a:pPr/>
            <a:r>
              <a:t>If you have a clinical guideline, upload it first</a:t>
            </a:r>
          </a:p>
        </p:txBody>
      </p:sp>
      <p:sp>
        <p:nvSpPr>
          <p:cNvPr id="196" name="Text 17"/>
          <p:cNvSpPr txBox="1"/>
          <p:nvPr/>
        </p:nvSpPr>
        <p:spPr>
          <a:xfrm>
            <a:off x="1920239" y="5329173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97" name="Text 18"/>
          <p:cNvSpPr txBox="1"/>
          <p:nvPr/>
        </p:nvSpPr>
        <p:spPr>
          <a:xfrm>
            <a:off x="2697480" y="5354015"/>
            <a:ext cx="8503920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FFFFFF"/>
                </a:solidFill>
              </a:defRPr>
            </a:lvl1pPr>
          </a:lstStyle>
          <a:p>
            <a:pPr/>
            <a:r>
              <a:t>Share with your table — what worked? What surprised you?</a:t>
            </a:r>
          </a:p>
        </p:txBody>
      </p:sp>
      <p:sp>
        <p:nvSpPr>
          <p:cNvPr id="198" name="Text 19"/>
          <p:cNvSpPr txBox="1"/>
          <p:nvPr/>
        </p:nvSpPr>
        <p:spPr>
          <a:xfrm>
            <a:off x="640079" y="6363139"/>
            <a:ext cx="10908794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 u="sng">
                <a:solidFill>
                  <a:schemeClr val="accent4">
                    <a:lumOff val="12500"/>
                  </a:schemeClr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0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1" name="Shape 1"/>
          <p:cNvSpPr/>
          <p:nvPr/>
        </p:nvSpPr>
        <p:spPr>
          <a:xfrm rot="720000">
            <a:off x="6703924" y="-914401"/>
            <a:ext cx="12188953" cy="8686801"/>
          </a:xfrm>
          <a:prstGeom prst="rect">
            <a:avLst/>
          </a:prstGeom>
          <a:solidFill>
            <a:srgbClr val="0F5257">
              <a:alpha val="4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2" name="Text 5"/>
          <p:cNvSpPr txBox="1"/>
          <p:nvPr/>
        </p:nvSpPr>
        <p:spPr>
          <a:xfrm>
            <a:off x="914400" y="1663700"/>
            <a:ext cx="914400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203" name="Text 6"/>
          <p:cNvSpPr txBox="1"/>
          <p:nvPr/>
        </p:nvSpPr>
        <p:spPr>
          <a:xfrm>
            <a:off x="2194560" y="1607819"/>
            <a:ext cx="905256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Objective 3 — Simulation Spectrum</a:t>
            </a:r>
          </a:p>
        </p:txBody>
      </p:sp>
      <p:sp>
        <p:nvSpPr>
          <p:cNvPr id="204" name="Text 7"/>
          <p:cNvSpPr txBox="1"/>
          <p:nvPr/>
        </p:nvSpPr>
        <p:spPr>
          <a:xfrm>
            <a:off x="2194559" y="2962909"/>
            <a:ext cx="877824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Match the technology to the learning goal — from text to VR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 txBox="1"/>
          <p:nvPr/>
        </p:nvSpPr>
        <p:spPr>
          <a:xfrm>
            <a:off x="502919" y="47935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3 · FRAMING</a:t>
            </a:r>
          </a:p>
        </p:txBody>
      </p:sp>
      <p:sp>
        <p:nvSpPr>
          <p:cNvPr id="207" name="Text 1"/>
          <p:cNvSpPr txBox="1"/>
          <p:nvPr/>
        </p:nvSpPr>
        <p:spPr>
          <a:xfrm>
            <a:off x="502919" y="843279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 Clinician's Perspective on Simulation</a:t>
            </a:r>
          </a:p>
        </p:txBody>
      </p:sp>
      <p:sp>
        <p:nvSpPr>
          <p:cNvPr id="208" name="Shape 2"/>
          <p:cNvSpPr/>
          <p:nvPr/>
        </p:nvSpPr>
        <p:spPr>
          <a:xfrm>
            <a:off x="502919" y="1920239"/>
            <a:ext cx="11201401" cy="3931922"/>
          </a:xfrm>
          <a:prstGeom prst="roundRect">
            <a:avLst>
              <a:gd name="adj" fmla="val 2093"/>
            </a:avLst>
          </a:prstGeom>
          <a:solidFill>
            <a:srgbClr val="0A3538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9" name="Text 3"/>
          <p:cNvSpPr txBox="1"/>
          <p:nvPr/>
        </p:nvSpPr>
        <p:spPr>
          <a:xfrm>
            <a:off x="914400" y="2299007"/>
            <a:ext cx="1051560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E2BE6B"/>
                </a:solidFill>
              </a:defRPr>
            </a:lvl1pPr>
          </a:lstStyle>
          <a:p>
            <a:pPr/>
            <a:r>
              <a:t>FROM THE TRENCHES</a:t>
            </a:r>
          </a:p>
        </p:txBody>
      </p:sp>
      <p:sp>
        <p:nvSpPr>
          <p:cNvPr id="210" name="Text 4"/>
          <p:cNvSpPr txBox="1"/>
          <p:nvPr/>
        </p:nvSpPr>
        <p:spPr>
          <a:xfrm>
            <a:off x="914399" y="2729229"/>
            <a:ext cx="1033272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Immersion doesn't require a headset.</a:t>
            </a:r>
          </a:p>
        </p:txBody>
      </p:sp>
      <p:sp>
        <p:nvSpPr>
          <p:cNvPr id="211" name="Text 5"/>
          <p:cNvSpPr txBox="1"/>
          <p:nvPr/>
        </p:nvSpPr>
        <p:spPr>
          <a:xfrm>
            <a:off x="914399" y="3793347"/>
            <a:ext cx="10241282" cy="551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0000"/>
              </a:lnSpc>
              <a:defRPr sz="1700">
                <a:solidFill>
                  <a:srgbClr val="DCEDEB"/>
                </a:solidFill>
              </a:defRPr>
            </a:lvl1pPr>
          </a:lstStyle>
          <a:p>
            <a:pPr/>
            <a:r>
              <a:t>A well-designed text-and-audio case — where a learner interviews a patient, orders labs, interprets an ECG, and builds a differential — can teach clinical reasoning as effectively as a $500 VR setup.</a:t>
            </a:r>
          </a:p>
        </p:txBody>
      </p:sp>
      <p:sp>
        <p:nvSpPr>
          <p:cNvPr id="212" name="Text 6"/>
          <p:cNvSpPr txBox="1"/>
          <p:nvPr/>
        </p:nvSpPr>
        <p:spPr>
          <a:xfrm>
            <a:off x="914399" y="5124449"/>
            <a:ext cx="10241282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matters is the thinking the learner does, not the fidelity of the interface.</a:t>
            </a:r>
          </a:p>
        </p:txBody>
      </p:sp>
      <p:sp>
        <p:nvSpPr>
          <p:cNvPr id="213" name="Text 7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3 · SPECTRUM</a:t>
            </a:r>
          </a:p>
        </p:txBody>
      </p:sp>
      <p:sp>
        <p:nvSpPr>
          <p:cNvPr id="216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The Fidelity Spectrum</a:t>
            </a:r>
          </a:p>
        </p:txBody>
      </p:sp>
      <p:sp>
        <p:nvSpPr>
          <p:cNvPr id="217" name="Text 2"/>
          <p:cNvSpPr txBox="1"/>
          <p:nvPr/>
        </p:nvSpPr>
        <p:spPr>
          <a:xfrm>
            <a:off x="502919" y="1548129"/>
            <a:ext cx="10972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The most expensive simulation is not the best simulation</a:t>
            </a:r>
          </a:p>
        </p:txBody>
      </p:sp>
      <p:sp>
        <p:nvSpPr>
          <p:cNvPr id="218" name="Shape 3"/>
          <p:cNvSpPr/>
          <p:nvPr/>
        </p:nvSpPr>
        <p:spPr>
          <a:xfrm>
            <a:off x="502919" y="2148839"/>
            <a:ext cx="2093978" cy="3566161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9" name="Shape 4"/>
          <p:cNvSpPr/>
          <p:nvPr/>
        </p:nvSpPr>
        <p:spPr>
          <a:xfrm>
            <a:off x="502919" y="2148839"/>
            <a:ext cx="2093978" cy="109729"/>
          </a:xfrm>
          <a:prstGeom prst="rect">
            <a:avLst/>
          </a:prstGeom>
          <a:solidFill>
            <a:srgbClr val="0F52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0" name="Text 5"/>
          <p:cNvSpPr txBox="1"/>
          <p:nvPr/>
        </p:nvSpPr>
        <p:spPr>
          <a:xfrm>
            <a:off x="640080" y="2488614"/>
            <a:ext cx="1819657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pc="150" sz="1100">
                <a:solidFill>
                  <a:srgbClr val="9E7625"/>
                </a:solidFill>
              </a:defRPr>
            </a:lvl1pPr>
          </a:lstStyle>
          <a:p>
            <a:pPr/>
            <a:r>
              <a:t>LEVEL 1</a:t>
            </a:r>
          </a:p>
        </p:txBody>
      </p:sp>
      <p:sp>
        <p:nvSpPr>
          <p:cNvPr id="221" name="Text 6"/>
          <p:cNvSpPr txBox="1"/>
          <p:nvPr/>
        </p:nvSpPr>
        <p:spPr>
          <a:xfrm>
            <a:off x="640080" y="3004819"/>
            <a:ext cx="18196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Text &amp; Audio</a:t>
            </a:r>
          </a:p>
        </p:txBody>
      </p:sp>
      <p:sp>
        <p:nvSpPr>
          <p:cNvPr id="222" name="Text 7"/>
          <p:cNvSpPr txBox="1"/>
          <p:nvPr/>
        </p:nvSpPr>
        <p:spPr>
          <a:xfrm>
            <a:off x="640080" y="3659045"/>
            <a:ext cx="1819657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2F6B4F"/>
                </a:solidFill>
              </a:defRPr>
            </a:lvl1pPr>
          </a:lstStyle>
          <a:p>
            <a:pPr/>
            <a:r>
              <a:t>Free — $20/mo</a:t>
            </a:r>
          </a:p>
        </p:txBody>
      </p:sp>
      <p:sp>
        <p:nvSpPr>
          <p:cNvPr id="223" name="Text 8"/>
          <p:cNvSpPr txBox="1"/>
          <p:nvPr/>
        </p:nvSpPr>
        <p:spPr>
          <a:xfrm>
            <a:off x="640080" y="3977640"/>
            <a:ext cx="1819657" cy="326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5F7173"/>
                </a:solidFill>
              </a:defRPr>
            </a:lvl1pPr>
          </a:lstStyle>
          <a:p>
            <a:pPr/>
            <a:r>
              <a:t>Interview, labs, differential, images</a:t>
            </a:r>
          </a:p>
        </p:txBody>
      </p:sp>
      <p:sp>
        <p:nvSpPr>
          <p:cNvPr id="224" name="Shape 9"/>
          <p:cNvSpPr/>
          <p:nvPr/>
        </p:nvSpPr>
        <p:spPr>
          <a:xfrm>
            <a:off x="2779776" y="2148839"/>
            <a:ext cx="2093977" cy="3566161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5" name="Shape 10"/>
          <p:cNvSpPr/>
          <p:nvPr/>
        </p:nvSpPr>
        <p:spPr>
          <a:xfrm>
            <a:off x="2779776" y="2148839"/>
            <a:ext cx="2093977" cy="109729"/>
          </a:xfrm>
          <a:prstGeom prst="rect">
            <a:avLst/>
          </a:prstGeom>
          <a:solidFill>
            <a:srgbClr val="0F52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6" name="Text 11"/>
          <p:cNvSpPr txBox="1"/>
          <p:nvPr/>
        </p:nvSpPr>
        <p:spPr>
          <a:xfrm>
            <a:off x="2916935" y="2488614"/>
            <a:ext cx="1819657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pc="150" sz="1100">
                <a:solidFill>
                  <a:srgbClr val="9E7625"/>
                </a:solidFill>
              </a:defRPr>
            </a:lvl1pPr>
          </a:lstStyle>
          <a:p>
            <a:pPr/>
            <a:r>
              <a:t>LEVEL 2</a:t>
            </a:r>
          </a:p>
        </p:txBody>
      </p:sp>
      <p:sp>
        <p:nvSpPr>
          <p:cNvPr id="227" name="Text 12"/>
          <p:cNvSpPr txBox="1"/>
          <p:nvPr/>
        </p:nvSpPr>
        <p:spPr>
          <a:xfrm>
            <a:off x="2916935" y="3004819"/>
            <a:ext cx="18196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Image-Based</a:t>
            </a:r>
          </a:p>
        </p:txBody>
      </p:sp>
      <p:sp>
        <p:nvSpPr>
          <p:cNvPr id="228" name="Text 13"/>
          <p:cNvSpPr txBox="1"/>
          <p:nvPr/>
        </p:nvSpPr>
        <p:spPr>
          <a:xfrm>
            <a:off x="2916935" y="3659045"/>
            <a:ext cx="1819657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2F6B4F"/>
                </a:solidFill>
              </a:defRPr>
            </a:lvl1pPr>
          </a:lstStyle>
          <a:p>
            <a:pPr/>
            <a:r>
              <a:t>Free — $25</a:t>
            </a:r>
          </a:p>
        </p:txBody>
      </p:sp>
      <p:sp>
        <p:nvSpPr>
          <p:cNvPr id="229" name="Text 14"/>
          <p:cNvSpPr txBox="1"/>
          <p:nvPr/>
        </p:nvSpPr>
        <p:spPr>
          <a:xfrm>
            <a:off x="2916935" y="3977640"/>
            <a:ext cx="1819657" cy="326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5F7173"/>
                </a:solidFill>
              </a:defRPr>
            </a:lvl1pPr>
          </a:lstStyle>
          <a:p>
            <a:pPr/>
            <a:r>
              <a:t>ECGs, radiology, lab interpretation</a:t>
            </a:r>
          </a:p>
        </p:txBody>
      </p:sp>
      <p:sp>
        <p:nvSpPr>
          <p:cNvPr id="230" name="Shape 15"/>
          <p:cNvSpPr/>
          <p:nvPr/>
        </p:nvSpPr>
        <p:spPr>
          <a:xfrm>
            <a:off x="5056632" y="2148839"/>
            <a:ext cx="2093977" cy="3566161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1" name="Shape 16"/>
          <p:cNvSpPr/>
          <p:nvPr/>
        </p:nvSpPr>
        <p:spPr>
          <a:xfrm>
            <a:off x="5056632" y="2148839"/>
            <a:ext cx="2093977" cy="109729"/>
          </a:xfrm>
          <a:prstGeom prst="rect">
            <a:avLst/>
          </a:prstGeom>
          <a:solidFill>
            <a:srgbClr val="0F52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2" name="Text 17"/>
          <p:cNvSpPr txBox="1"/>
          <p:nvPr/>
        </p:nvSpPr>
        <p:spPr>
          <a:xfrm>
            <a:off x="5193791" y="2488614"/>
            <a:ext cx="1819657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pc="150" sz="1100">
                <a:solidFill>
                  <a:srgbClr val="9E7625"/>
                </a:solidFill>
              </a:defRPr>
            </a:lvl1pPr>
          </a:lstStyle>
          <a:p>
            <a:pPr/>
            <a:r>
              <a:t>LEVEL 3</a:t>
            </a:r>
          </a:p>
        </p:txBody>
      </p:sp>
      <p:sp>
        <p:nvSpPr>
          <p:cNvPr id="233" name="Text 18"/>
          <p:cNvSpPr txBox="1"/>
          <p:nvPr/>
        </p:nvSpPr>
        <p:spPr>
          <a:xfrm>
            <a:off x="5193791" y="3004819"/>
            <a:ext cx="18196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Screen-Based</a:t>
            </a:r>
          </a:p>
        </p:txBody>
      </p:sp>
      <p:sp>
        <p:nvSpPr>
          <p:cNvPr id="234" name="Text 19"/>
          <p:cNvSpPr txBox="1"/>
          <p:nvPr/>
        </p:nvSpPr>
        <p:spPr>
          <a:xfrm>
            <a:off x="5193791" y="3659045"/>
            <a:ext cx="1819657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2F6B4F"/>
                </a:solidFill>
              </a:defRPr>
            </a:lvl1pPr>
          </a:lstStyle>
          <a:p>
            <a:pPr/>
            <a:r>
              <a:t>Free trial — inst.</a:t>
            </a:r>
          </a:p>
        </p:txBody>
      </p:sp>
      <p:sp>
        <p:nvSpPr>
          <p:cNvPr id="235" name="Text 20"/>
          <p:cNvSpPr txBox="1"/>
          <p:nvPr/>
        </p:nvSpPr>
        <p:spPr>
          <a:xfrm>
            <a:off x="5193791" y="3977640"/>
            <a:ext cx="1819657" cy="326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5F7173"/>
                </a:solidFill>
              </a:defRPr>
            </a:lvl1pPr>
          </a:lstStyle>
          <a:p>
            <a:pPr/>
            <a:r>
              <a:t>Virtual patients, branching scenarios</a:t>
            </a:r>
          </a:p>
        </p:txBody>
      </p:sp>
      <p:sp>
        <p:nvSpPr>
          <p:cNvPr id="236" name="Shape 21"/>
          <p:cNvSpPr/>
          <p:nvPr/>
        </p:nvSpPr>
        <p:spPr>
          <a:xfrm>
            <a:off x="7333488" y="2148839"/>
            <a:ext cx="2093977" cy="3566161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7" name="Shape 22"/>
          <p:cNvSpPr/>
          <p:nvPr/>
        </p:nvSpPr>
        <p:spPr>
          <a:xfrm>
            <a:off x="7333487" y="2148839"/>
            <a:ext cx="2093978" cy="109729"/>
          </a:xfrm>
          <a:prstGeom prst="rect">
            <a:avLst/>
          </a:prstGeom>
          <a:solidFill>
            <a:srgbClr val="0F52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8" name="Text 23"/>
          <p:cNvSpPr txBox="1"/>
          <p:nvPr/>
        </p:nvSpPr>
        <p:spPr>
          <a:xfrm>
            <a:off x="7470647" y="2488614"/>
            <a:ext cx="1819657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pc="150" sz="1100">
                <a:solidFill>
                  <a:srgbClr val="9E7625"/>
                </a:solidFill>
              </a:defRPr>
            </a:lvl1pPr>
          </a:lstStyle>
          <a:p>
            <a:pPr/>
            <a:r>
              <a:t>LEVEL 4</a:t>
            </a:r>
          </a:p>
        </p:txBody>
      </p:sp>
      <p:sp>
        <p:nvSpPr>
          <p:cNvPr id="239" name="Text 24"/>
          <p:cNvSpPr txBox="1"/>
          <p:nvPr/>
        </p:nvSpPr>
        <p:spPr>
          <a:xfrm>
            <a:off x="7470647" y="3004819"/>
            <a:ext cx="18196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AR (Phone)</a:t>
            </a:r>
          </a:p>
        </p:txBody>
      </p:sp>
      <p:sp>
        <p:nvSpPr>
          <p:cNvPr id="240" name="Text 25"/>
          <p:cNvSpPr txBox="1"/>
          <p:nvPr/>
        </p:nvSpPr>
        <p:spPr>
          <a:xfrm>
            <a:off x="7470647" y="3659045"/>
            <a:ext cx="1819657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2F6B4F"/>
                </a:solidFill>
              </a:defRPr>
            </a:lvl1pPr>
          </a:lstStyle>
          <a:p>
            <a:pPr/>
            <a:r>
              <a:t>Free — $25</a:t>
            </a:r>
          </a:p>
        </p:txBody>
      </p:sp>
      <p:sp>
        <p:nvSpPr>
          <p:cNvPr id="241" name="Text 26"/>
          <p:cNvSpPr txBox="1"/>
          <p:nvPr/>
        </p:nvSpPr>
        <p:spPr>
          <a:xfrm>
            <a:off x="7470647" y="3977640"/>
            <a:ext cx="1819657" cy="326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5F7173"/>
                </a:solidFill>
              </a:defRPr>
            </a:lvl1pPr>
          </a:lstStyle>
          <a:p>
            <a:pPr/>
            <a:r>
              <a:t>3D anatomy on phone, no headset</a:t>
            </a:r>
          </a:p>
        </p:txBody>
      </p:sp>
      <p:sp>
        <p:nvSpPr>
          <p:cNvPr id="242" name="Shape 27"/>
          <p:cNvSpPr/>
          <p:nvPr/>
        </p:nvSpPr>
        <p:spPr>
          <a:xfrm>
            <a:off x="9610343" y="2148839"/>
            <a:ext cx="2093977" cy="3566161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3" name="Shape 28"/>
          <p:cNvSpPr/>
          <p:nvPr/>
        </p:nvSpPr>
        <p:spPr>
          <a:xfrm>
            <a:off x="9610343" y="2148839"/>
            <a:ext cx="2093977" cy="109729"/>
          </a:xfrm>
          <a:prstGeom prst="rect">
            <a:avLst/>
          </a:prstGeom>
          <a:solidFill>
            <a:srgbClr val="C99A3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4" name="Text 29"/>
          <p:cNvSpPr txBox="1"/>
          <p:nvPr/>
        </p:nvSpPr>
        <p:spPr>
          <a:xfrm>
            <a:off x="9747504" y="2488614"/>
            <a:ext cx="1819657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pc="150" sz="1100">
                <a:solidFill>
                  <a:srgbClr val="9E7625"/>
                </a:solidFill>
              </a:defRPr>
            </a:lvl1pPr>
          </a:lstStyle>
          <a:p>
            <a:pPr/>
            <a:r>
              <a:t>LEVEL 5</a:t>
            </a:r>
          </a:p>
        </p:txBody>
      </p:sp>
      <p:sp>
        <p:nvSpPr>
          <p:cNvPr id="245" name="Text 30"/>
          <p:cNvSpPr txBox="1"/>
          <p:nvPr/>
        </p:nvSpPr>
        <p:spPr>
          <a:xfrm>
            <a:off x="9747504" y="3004819"/>
            <a:ext cx="18196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Immersive VR</a:t>
            </a:r>
          </a:p>
        </p:txBody>
      </p:sp>
      <p:sp>
        <p:nvSpPr>
          <p:cNvPr id="246" name="Text 31"/>
          <p:cNvSpPr txBox="1"/>
          <p:nvPr/>
        </p:nvSpPr>
        <p:spPr>
          <a:xfrm>
            <a:off x="9747504" y="3659045"/>
            <a:ext cx="1819657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2F6B4F"/>
                </a:solidFill>
              </a:defRPr>
            </a:lvl1pPr>
          </a:lstStyle>
          <a:p>
            <a:pPr/>
            <a:r>
              <a:t>$100 — $600</a:t>
            </a:r>
          </a:p>
        </p:txBody>
      </p:sp>
      <p:sp>
        <p:nvSpPr>
          <p:cNvPr id="247" name="Text 32"/>
          <p:cNvSpPr txBox="1"/>
          <p:nvPr/>
        </p:nvSpPr>
        <p:spPr>
          <a:xfrm>
            <a:off x="9747504" y="3977640"/>
            <a:ext cx="1819657" cy="326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5F7173"/>
                </a:solidFill>
              </a:defRPr>
            </a:lvl1pPr>
          </a:lstStyle>
          <a:p>
            <a:pPr/>
            <a:r>
              <a:t>Procedures, team scenarios, physical skills</a:t>
            </a:r>
          </a:p>
        </p:txBody>
      </p:sp>
      <p:sp>
        <p:nvSpPr>
          <p:cNvPr id="248" name="Text 33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3 · DEMO</a:t>
            </a:r>
          </a:p>
        </p:txBody>
      </p:sp>
      <p:sp>
        <p:nvSpPr>
          <p:cNvPr id="251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Demo: Interactive Clinical Reasoning Case</a:t>
            </a:r>
          </a:p>
        </p:txBody>
      </p:sp>
      <p:sp>
        <p:nvSpPr>
          <p:cNvPr id="252" name="Text 2"/>
          <p:cNvSpPr txBox="1"/>
          <p:nvPr/>
        </p:nvSpPr>
        <p:spPr>
          <a:xfrm>
            <a:off x="502919" y="1548129"/>
            <a:ext cx="10972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Try this on your phone now — no VR needed</a:t>
            </a:r>
          </a:p>
        </p:txBody>
      </p:sp>
      <p:sp>
        <p:nvSpPr>
          <p:cNvPr id="253" name="Shape 3"/>
          <p:cNvSpPr/>
          <p:nvPr/>
        </p:nvSpPr>
        <p:spPr>
          <a:xfrm>
            <a:off x="502919" y="2103120"/>
            <a:ext cx="6766561" cy="38404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4" name="Text 4"/>
          <p:cNvSpPr txBox="1"/>
          <p:nvPr/>
        </p:nvSpPr>
        <p:spPr>
          <a:xfrm>
            <a:off x="822960" y="2390447"/>
            <a:ext cx="61264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0F5257"/>
                </a:solidFill>
              </a:defRPr>
            </a:lvl1pPr>
          </a:lstStyle>
          <a:p>
            <a:pPr/>
            <a:r>
              <a:t>WHAT YOU'LL DO</a:t>
            </a:r>
          </a:p>
        </p:txBody>
      </p:sp>
      <p:sp>
        <p:nvSpPr>
          <p:cNvPr id="255" name="Text 5"/>
          <p:cNvSpPr txBox="1"/>
          <p:nvPr/>
        </p:nvSpPr>
        <p:spPr>
          <a:xfrm>
            <a:off x="868680" y="2651759"/>
            <a:ext cx="6126480" cy="17740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spcBef>
                <a:spcPts val="7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19-year-old male with sharp chest pain</a:t>
            </a:r>
          </a:p>
          <a:p>
            <a:pPr marL="342900" indent="-342900">
              <a:spcBef>
                <a:spcPts val="7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Interview the patient (text-based)</a:t>
            </a:r>
          </a:p>
          <a:p>
            <a:pPr marL="342900" indent="-342900">
              <a:spcBef>
                <a:spcPts val="7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Order labs, interpret an ECG</a:t>
            </a:r>
          </a:p>
          <a:p>
            <a:pPr marL="342900" indent="-342900">
              <a:spcBef>
                <a:spcPts val="7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Build your differential with reasoning</a:t>
            </a:r>
          </a:p>
          <a:p>
            <a:pPr marL="342900" indent="-342900">
              <a:spcBef>
                <a:spcPts val="7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Write your assessment and plan</a:t>
            </a:r>
          </a:p>
          <a:p>
            <a:pPr marL="342900" indent="-342900">
              <a:spcBef>
                <a:spcPts val="700"/>
              </a:spcBef>
              <a:buSzPct val="100000"/>
              <a:buChar char="•"/>
              <a:defRPr sz="1500">
                <a:solidFill>
                  <a:srgbClr val="1C2A2C"/>
                </a:solidFill>
              </a:defRPr>
            </a:pPr>
            <a:r>
              <a:t>Receive feedback on your reasoning process</a:t>
            </a:r>
          </a:p>
        </p:txBody>
      </p:sp>
      <p:sp>
        <p:nvSpPr>
          <p:cNvPr id="256" name="Shape 6"/>
          <p:cNvSpPr/>
          <p:nvPr/>
        </p:nvSpPr>
        <p:spPr>
          <a:xfrm>
            <a:off x="7680959" y="2103120"/>
            <a:ext cx="4023361" cy="3840480"/>
          </a:xfrm>
          <a:prstGeom prst="roundRect">
            <a:avLst>
              <a:gd name="adj" fmla="val 2143"/>
            </a:avLst>
          </a:prstGeom>
          <a:solidFill>
            <a:srgbClr val="0A3538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7" name="Text 7"/>
          <p:cNvSpPr txBox="1"/>
          <p:nvPr/>
        </p:nvSpPr>
        <p:spPr>
          <a:xfrm>
            <a:off x="8001000" y="2390447"/>
            <a:ext cx="338328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E2BE6B"/>
                </a:solidFill>
              </a:defRPr>
            </a:lvl1pPr>
          </a:lstStyle>
          <a:p>
            <a:pPr/>
            <a:r>
              <a:t>TRY IT NOW</a:t>
            </a:r>
          </a:p>
        </p:txBody>
      </p:sp>
      <p:sp>
        <p:nvSpPr>
          <p:cNvPr id="258" name="Shape 8"/>
          <p:cNvSpPr/>
          <p:nvPr/>
        </p:nvSpPr>
        <p:spPr>
          <a:xfrm>
            <a:off x="8001000" y="2697479"/>
            <a:ext cx="3383280" cy="457201"/>
          </a:xfrm>
          <a:prstGeom prst="roundRect">
            <a:avLst>
              <a:gd name="adj" fmla="val 50000"/>
            </a:avLst>
          </a:prstGeom>
          <a:solidFill>
            <a:srgbClr val="0F52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9" name="Text 9">
            <a:hlinkClick r:id="rId2" invalidUrl="" action="" tgtFrame="" tooltip="" history="1" highlightClick="0" endSnd="0"/>
          </p:cNvPr>
          <p:cNvSpPr txBox="1"/>
          <p:nvPr/>
        </p:nvSpPr>
        <p:spPr>
          <a:xfrm>
            <a:off x="8001000" y="2814657"/>
            <a:ext cx="3383280" cy="222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 u="sng">
                <a:solidFill>
                  <a:srgbClr val="DDDDDD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▶  Clinical Reasoning Case</a:t>
            </a:r>
          </a:p>
        </p:txBody>
      </p:sp>
      <p:sp>
        <p:nvSpPr>
          <p:cNvPr id="260" name="Shape 10"/>
          <p:cNvSpPr/>
          <p:nvPr/>
        </p:nvSpPr>
        <p:spPr>
          <a:xfrm>
            <a:off x="8001000" y="3383279"/>
            <a:ext cx="3383280" cy="2240281"/>
          </a:xfrm>
          <a:prstGeom prst="roundRect">
            <a:avLst>
              <a:gd name="adj" fmla="val 3673"/>
            </a:avLst>
          </a:prstGeom>
          <a:solidFill>
            <a:srgbClr val="13474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1" name="Text 11"/>
          <p:cNvSpPr txBox="1"/>
          <p:nvPr/>
        </p:nvSpPr>
        <p:spPr>
          <a:xfrm>
            <a:off x="8183880" y="3624887"/>
            <a:ext cx="301752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E2BE6B"/>
                </a:solidFill>
              </a:defRPr>
            </a:lvl1pPr>
          </a:lstStyle>
          <a:p>
            <a:pPr/>
            <a:r>
              <a:t>KEY MESSAGE</a:t>
            </a:r>
          </a:p>
        </p:txBody>
      </p:sp>
      <p:sp>
        <p:nvSpPr>
          <p:cNvPr id="262" name="Text 12"/>
          <p:cNvSpPr txBox="1"/>
          <p:nvPr/>
        </p:nvSpPr>
        <p:spPr>
          <a:xfrm>
            <a:off x="8183880" y="4411893"/>
            <a:ext cx="3017521" cy="4116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5000"/>
              </a:lnSpc>
              <a:defRPr sz="1300">
                <a:solidFill>
                  <a:srgbClr val="FFFFFF"/>
                </a:solidFill>
              </a:defRPr>
            </a:lvl1pPr>
          </a:lstStyle>
          <a:p>
            <a:pPr/>
            <a:r>
              <a:t>No multiple choice. The reasoning IS the assessment.</a:t>
            </a:r>
          </a:p>
        </p:txBody>
      </p:sp>
      <p:sp>
        <p:nvSpPr>
          <p:cNvPr id="263" name="Text 13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3 · REFERENCE</a:t>
            </a:r>
          </a:p>
        </p:txBody>
      </p:sp>
      <p:sp>
        <p:nvSpPr>
          <p:cNvPr id="266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Simulation Tools by Fidelity Level</a:t>
            </a:r>
          </a:p>
        </p:txBody>
      </p:sp>
      <p:sp>
        <p:nvSpPr>
          <p:cNvPr id="267" name="Text 2"/>
          <p:cNvSpPr txBox="1"/>
          <p:nvPr/>
        </p:nvSpPr>
        <p:spPr>
          <a:xfrm>
            <a:off x="502919" y="1548129"/>
            <a:ext cx="10972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Full list with pricing in the Workshop Guide → Sections 5 &amp; 6</a:t>
            </a:r>
          </a:p>
        </p:txBody>
      </p:sp>
      <p:graphicFrame>
        <p:nvGraphicFramePr>
          <p:cNvPr id="268" name="Table 0"/>
          <p:cNvGraphicFramePr/>
          <p:nvPr/>
        </p:nvGraphicFramePr>
        <p:xfrm>
          <a:off x="502919" y="1965960"/>
          <a:ext cx="11201401" cy="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103120"/>
                <a:gridCol w="2743200"/>
                <a:gridCol w="2194560"/>
                <a:gridCol w="4160520"/>
              </a:tblGrid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FIDELITY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Text/Audio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ChatGPT (patient sim)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Free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History-taking, communication practice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Text/Audio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Flip (video reflection)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Free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Case presentations, peer feedback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Text/Audio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Sketchy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Subscription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Visual mnemonic learning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Text/Audio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Xuron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Subscription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AI virtual patient encounters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Text/Audio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SimConverse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Subscription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AI communication skills sim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Text/Audio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Geeky Medics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Free / Premium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OSCE cases and exam prep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Text/Audio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Lecturio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Subscription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Video library + clinical cases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Text/Audio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Sapient Clinician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Subscription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Clinical reasoning assessment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Image/Screen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H5P (branching)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Free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Branching clinical decision trees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Image/Screen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Body Interact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Free trial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Virtual patient simulator (targets PA)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3D Anatomy/AR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BioDigital Human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Free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Browser-based 3D anatomy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3D Anatomy/AR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Visible Body Atlas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$25 one-time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3D anatomy + AR on phone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VR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OMS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Institutional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Explicitly targets PA/APP programs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A3538"/>
                          </a:solidFill>
                        </a:rPr>
                        <a:t>VR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SimX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Institutional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C2A2C"/>
                          </a:solidFill>
                        </a:rPr>
                        <a:t>150+ VR patient scenarios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</a:tbl>
          </a:graphicData>
        </a:graphic>
      </p:graphicFrame>
      <p:sp>
        <p:nvSpPr>
          <p:cNvPr id="269" name="Text 3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3 · REFERENCE</a:t>
            </a:r>
          </a:p>
        </p:txBody>
      </p:sp>
      <p:sp>
        <p:nvSpPr>
          <p:cNvPr id="272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VR Hardware — When It's Worth the Investment</a:t>
            </a:r>
          </a:p>
        </p:txBody>
      </p:sp>
      <p:sp>
        <p:nvSpPr>
          <p:cNvPr id="273" name="Text 3"/>
          <p:cNvSpPr txBox="1"/>
          <p:nvPr/>
        </p:nvSpPr>
        <p:spPr>
          <a:xfrm>
            <a:off x="10881359" y="665733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6</a:t>
            </a:r>
          </a:p>
        </p:txBody>
      </p:sp>
      <p:graphicFrame>
        <p:nvGraphicFramePr>
          <p:cNvPr id="274" name="Table 0"/>
          <p:cNvGraphicFramePr/>
          <p:nvPr/>
        </p:nvGraphicFramePr>
        <p:xfrm>
          <a:off x="502919" y="1691639"/>
          <a:ext cx="11201401" cy="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657600"/>
                <a:gridCol w="2514600"/>
                <a:gridCol w="5029200"/>
              </a:tblGrid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HARDWARE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WHAT IT ENABLES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0F5257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0A3538"/>
                          </a:solidFill>
                        </a:rPr>
                        <a:t>Google Cardboard / phone VR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$5–$25/viewer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Basic VR demos, 360° anatomy. No controllers.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0A3538"/>
                          </a:solidFill>
                        </a:rPr>
                        <a:t>Meta Quest 2 (refurbished)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~$100–$150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Lowest-cost standalone VR. Runs most medical apps.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0A3538"/>
                          </a:solidFill>
                        </a:rPr>
                        <a:t>Meta Quest 3S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$349.99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Best value for new purchase. Color passthrough AR.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0A3538"/>
                          </a:solidFill>
                        </a:rPr>
                        <a:t>Meta Quest 3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$599.99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C2A2C"/>
                          </a:solidFill>
                        </a:rPr>
                        <a:t>Premium. Not necessary for most programs.</a:t>
                      </a:r>
                    </a:p>
                  </a:txBody>
                  <a:tcPr marL="50800" marR="50800" marT="50800" marB="50800" anchor="ctr" anchorCtr="0" horzOverflow="overflow">
                    <a:lnL>
                      <a:solidFill>
                        <a:srgbClr val="D3DDDC"/>
                      </a:solidFill>
                    </a:lnL>
                    <a:lnR>
                      <a:solidFill>
                        <a:srgbClr val="D3DDDC"/>
                      </a:solidFill>
                    </a:lnR>
                    <a:lnT>
                      <a:solidFill>
                        <a:srgbClr val="D3DDDC"/>
                      </a:solidFill>
                    </a:lnT>
                    <a:lnB>
                      <a:solidFill>
                        <a:srgbClr val="D3DDDC"/>
                      </a:solidFill>
                    </a:lnB>
                    <a:solidFill>
                      <a:srgbClr val="EDF3F3"/>
                    </a:solidFill>
                  </a:tcPr>
                </a:tc>
              </a:tr>
            </a:tbl>
          </a:graphicData>
        </a:graphic>
      </p:graphicFrame>
      <p:sp>
        <p:nvSpPr>
          <p:cNvPr id="275" name="Shape 4"/>
          <p:cNvSpPr/>
          <p:nvPr/>
        </p:nvSpPr>
        <p:spPr>
          <a:xfrm>
            <a:off x="502919" y="4572000"/>
            <a:ext cx="5486401" cy="1645921"/>
          </a:xfrm>
          <a:prstGeom prst="roundRect">
            <a:avLst>
              <a:gd name="adj" fmla="val 5000"/>
            </a:avLst>
          </a:prstGeom>
          <a:solidFill>
            <a:srgbClr val="EDF4E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6" name="Text 5"/>
          <p:cNvSpPr txBox="1"/>
          <p:nvPr/>
        </p:nvSpPr>
        <p:spPr>
          <a:xfrm>
            <a:off x="822959" y="4813607"/>
            <a:ext cx="484632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2F6B4F"/>
                </a:solidFill>
              </a:defRPr>
            </a:lvl1pPr>
          </a:lstStyle>
          <a:p>
            <a:pPr/>
            <a:r>
              <a:t>USE VR WHEN</a:t>
            </a:r>
          </a:p>
        </p:txBody>
      </p:sp>
      <p:sp>
        <p:nvSpPr>
          <p:cNvPr id="277" name="Text 6"/>
          <p:cNvSpPr txBox="1"/>
          <p:nvPr/>
        </p:nvSpPr>
        <p:spPr>
          <a:xfrm>
            <a:off x="822959" y="5483160"/>
            <a:ext cx="484632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5000"/>
              </a:lnSpc>
              <a:defRPr sz="1400">
                <a:solidFill>
                  <a:srgbClr val="1C2A2C"/>
                </a:solidFill>
              </a:defRPr>
            </a:lvl1pPr>
          </a:lstStyle>
          <a:p>
            <a:pPr/>
            <a:r>
              <a:t>Procedural skills, team scenarios, high-acuity rehearsal, regular use</a:t>
            </a:r>
          </a:p>
        </p:txBody>
      </p:sp>
      <p:sp>
        <p:nvSpPr>
          <p:cNvPr id="278" name="Shape 7"/>
          <p:cNvSpPr/>
          <p:nvPr/>
        </p:nvSpPr>
        <p:spPr>
          <a:xfrm>
            <a:off x="6217920" y="4572000"/>
            <a:ext cx="5486401" cy="1645921"/>
          </a:xfrm>
          <a:prstGeom prst="roundRect">
            <a:avLst>
              <a:gd name="adj" fmla="val 5000"/>
            </a:avLst>
          </a:prstGeom>
          <a:solidFill>
            <a:srgbClr val="F8F2E5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9" name="Text 8"/>
          <p:cNvSpPr txBox="1"/>
          <p:nvPr/>
        </p:nvSpPr>
        <p:spPr>
          <a:xfrm>
            <a:off x="6537959" y="4813607"/>
            <a:ext cx="484632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9E7625"/>
                </a:solidFill>
              </a:defRPr>
            </a:lvl1pPr>
          </a:lstStyle>
          <a:p>
            <a:pPr/>
            <a:r>
              <a:t>DON'T USE VR WHEN</a:t>
            </a:r>
          </a:p>
        </p:txBody>
      </p:sp>
      <p:sp>
        <p:nvSpPr>
          <p:cNvPr id="280" name="Text 9"/>
          <p:cNvSpPr txBox="1"/>
          <p:nvPr/>
        </p:nvSpPr>
        <p:spPr>
          <a:xfrm>
            <a:off x="6537959" y="5483160"/>
            <a:ext cx="484632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5000"/>
              </a:lnSpc>
              <a:defRPr sz="1400">
                <a:solidFill>
                  <a:srgbClr val="1C2A2C"/>
                </a:solidFill>
              </a:defRPr>
            </a:lvl1pPr>
          </a:lstStyle>
          <a:p>
            <a:pPr/>
            <a:r>
              <a:t>The learning goal is clinical reasoning — text/screen does the job</a:t>
            </a:r>
          </a:p>
        </p:txBody>
      </p:sp>
      <p:sp>
        <p:nvSpPr>
          <p:cNvPr id="281" name="Text 10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OBJECTIVE 3 · RECOMMENDATION</a:t>
            </a:r>
          </a:p>
        </p:txBody>
      </p:sp>
      <p:sp>
        <p:nvSpPr>
          <p:cNvPr id="284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Recommended Starter Stack for Low-Resource Programs</a:t>
            </a:r>
          </a:p>
        </p:txBody>
      </p:sp>
      <p:sp>
        <p:nvSpPr>
          <p:cNvPr id="285" name="Shape 2"/>
          <p:cNvSpPr/>
          <p:nvPr/>
        </p:nvSpPr>
        <p:spPr>
          <a:xfrm>
            <a:off x="502919" y="2011679"/>
            <a:ext cx="2660906" cy="3566161"/>
          </a:xfrm>
          <a:prstGeom prst="roundRect">
            <a:avLst>
              <a:gd name="adj" fmla="val 3093"/>
            </a:avLst>
          </a:prstGeom>
          <a:solidFill>
            <a:srgbClr val="0A3538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6" name="Text 3"/>
          <p:cNvSpPr txBox="1"/>
          <p:nvPr/>
        </p:nvSpPr>
        <p:spPr>
          <a:xfrm>
            <a:off x="731519" y="2527607"/>
            <a:ext cx="2203706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200">
                <a:solidFill>
                  <a:srgbClr val="E2BE6B"/>
                </a:solidFill>
              </a:defRPr>
            </a:lvl1pPr>
          </a:lstStyle>
          <a:p>
            <a:pPr/>
            <a:r>
              <a:t>FREE ENTRY</a:t>
            </a:r>
          </a:p>
        </p:txBody>
      </p:sp>
      <p:sp>
        <p:nvSpPr>
          <p:cNvPr id="287" name="Text 4"/>
          <p:cNvSpPr txBox="1"/>
          <p:nvPr/>
        </p:nvSpPr>
        <p:spPr>
          <a:xfrm>
            <a:off x="731519" y="3060700"/>
            <a:ext cx="2203706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$0</a:t>
            </a:r>
          </a:p>
        </p:txBody>
      </p:sp>
      <p:sp>
        <p:nvSpPr>
          <p:cNvPr id="288" name="Text 5"/>
          <p:cNvSpPr txBox="1"/>
          <p:nvPr/>
        </p:nvSpPr>
        <p:spPr>
          <a:xfrm>
            <a:off x="731519" y="3840479"/>
            <a:ext cx="2203706" cy="4199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DCEDEB"/>
                </a:solidFill>
              </a:defRPr>
            </a:lvl1pPr>
          </a:lstStyle>
          <a:p>
            <a:pPr/>
            <a:r>
              <a:t>ChatGPT + BioDigital Human + Flip + NotebookLM + H5P</a:t>
            </a:r>
          </a:p>
        </p:txBody>
      </p:sp>
      <p:sp>
        <p:nvSpPr>
          <p:cNvPr id="289" name="Shape 6"/>
          <p:cNvSpPr/>
          <p:nvPr/>
        </p:nvSpPr>
        <p:spPr>
          <a:xfrm>
            <a:off x="3392423" y="2011679"/>
            <a:ext cx="2660905" cy="3566161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0" name="Text 7"/>
          <p:cNvSpPr txBox="1"/>
          <p:nvPr/>
        </p:nvSpPr>
        <p:spPr>
          <a:xfrm>
            <a:off x="3621023" y="2527607"/>
            <a:ext cx="2203705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200">
                <a:solidFill>
                  <a:srgbClr val="9E7625"/>
                </a:solidFill>
              </a:defRPr>
            </a:lvl1pPr>
          </a:lstStyle>
          <a:p>
            <a:pPr/>
            <a:r>
              <a:t>MINIMAL</a:t>
            </a:r>
          </a:p>
        </p:txBody>
      </p:sp>
      <p:sp>
        <p:nvSpPr>
          <p:cNvPr id="291" name="Text 8"/>
          <p:cNvSpPr txBox="1"/>
          <p:nvPr/>
        </p:nvSpPr>
        <p:spPr>
          <a:xfrm>
            <a:off x="3621023" y="3060700"/>
            <a:ext cx="2203705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$25</a:t>
            </a:r>
          </a:p>
        </p:txBody>
      </p:sp>
      <p:sp>
        <p:nvSpPr>
          <p:cNvPr id="292" name="Text 9"/>
          <p:cNvSpPr txBox="1"/>
          <p:nvPr/>
        </p:nvSpPr>
        <p:spPr>
          <a:xfrm>
            <a:off x="3621023" y="3840479"/>
            <a:ext cx="2203705" cy="4199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5F7173"/>
                </a:solidFill>
              </a:defRPr>
            </a:lvl1pPr>
          </a:lstStyle>
          <a:p>
            <a:pPr/>
            <a:r>
              <a:t>Above + Visible Body Atlas (includes AR)</a:t>
            </a:r>
          </a:p>
        </p:txBody>
      </p:sp>
      <p:sp>
        <p:nvSpPr>
          <p:cNvPr id="293" name="Shape 10"/>
          <p:cNvSpPr/>
          <p:nvPr/>
        </p:nvSpPr>
        <p:spPr>
          <a:xfrm>
            <a:off x="6281928" y="2011679"/>
            <a:ext cx="2660905" cy="3566161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4" name="Text 11"/>
          <p:cNvSpPr txBox="1"/>
          <p:nvPr/>
        </p:nvSpPr>
        <p:spPr>
          <a:xfrm>
            <a:off x="6510528" y="2527607"/>
            <a:ext cx="2203705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200">
                <a:solidFill>
                  <a:srgbClr val="9E7625"/>
                </a:solidFill>
              </a:defRPr>
            </a:lvl1pPr>
          </a:lstStyle>
          <a:p>
            <a:pPr/>
            <a:r>
              <a:t>ONE HEADSET</a:t>
            </a:r>
          </a:p>
        </p:txBody>
      </p:sp>
      <p:sp>
        <p:nvSpPr>
          <p:cNvPr id="295" name="Text 12"/>
          <p:cNvSpPr txBox="1"/>
          <p:nvPr/>
        </p:nvSpPr>
        <p:spPr>
          <a:xfrm>
            <a:off x="6510528" y="3060700"/>
            <a:ext cx="2203705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~$125-175</a:t>
            </a:r>
          </a:p>
        </p:txBody>
      </p:sp>
      <p:sp>
        <p:nvSpPr>
          <p:cNvPr id="296" name="Text 13"/>
          <p:cNvSpPr txBox="1"/>
          <p:nvPr/>
        </p:nvSpPr>
        <p:spPr>
          <a:xfrm>
            <a:off x="6510528" y="3840479"/>
            <a:ext cx="2203705" cy="4199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5F7173"/>
                </a:solidFill>
              </a:defRPr>
            </a:lvl1pPr>
          </a:lstStyle>
          <a:p>
            <a:pPr/>
            <a:r>
              <a:t>Above + 1 refurbished Meta Quest 2</a:t>
            </a:r>
          </a:p>
        </p:txBody>
      </p:sp>
      <p:sp>
        <p:nvSpPr>
          <p:cNvPr id="297" name="Shape 14"/>
          <p:cNvSpPr/>
          <p:nvPr/>
        </p:nvSpPr>
        <p:spPr>
          <a:xfrm>
            <a:off x="9171431" y="2011679"/>
            <a:ext cx="2660905" cy="3566161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8" name="Text 15"/>
          <p:cNvSpPr txBox="1"/>
          <p:nvPr/>
        </p:nvSpPr>
        <p:spPr>
          <a:xfrm>
            <a:off x="9400031" y="2527607"/>
            <a:ext cx="2203705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200">
                <a:solidFill>
                  <a:srgbClr val="9E7625"/>
                </a:solidFill>
              </a:defRPr>
            </a:lvl1pPr>
          </a:lstStyle>
          <a:p>
            <a:pPr/>
            <a:r>
              <a:t>SMALL PROGRAM</a:t>
            </a:r>
          </a:p>
        </p:txBody>
      </p:sp>
      <p:sp>
        <p:nvSpPr>
          <p:cNvPr id="299" name="Text 16"/>
          <p:cNvSpPr txBox="1"/>
          <p:nvPr/>
        </p:nvSpPr>
        <p:spPr>
          <a:xfrm>
            <a:off x="9400031" y="2806700"/>
            <a:ext cx="2203705" cy="101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~$700-1,100</a:t>
            </a:r>
          </a:p>
        </p:txBody>
      </p:sp>
      <p:sp>
        <p:nvSpPr>
          <p:cNvPr id="300" name="Text 17"/>
          <p:cNvSpPr txBox="1"/>
          <p:nvPr/>
        </p:nvSpPr>
        <p:spPr>
          <a:xfrm>
            <a:off x="9400031" y="3840479"/>
            <a:ext cx="2203705" cy="4199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5F7173"/>
                </a:solidFill>
              </a:defRPr>
            </a:lvl1pPr>
          </a:lstStyle>
          <a:p>
            <a:pPr/>
            <a:r>
              <a:t>Above + 2-3 Meta Quest 3S (~$350 each)</a:t>
            </a:r>
          </a:p>
        </p:txBody>
      </p:sp>
      <p:sp>
        <p:nvSpPr>
          <p:cNvPr id="301" name="Text 18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4" name="Shape 1"/>
          <p:cNvSpPr/>
          <p:nvPr/>
        </p:nvSpPr>
        <p:spPr>
          <a:xfrm rot="720000">
            <a:off x="6703924" y="-914401"/>
            <a:ext cx="12188953" cy="8686801"/>
          </a:xfrm>
          <a:prstGeom prst="rect">
            <a:avLst/>
          </a:prstGeom>
          <a:solidFill>
            <a:srgbClr val="0F5257">
              <a:alpha val="4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5" name="Shape 4"/>
          <p:cNvSpPr/>
          <p:nvPr/>
        </p:nvSpPr>
        <p:spPr>
          <a:xfrm>
            <a:off x="4494276" y="960119"/>
            <a:ext cx="3200401" cy="658369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6" name="Text 5"/>
          <p:cNvSpPr txBox="1"/>
          <p:nvPr/>
        </p:nvSpPr>
        <p:spPr>
          <a:xfrm>
            <a:off x="4494276" y="1184727"/>
            <a:ext cx="320040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0A3538"/>
                </a:solidFill>
              </a:defRPr>
            </a:lvl1pPr>
          </a:lstStyle>
          <a:p>
            <a:pPr/>
            <a:r>
              <a:t>Think · Pair · Share — 3 min</a:t>
            </a:r>
          </a:p>
        </p:txBody>
      </p:sp>
      <p:sp>
        <p:nvSpPr>
          <p:cNvPr id="307" name="Text 6"/>
          <p:cNvSpPr txBox="1"/>
          <p:nvPr/>
        </p:nvSpPr>
        <p:spPr>
          <a:xfrm>
            <a:off x="640079" y="2103119"/>
            <a:ext cx="10908794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Match the tool to the goal</a:t>
            </a:r>
          </a:p>
        </p:txBody>
      </p:sp>
      <p:sp>
        <p:nvSpPr>
          <p:cNvPr id="308" name="Text 8"/>
          <p:cNvSpPr txBox="1"/>
          <p:nvPr/>
        </p:nvSpPr>
        <p:spPr>
          <a:xfrm>
            <a:off x="1920239" y="2997453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09" name="Text 9"/>
          <p:cNvSpPr txBox="1"/>
          <p:nvPr/>
        </p:nvSpPr>
        <p:spPr>
          <a:xfrm>
            <a:off x="2697480" y="3022294"/>
            <a:ext cx="8503920" cy="219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FFFFFF"/>
                </a:solidFill>
              </a:defRPr>
            </a:lvl1pPr>
          </a:lstStyle>
          <a:p>
            <a:pPr/>
            <a:r>
              <a:t>Think of a clinical skill your fellows need to learn</a:t>
            </a:r>
          </a:p>
        </p:txBody>
      </p:sp>
      <p:sp>
        <p:nvSpPr>
          <p:cNvPr id="310" name="Text 11"/>
          <p:cNvSpPr txBox="1"/>
          <p:nvPr/>
        </p:nvSpPr>
        <p:spPr>
          <a:xfrm>
            <a:off x="1920239" y="3774693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11" name="Text 12"/>
          <p:cNvSpPr txBox="1"/>
          <p:nvPr/>
        </p:nvSpPr>
        <p:spPr>
          <a:xfrm>
            <a:off x="2697480" y="3799534"/>
            <a:ext cx="8503920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FFFFFF"/>
                </a:solidFill>
              </a:defRPr>
            </a:lvl1pPr>
          </a:lstStyle>
          <a:p>
            <a:pPr/>
            <a:r>
              <a:t>Which fidelity level would you choose? Text? Images? Screen? AR? VR?</a:t>
            </a:r>
          </a:p>
        </p:txBody>
      </p:sp>
      <p:sp>
        <p:nvSpPr>
          <p:cNvPr id="312" name="Text 14"/>
          <p:cNvSpPr txBox="1"/>
          <p:nvPr/>
        </p:nvSpPr>
        <p:spPr>
          <a:xfrm>
            <a:off x="1920239" y="4551934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13" name="Text 15"/>
          <p:cNvSpPr txBox="1"/>
          <p:nvPr/>
        </p:nvSpPr>
        <p:spPr>
          <a:xfrm>
            <a:off x="2697480" y="4576774"/>
            <a:ext cx="8503920" cy="219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FFFFFF"/>
                </a:solidFill>
              </a:defRPr>
            </a:lvl1pPr>
          </a:lstStyle>
          <a:p>
            <a:pPr/>
            <a:r>
              <a:t>Would the free option work? Or does this skill genuinely require VR?</a:t>
            </a:r>
          </a:p>
        </p:txBody>
      </p:sp>
      <p:sp>
        <p:nvSpPr>
          <p:cNvPr id="314" name="Text 17"/>
          <p:cNvSpPr txBox="1"/>
          <p:nvPr/>
        </p:nvSpPr>
        <p:spPr>
          <a:xfrm>
            <a:off x="1920239" y="5329173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15" name="Text 18"/>
          <p:cNvSpPr txBox="1"/>
          <p:nvPr/>
        </p:nvSpPr>
        <p:spPr>
          <a:xfrm>
            <a:off x="2697480" y="5354015"/>
            <a:ext cx="8503920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FFFFFF"/>
                </a:solidFill>
              </a:defRPr>
            </a:lvl1pPr>
          </a:lstStyle>
          <a:p>
            <a:pPr/>
            <a:r>
              <a:t>Share your reasoning with your table group</a:t>
            </a:r>
          </a:p>
        </p:txBody>
      </p:sp>
      <p:sp>
        <p:nvSpPr>
          <p:cNvPr id="316" name="Text 19"/>
          <p:cNvSpPr txBox="1"/>
          <p:nvPr/>
        </p:nvSpPr>
        <p:spPr>
          <a:xfrm>
            <a:off x="640079" y="6363139"/>
            <a:ext cx="10908794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 u="sng">
                <a:solidFill>
                  <a:schemeClr val="accent4">
                    <a:lumOff val="12500"/>
                  </a:schemeClr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Shape 0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9" name="Shape 1"/>
          <p:cNvSpPr/>
          <p:nvPr/>
        </p:nvSpPr>
        <p:spPr>
          <a:xfrm rot="720000">
            <a:off x="6703924" y="-914401"/>
            <a:ext cx="12188953" cy="8686801"/>
          </a:xfrm>
          <a:prstGeom prst="rect">
            <a:avLst/>
          </a:prstGeom>
          <a:solidFill>
            <a:srgbClr val="0F5257">
              <a:alpha val="4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0" name="Text 5"/>
          <p:cNvSpPr txBox="1"/>
          <p:nvPr/>
        </p:nvSpPr>
        <p:spPr>
          <a:xfrm>
            <a:off x="914400" y="1663700"/>
            <a:ext cx="914400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321" name="Text 6"/>
          <p:cNvSpPr txBox="1"/>
          <p:nvPr/>
        </p:nvSpPr>
        <p:spPr>
          <a:xfrm>
            <a:off x="2194560" y="1595119"/>
            <a:ext cx="905256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Capstone Design Sprint</a:t>
            </a:r>
          </a:p>
        </p:txBody>
      </p:sp>
      <p:sp>
        <p:nvSpPr>
          <p:cNvPr id="322" name="Text 7"/>
          <p:cNvSpPr txBox="1"/>
          <p:nvPr/>
        </p:nvSpPr>
        <p:spPr>
          <a:xfrm>
            <a:off x="2194559" y="2962909"/>
            <a:ext cx="877824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Turn one of your ideas into a plan you can take back to your program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Text 0"/>
          <p:cNvSpPr txBox="1"/>
          <p:nvPr/>
        </p:nvSpPr>
        <p:spPr>
          <a:xfrm>
            <a:off x="502919" y="43363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CAPSTONE · 20 MIN</a:t>
            </a:r>
          </a:p>
        </p:txBody>
      </p:sp>
      <p:sp>
        <p:nvSpPr>
          <p:cNvPr id="325" name="Text 1"/>
          <p:cNvSpPr txBox="1"/>
          <p:nvPr/>
        </p:nvSpPr>
        <p:spPr>
          <a:xfrm>
            <a:off x="502919" y="797560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Capstone Design Sprint — 20 min</a:t>
            </a:r>
          </a:p>
        </p:txBody>
      </p:sp>
      <p:sp>
        <p:nvSpPr>
          <p:cNvPr id="326" name="Text 2"/>
          <p:cNvSpPr txBox="1"/>
          <p:nvPr/>
        </p:nvSpPr>
        <p:spPr>
          <a:xfrm>
            <a:off x="502919" y="1548129"/>
            <a:ext cx="10972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Extend your earlier discussions into a complete plan</a:t>
            </a:r>
          </a:p>
        </p:txBody>
      </p:sp>
      <p:sp>
        <p:nvSpPr>
          <p:cNvPr id="327" name="Shape 3"/>
          <p:cNvSpPr/>
          <p:nvPr/>
        </p:nvSpPr>
        <p:spPr>
          <a:xfrm>
            <a:off x="502919" y="2011679"/>
            <a:ext cx="11201401" cy="1371601"/>
          </a:xfrm>
          <a:prstGeom prst="roundRect">
            <a:avLst>
              <a:gd name="adj" fmla="val 6000"/>
            </a:avLst>
          </a:prstGeom>
          <a:solidFill>
            <a:srgbClr val="F8F2E5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8" name="Text 4"/>
          <p:cNvSpPr txBox="1"/>
          <p:nvPr/>
        </p:nvSpPr>
        <p:spPr>
          <a:xfrm>
            <a:off x="822960" y="2271575"/>
            <a:ext cx="105156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80" sz="1200">
                <a:solidFill>
                  <a:srgbClr val="9E7625"/>
                </a:solidFill>
              </a:defRPr>
            </a:lvl1pPr>
          </a:lstStyle>
          <a:p>
            <a:pPr/>
            <a:r>
              <a:t>WHAT THIS IS</a:t>
            </a:r>
          </a:p>
        </p:txBody>
      </p:sp>
      <p:sp>
        <p:nvSpPr>
          <p:cNvPr id="329" name="Text 5"/>
          <p:cNvSpPr txBox="1"/>
          <p:nvPr/>
        </p:nvSpPr>
        <p:spPr>
          <a:xfrm>
            <a:off x="822960" y="2699754"/>
            <a:ext cx="10515601" cy="461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5000"/>
              </a:lnSpc>
              <a:defRPr sz="1500">
                <a:solidFill>
                  <a:srgbClr val="1C2A2C"/>
                </a:solidFill>
              </a:defRPr>
            </a:lvl1pPr>
          </a:lstStyle>
          <a:p>
            <a:pPr/>
            <a:r>
              <a:t>You've been discussing tools and ideas after each section — now extend that into a full implementation plan. Pick the idea that feels most feasible.</a:t>
            </a:r>
          </a:p>
        </p:txBody>
      </p:sp>
      <p:sp>
        <p:nvSpPr>
          <p:cNvPr id="330" name="Shape 6"/>
          <p:cNvSpPr/>
          <p:nvPr/>
        </p:nvSpPr>
        <p:spPr>
          <a:xfrm>
            <a:off x="502919" y="3703320"/>
            <a:ext cx="2093978" cy="1965961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1" name="Text 8"/>
          <p:cNvSpPr txBox="1"/>
          <p:nvPr/>
        </p:nvSpPr>
        <p:spPr>
          <a:xfrm>
            <a:off x="1248155" y="4113022"/>
            <a:ext cx="6035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32" name="Text 9"/>
          <p:cNvSpPr txBox="1"/>
          <p:nvPr/>
        </p:nvSpPr>
        <p:spPr>
          <a:xfrm>
            <a:off x="594360" y="4904740"/>
            <a:ext cx="1911096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5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Identify</a:t>
            </a:r>
          </a:p>
          <a:p>
            <a:pPr algn="ctr">
              <a:defRPr sz="15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a Need</a:t>
            </a:r>
          </a:p>
        </p:txBody>
      </p:sp>
      <p:sp>
        <p:nvSpPr>
          <p:cNvPr id="333" name="Shape 10"/>
          <p:cNvSpPr/>
          <p:nvPr/>
        </p:nvSpPr>
        <p:spPr>
          <a:xfrm>
            <a:off x="2779776" y="3703320"/>
            <a:ext cx="2093977" cy="1965961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4" name="Text 12"/>
          <p:cNvSpPr txBox="1"/>
          <p:nvPr/>
        </p:nvSpPr>
        <p:spPr>
          <a:xfrm>
            <a:off x="3525011" y="4113022"/>
            <a:ext cx="6035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35" name="Text 13"/>
          <p:cNvSpPr txBox="1"/>
          <p:nvPr/>
        </p:nvSpPr>
        <p:spPr>
          <a:xfrm>
            <a:off x="2871216" y="4904740"/>
            <a:ext cx="1911096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5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Define</a:t>
            </a:r>
          </a:p>
          <a:p>
            <a:pPr algn="ctr">
              <a:defRPr sz="15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Learning Goals</a:t>
            </a:r>
          </a:p>
        </p:txBody>
      </p:sp>
      <p:sp>
        <p:nvSpPr>
          <p:cNvPr id="336" name="Shape 14"/>
          <p:cNvSpPr/>
          <p:nvPr/>
        </p:nvSpPr>
        <p:spPr>
          <a:xfrm>
            <a:off x="5056632" y="3703320"/>
            <a:ext cx="2093977" cy="1965961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7" name="Text 16"/>
          <p:cNvSpPr txBox="1"/>
          <p:nvPr/>
        </p:nvSpPr>
        <p:spPr>
          <a:xfrm>
            <a:off x="5801867" y="4113022"/>
            <a:ext cx="6035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38" name="Text 17"/>
          <p:cNvSpPr txBox="1"/>
          <p:nvPr/>
        </p:nvSpPr>
        <p:spPr>
          <a:xfrm>
            <a:off x="5148071" y="4904740"/>
            <a:ext cx="1911097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5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Select</a:t>
            </a:r>
          </a:p>
          <a:p>
            <a:pPr algn="ctr">
              <a:defRPr sz="15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a Tool</a:t>
            </a:r>
          </a:p>
        </p:txBody>
      </p:sp>
      <p:sp>
        <p:nvSpPr>
          <p:cNvPr id="339" name="Shape 18"/>
          <p:cNvSpPr/>
          <p:nvPr/>
        </p:nvSpPr>
        <p:spPr>
          <a:xfrm>
            <a:off x="7333488" y="3703320"/>
            <a:ext cx="2093977" cy="1965961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0" name="Text 20"/>
          <p:cNvSpPr txBox="1"/>
          <p:nvPr/>
        </p:nvSpPr>
        <p:spPr>
          <a:xfrm>
            <a:off x="8078723" y="4113022"/>
            <a:ext cx="6035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41" name="Text 21"/>
          <p:cNvSpPr txBox="1"/>
          <p:nvPr/>
        </p:nvSpPr>
        <p:spPr>
          <a:xfrm>
            <a:off x="7424928" y="4904740"/>
            <a:ext cx="1911097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5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Map Pedagogy</a:t>
            </a:r>
          </a:p>
          <a:p>
            <a:pPr algn="ctr">
              <a:defRPr sz="15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to Technology</a:t>
            </a:r>
          </a:p>
        </p:txBody>
      </p:sp>
      <p:sp>
        <p:nvSpPr>
          <p:cNvPr id="342" name="Shape 22"/>
          <p:cNvSpPr/>
          <p:nvPr/>
        </p:nvSpPr>
        <p:spPr>
          <a:xfrm>
            <a:off x="9610343" y="3703320"/>
            <a:ext cx="2093977" cy="1965961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3" name="Text 24"/>
          <p:cNvSpPr txBox="1"/>
          <p:nvPr/>
        </p:nvSpPr>
        <p:spPr>
          <a:xfrm>
            <a:off x="10355580" y="4113022"/>
            <a:ext cx="6035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344" name="Text 25"/>
          <p:cNvSpPr txBox="1"/>
          <p:nvPr/>
        </p:nvSpPr>
        <p:spPr>
          <a:xfrm>
            <a:off x="9701783" y="4904740"/>
            <a:ext cx="1911097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5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Sketch</a:t>
            </a:r>
          </a:p>
          <a:p>
            <a:pPr algn="ctr">
              <a:defRPr sz="15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Implementation</a:t>
            </a:r>
          </a:p>
        </p:txBody>
      </p:sp>
      <p:sp>
        <p:nvSpPr>
          <p:cNvPr id="345" name="Shape 26"/>
          <p:cNvSpPr/>
          <p:nvPr/>
        </p:nvSpPr>
        <p:spPr>
          <a:xfrm>
            <a:off x="502919" y="5897879"/>
            <a:ext cx="11201401" cy="594361"/>
          </a:xfrm>
          <a:prstGeom prst="roundRect">
            <a:avLst>
              <a:gd name="adj" fmla="val 13846"/>
            </a:avLst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6" name="Text 27"/>
          <p:cNvSpPr txBox="1"/>
          <p:nvPr/>
        </p:nvSpPr>
        <p:spPr>
          <a:xfrm>
            <a:off x="502919" y="6100380"/>
            <a:ext cx="112014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 u="sng">
                <a:solidFill>
                  <a:schemeClr val="accent4">
                    <a:lumOff val="12500"/>
                  </a:schemeClr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  <p:sp>
        <p:nvSpPr>
          <p:cNvPr id="347" name="Text 28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0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0" name="Shape 1"/>
          <p:cNvSpPr/>
          <p:nvPr/>
        </p:nvSpPr>
        <p:spPr>
          <a:xfrm rot="720000">
            <a:off x="6703924" y="-914401"/>
            <a:ext cx="12188953" cy="8686801"/>
          </a:xfrm>
          <a:prstGeom prst="rect">
            <a:avLst/>
          </a:prstGeom>
          <a:solidFill>
            <a:srgbClr val="0F5257">
              <a:alpha val="4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1" name="Shape 4"/>
          <p:cNvSpPr/>
          <p:nvPr/>
        </p:nvSpPr>
        <p:spPr>
          <a:xfrm>
            <a:off x="4722876" y="1234439"/>
            <a:ext cx="2743201" cy="658369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2" name="Text 5"/>
          <p:cNvSpPr txBox="1"/>
          <p:nvPr/>
        </p:nvSpPr>
        <p:spPr>
          <a:xfrm>
            <a:off x="4722876" y="1459047"/>
            <a:ext cx="274320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0A3538"/>
                </a:solidFill>
              </a:defRPr>
            </a:lvl1pPr>
          </a:lstStyle>
          <a:p>
            <a:pPr/>
            <a:r>
              <a:t>Share-Out — 5 min</a:t>
            </a:r>
          </a:p>
        </p:txBody>
      </p:sp>
      <p:sp>
        <p:nvSpPr>
          <p:cNvPr id="353" name="Text 7"/>
          <p:cNvSpPr txBox="1"/>
          <p:nvPr/>
        </p:nvSpPr>
        <p:spPr>
          <a:xfrm>
            <a:off x="2194560" y="2631693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54" name="Text 8"/>
          <p:cNvSpPr txBox="1"/>
          <p:nvPr/>
        </p:nvSpPr>
        <p:spPr>
          <a:xfrm>
            <a:off x="2971799" y="2646637"/>
            <a:ext cx="7955282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900">
                <a:solidFill>
                  <a:srgbClr val="FFFFFF"/>
                </a:solidFill>
              </a:defRPr>
            </a:lvl1pPr>
          </a:lstStyle>
          <a:p>
            <a:pPr/>
            <a:r>
              <a:t>2-3 groups share their plan (60 seconds each)</a:t>
            </a:r>
          </a:p>
        </p:txBody>
      </p:sp>
      <p:sp>
        <p:nvSpPr>
          <p:cNvPr id="355" name="Text 10"/>
          <p:cNvSpPr txBox="1"/>
          <p:nvPr/>
        </p:nvSpPr>
        <p:spPr>
          <a:xfrm>
            <a:off x="2194560" y="3500373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56" name="Text 11"/>
          <p:cNvSpPr txBox="1"/>
          <p:nvPr/>
        </p:nvSpPr>
        <p:spPr>
          <a:xfrm>
            <a:off x="2971799" y="3515317"/>
            <a:ext cx="7955282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900">
                <a:solidFill>
                  <a:srgbClr val="FFFFFF"/>
                </a:solidFill>
              </a:defRPr>
            </a:lvl1pPr>
          </a:lstStyle>
          <a:p>
            <a:pPr/>
            <a:r>
              <a:t>What's your educational need?</a:t>
            </a:r>
          </a:p>
        </p:txBody>
      </p:sp>
      <p:sp>
        <p:nvSpPr>
          <p:cNvPr id="357" name="Text 13"/>
          <p:cNvSpPr txBox="1"/>
          <p:nvPr/>
        </p:nvSpPr>
        <p:spPr>
          <a:xfrm>
            <a:off x="2194560" y="4369054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58" name="Text 14"/>
          <p:cNvSpPr txBox="1"/>
          <p:nvPr/>
        </p:nvSpPr>
        <p:spPr>
          <a:xfrm>
            <a:off x="2971799" y="4383997"/>
            <a:ext cx="7955282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900">
                <a:solidFill>
                  <a:srgbClr val="FFFFFF"/>
                </a:solidFill>
              </a:defRPr>
            </a:lvl1pPr>
          </a:lstStyle>
          <a:p>
            <a:pPr/>
            <a:r>
              <a:t>What tool did you pick, and why?</a:t>
            </a:r>
          </a:p>
        </p:txBody>
      </p:sp>
      <p:sp>
        <p:nvSpPr>
          <p:cNvPr id="359" name="Text 16"/>
          <p:cNvSpPr txBox="1"/>
          <p:nvPr/>
        </p:nvSpPr>
        <p:spPr>
          <a:xfrm>
            <a:off x="2194560" y="5237734"/>
            <a:ext cx="5669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60" name="Text 17"/>
          <p:cNvSpPr txBox="1"/>
          <p:nvPr/>
        </p:nvSpPr>
        <p:spPr>
          <a:xfrm>
            <a:off x="2971799" y="5252677"/>
            <a:ext cx="7955282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900">
                <a:solidFill>
                  <a:srgbClr val="FFFFFF"/>
                </a:solidFill>
              </a:defRPr>
            </a:lvl1pPr>
          </a:lstStyle>
          <a:p>
            <a:pPr/>
            <a:r>
              <a:t>What's one barrier and how will you handle it?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Text 0"/>
          <p:cNvSpPr txBox="1"/>
          <p:nvPr/>
        </p:nvSpPr>
        <p:spPr>
          <a:xfrm>
            <a:off x="502919" y="479351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50" sz="1200">
                <a:solidFill>
                  <a:srgbClr val="9E7625"/>
                </a:solidFill>
              </a:defRPr>
            </a:lvl1pPr>
          </a:lstStyle>
          <a:p>
            <a:pPr/>
            <a:r>
              <a:t>WRAP-UP · 2 MIN</a:t>
            </a:r>
          </a:p>
        </p:txBody>
      </p:sp>
      <p:sp>
        <p:nvSpPr>
          <p:cNvPr id="363" name="Text 1"/>
          <p:cNvSpPr txBox="1"/>
          <p:nvPr/>
        </p:nvSpPr>
        <p:spPr>
          <a:xfrm>
            <a:off x="502919" y="843279"/>
            <a:ext cx="111556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Wrap-Up</a:t>
            </a:r>
          </a:p>
        </p:txBody>
      </p:sp>
      <p:sp>
        <p:nvSpPr>
          <p:cNvPr id="364" name="Text 2"/>
          <p:cNvSpPr txBox="1"/>
          <p:nvPr/>
        </p:nvSpPr>
        <p:spPr>
          <a:xfrm>
            <a:off x="502919" y="1593849"/>
            <a:ext cx="10972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Start with one tool, one need, one small experiment</a:t>
            </a:r>
          </a:p>
        </p:txBody>
      </p:sp>
      <p:sp>
        <p:nvSpPr>
          <p:cNvPr id="365" name="Shape 3"/>
          <p:cNvSpPr/>
          <p:nvPr/>
        </p:nvSpPr>
        <p:spPr>
          <a:xfrm>
            <a:off x="502919" y="2103120"/>
            <a:ext cx="11201401" cy="3017521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3DDD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6" name="Text 4"/>
          <p:cNvSpPr txBox="1"/>
          <p:nvPr/>
        </p:nvSpPr>
        <p:spPr>
          <a:xfrm>
            <a:off x="914400" y="2423159"/>
            <a:ext cx="10424160" cy="1834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spcBef>
                <a:spcPts val="1200"/>
              </a:spcBef>
              <a:buSzPct val="100000"/>
              <a:buChar char="•"/>
              <a:defRPr sz="1600">
                <a:solidFill>
                  <a:srgbClr val="1C2A2C"/>
                </a:solidFill>
              </a:defRPr>
            </a:pPr>
            <a:r>
              <a:t>Everything from today is in the Workshop Guide — bookmark it</a:t>
            </a:r>
          </a:p>
          <a:p>
            <a:pPr marL="342900" indent="-342900">
              <a:spcBef>
                <a:spcPts val="1200"/>
              </a:spcBef>
              <a:buSzPct val="100000"/>
              <a:buChar char="•"/>
              <a:defRPr sz="1600">
                <a:solidFill>
                  <a:srgbClr val="1C2A2C"/>
                </a:solidFill>
              </a:defRPr>
            </a:pPr>
            <a:r>
              <a:t>The Zero Dollar Starter Kit: 9 free tools you can use Monday morning</a:t>
            </a:r>
          </a:p>
          <a:p>
            <a:pPr marL="342900" indent="-342900">
              <a:spcBef>
                <a:spcPts val="1200"/>
              </a:spcBef>
              <a:buSzPct val="100000"/>
              <a:buChar char="•"/>
              <a:defRPr sz="1600">
                <a:solidFill>
                  <a:srgbClr val="1C2A2C"/>
                </a:solidFill>
              </a:defRPr>
            </a:pPr>
            <a:r>
              <a:t>All resource links, prompt templates, and the worksheet stay available</a:t>
            </a:r>
          </a:p>
          <a:p>
            <a:pPr marL="342900" indent="-342900">
              <a:spcBef>
                <a:spcPts val="1200"/>
              </a:spcBef>
              <a:buSzPct val="100000"/>
              <a:buChar char="•"/>
              <a:defRPr sz="1600">
                <a:solidFill>
                  <a:srgbClr val="1C2A2C"/>
                </a:solidFill>
              </a:defRPr>
            </a:pPr>
            <a:r>
              <a:t>You don't need a grant, an IT ticket, or a technology expert</a:t>
            </a:r>
          </a:p>
          <a:p>
            <a:pPr marL="342900" indent="-342900">
              <a:spcBef>
                <a:spcPts val="1200"/>
              </a:spcBef>
              <a:buSzPct val="100000"/>
              <a:buChar char="•"/>
              <a:defRPr sz="1600">
                <a:solidFill>
                  <a:srgbClr val="1C2A2C"/>
                </a:solidFill>
              </a:defRPr>
            </a:pPr>
            <a:r>
              <a:t>You need to know what your learners need — and you already know that</a:t>
            </a:r>
          </a:p>
        </p:txBody>
      </p:sp>
      <p:sp>
        <p:nvSpPr>
          <p:cNvPr id="367" name="Shape 5"/>
          <p:cNvSpPr/>
          <p:nvPr/>
        </p:nvSpPr>
        <p:spPr>
          <a:xfrm>
            <a:off x="502919" y="5349240"/>
            <a:ext cx="11201401" cy="731521"/>
          </a:xfrm>
          <a:prstGeom prst="roundRect">
            <a:avLst>
              <a:gd name="adj" fmla="val 11250"/>
            </a:avLst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8" name="Text 6"/>
          <p:cNvSpPr txBox="1"/>
          <p:nvPr/>
        </p:nvSpPr>
        <p:spPr>
          <a:xfrm>
            <a:off x="502919" y="5621722"/>
            <a:ext cx="112014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 u="sng">
                <a:solidFill>
                  <a:schemeClr val="accent4">
                    <a:lumOff val="12500"/>
                  </a:schemeClr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Workshop Guide → Section 8 (All Resources)</a:t>
            </a:r>
          </a:p>
        </p:txBody>
      </p:sp>
      <p:sp>
        <p:nvSpPr>
          <p:cNvPr id="369" name="Text 7"/>
          <p:cNvSpPr txBox="1"/>
          <p:nvPr/>
        </p:nvSpPr>
        <p:spPr>
          <a:xfrm>
            <a:off x="502919" y="6547612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F7173"/>
                </a:solidFill>
              </a:defRPr>
            </a:lvl1pPr>
          </a:lstStyle>
          <a:p>
            <a:pPr/>
            <a:r>
              <a:t>Digital Learning Unlocked  ·  2026 APP Fellowship Conference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A35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72" name="Shape 1"/>
          <p:cNvSpPr/>
          <p:nvPr/>
        </p:nvSpPr>
        <p:spPr>
          <a:xfrm rot="720000">
            <a:off x="6703924" y="-914401"/>
            <a:ext cx="12188953" cy="8686801"/>
          </a:xfrm>
          <a:prstGeom prst="rect">
            <a:avLst/>
          </a:prstGeom>
          <a:solidFill>
            <a:srgbClr val="0F5257">
              <a:alpha val="4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73" name="Text 5"/>
          <p:cNvSpPr txBox="1"/>
          <p:nvPr/>
        </p:nvSpPr>
        <p:spPr>
          <a:xfrm>
            <a:off x="5545835" y="1617979"/>
            <a:ext cx="109728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DB</a:t>
            </a:r>
          </a:p>
        </p:txBody>
      </p:sp>
      <p:sp>
        <p:nvSpPr>
          <p:cNvPr id="374" name="Text 6"/>
          <p:cNvSpPr txBox="1"/>
          <p:nvPr/>
        </p:nvSpPr>
        <p:spPr>
          <a:xfrm>
            <a:off x="640079" y="2733039"/>
            <a:ext cx="10908794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375" name="Text 7"/>
          <p:cNvSpPr txBox="1"/>
          <p:nvPr/>
        </p:nvSpPr>
        <p:spPr>
          <a:xfrm>
            <a:off x="640079" y="3743959"/>
            <a:ext cx="10908794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200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Diana Brewer, PA-C</a:t>
            </a:r>
          </a:p>
        </p:txBody>
      </p:sp>
      <p:sp>
        <p:nvSpPr>
          <p:cNvPr id="376" name="Text 8"/>
          <p:cNvSpPr txBox="1"/>
          <p:nvPr/>
        </p:nvSpPr>
        <p:spPr>
          <a:xfrm>
            <a:off x="640079" y="4477320"/>
            <a:ext cx="10908794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C8D8D7"/>
                </a:solidFill>
              </a:defRPr>
            </a:lvl1pPr>
          </a:lstStyle>
          <a:p>
            <a:pPr/>
            <a:r>
              <a:t>Knight Cancer Institute Hem/Onc APP Fellowship Director, OHSU  ·  Co-Founder &amp; CMO, Sapient Clinician</a:t>
            </a:r>
          </a:p>
        </p:txBody>
      </p:sp>
      <p:sp>
        <p:nvSpPr>
          <p:cNvPr id="377" name="Text 9"/>
          <p:cNvSpPr txBox="1"/>
          <p:nvPr/>
        </p:nvSpPr>
        <p:spPr>
          <a:xfrm>
            <a:off x="640079" y="5004502"/>
            <a:ext cx="10908794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brewerd@ohsu.edu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