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Digital%20Learning%20Unlocked%20-%20Workshop%20Guide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Digital%20Learning%20Unlocked%20-%20Workshop%20Guide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lm.google.com" TargetMode="External"/><Relationship Id="rId3" Type="http://schemas.openxmlformats.org/officeDocument/2006/relationships/hyperlink" Target="https://diana-brewer.github.io/digital-learning-unlocked/Digital%20Learning%20Unlocked%20-%20Workshop%20Guide.html#topic4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Digital%20Learning%20Unlocked%20-%20Workshop%20Guide.html#topic4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case-demo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Digital%20Learning%20Unlocked%20-%20Workshop%20Guide.html#topic5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Digital%20Learning%20Unlocked%20-%20Workshop%20Guide.html#topic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Digital%20Learning%20Unlocked%20-%20Workshop%20Guide.html#topic8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apientclinician.co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2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Digital Learning Unlocked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4A55A"/>
                </a:solidFill>
                <a:latin typeface="Calibri"/>
              </a:defRPr>
            </a:pPr>
            <a:r>
              <a:t>Affordable Tools and Tech for Next-Gen APP Education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Diana Brewer, PA-C  ·  September 2026 APP Fellowship Conference  ·  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Welcome &amp;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Conflict of Interest &amp; Session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COI: Diana Brewer is co-founder of Sapient Clinician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This session is vendor-neutral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75 min: 40 min presentation + 30 min workshop + 5 min wrap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Keep the Workshop Guide open on your phone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Think · Pair · Share after each section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Everything stays available after the conference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2860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A6B7E"/>
                </a:solidFill>
                <a:latin typeface="Calibri"/>
              </a:defRPr>
            </a:pPr>
            <a:r>
              <a:t>[QR code → Workshop Guide page]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2560320"/>
            <a:ext cx="3200400" cy="3200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1 — Digital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Free or low-cost platforms for creating interactive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Demo: Branching Clinical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this on your phone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65-year-old with acute confusion → make decisions, see consequences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Built with H5P (free, open-source) — no programming required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Every decision is a clinical action — not a multiple choice question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The reasoning path IS the assessment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Cost to recreate: $0  ·  Time to build: ~1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286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2D5F7C"/>
                </a:solidFill>
                <a:latin typeface="Calibri"/>
                <a:hlinkClick r:id="rId2"/>
              </a:rPr>
              <a:t>▶ Try the Branching Scenario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6B7E"/>
                </a:solidFill>
                <a:latin typeface="Calibri"/>
              </a:defRPr>
            </a:pPr>
            <a:r>
              <a:t>Workshop Guide → Section 2: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023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D5F7C"/>
                </a:solidFill>
                <a:latin typeface="Calibri"/>
                <a:hlinkClick r:id="rId3"/>
              </a:rPr>
              <a:t>Digital Learning Unlocked - Workshop Guide.html#topic2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Tool Reference — Content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and links in the Workshop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Canva — Free / ~$14/mo (edu may be free) — Infographics, visual cases, AI-assisted design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H5P — Free (open-source, self-hosted) — Branching scenarios, interactive content, image annotation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Nearpod — Free / $120/yr — Live interactive lectures, real-time formative assessment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Pear Deck — Free / $150/yr — Interactive Google Slides/PowerPoint with embedded questions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Gamma — Free / $10/mo — AI-generated presentations from a topic prompt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MedEdPORTAL — Free — Thousands of peer-reviewed, ready-to-use teaching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Note: Study tools (Anki, Quizlet, Brainscape) support memorization, NOT assessment. In the AI era, any assessment that asks students to select an answer can be solved by 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Turn to your table group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one tool you already use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one tool from the list you're curious about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What's one educational challenge you wish you had a tool for?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2"/>
              </a:rPr>
              <a:t>Workshop Guide → Section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2 — AI Chatbots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Conversational tools that generate content — and can hallucinate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Pedagogical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In the AI era, we must rethink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22860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2332"/>
                </a:solidFill>
                <a:latin typeface="Calibri"/>
              </a:defRPr>
            </a:pPr>
            <a:r>
              <a:t>If we use AI to create multiple-choice quizzes, students will use AI to answer them.</a:t>
            </a:r>
            <a:br/>
            <a:r>
              <a:t>That's not education — that's an arms race we've already lost.</a:t>
            </a:r>
            <a:br/>
            <a:br/>
            <a:r>
              <a:t>Use AI to create cognitively demanding, authentic learning experiences</a:t>
            </a:r>
            <a:br/>
            <a:r>
              <a:t>that AI can't do for the student: simulated encounters, reflective writing,</a:t>
            </a:r>
            <a:br/>
            <a:r>
              <a:t>clinical reasoning cases, formative feedback on authentic work.</a:t>
            </a:r>
            <a:br/>
            <a:br/>
            <a:r>
              <a:t>Use AI to build the scaffolding, not to replace the thinking.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Conversational Chatbots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in the Workshop Guide → 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ChatGPT (OpenAI) — Free (GPT-5) / $20/mo — Most versatile. File upload. Voice mode. Custom GPTs.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Claude (Anthropic) — Free / $17/mo — Best for long-form content, complex reasoning. 200K context.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Gemini (Google) — Free / $20/mo — Google Workspace integration. Deep Research with citations.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Grok (xAI) — Free w/ X / ~$30/mo — Real-time web search. No enterprise/EDU plan.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Microsoft Copilot — Free / $10/mo — M365 integration. Many institutions already include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2 — Grounding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Preventing hallucinations by grounding in your source material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Aggregation &amp; Grounding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RAG without writing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Google NotebookLM — FREE — The single most important tool in this session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    Upload source documents → AI responses grounded ONLY in what you uploaded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    If the answer isn't in your documents, it says so. Zero hallucination risk.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    Generates study guides, FAQs, audio podcast discussions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Perplexity — Free / $20/mo — AI answer engine that cites every source. Best for EBM exercises.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DeepSeek — Free — Reasoning model with visible chain-of-thought. Self-hostable for privacy.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Grounded AI Workflow — No Code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1. Prepare your source material (guidelines, case notes, articles, slides)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2. Upload to a grounding tool (NotebookLM = free, or ChatGPT/Claude with file upload)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3. Add the grounding instruction: "Base your response only on the attached documents."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4. Generate and verify — spot-check lab values, drug dosages, clinical facts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5. Refine and reuse — save the notebook. It becomes your personal AI case library.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Demo: NotebookLM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Show the problem, then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1. Ask ChatGPT to create a case WITHOUT sources → show hallucination risk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2. Open NotebookLM with uploaded pericarditis guidelines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3. Ask same question → show grounded, cited response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4. Generate a clinical reasoning exercise + feedback rubric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5. Generate an Audio Overview (podcast) — play 15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286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2D5F7C"/>
                </a:solidFill>
                <a:latin typeface="Calibri"/>
                <a:hlinkClick r:id="rId2"/>
              </a:rPr>
              <a:t>▶ Open NotebookLM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3"/>
              </a:rPr>
              <a:t>Workshop Guide → Section 4 (prompts)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Copy-Paste Prompt Templates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these now — in the Workshop Guide → 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Prompt 1: Grounded Clinical Reasoning Case (for NotebookLM or ChatGPT with file upload)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Prompt 2: Simulated Patient Encounter (for ChatGPT voice mode or Claude)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Prompt 3: Structured Feedback Rubric (evaluates reasoning, not just answers)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Prompt 4: Reflective Writing Prompt Generator (creates prompts AI can't answer)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All prompts include the grounding instruction: "Base your response only on the attached documents."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On your phone or laptop, open ChatGPT, Claude, or Gemini (all free)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Copy and paste Prompt #1 or #2 from the Workshop Guide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If you have a clinical guideline, upload it first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with your table — what worked? What surprised you?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2"/>
              </a:rPr>
              <a:t>Workshop Guide → Section 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3 — Simulation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Match the technology to the learning goal — from text to VR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 Clinician's Perspective on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2004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2332"/>
                </a:solidFill>
                <a:latin typeface="Calibri"/>
              </a:defRPr>
            </a:pPr>
            <a:r>
              <a:t>Immersion doesn't require a headset.</a:t>
            </a:r>
            <a:br/>
            <a:br/>
            <a:r>
              <a:t>A well-designed text-and-audio case — where a learner interviews a patient,</a:t>
            </a:r>
            <a:br/>
            <a:r>
              <a:t>orders labs, interprets an ECG, and builds a differential — can teach clinical</a:t>
            </a:r>
            <a:br/>
            <a:r>
              <a:t>reasoning as effectively as a $500 VR setup.</a:t>
            </a:r>
            <a:br/>
            <a:br/>
            <a:r>
              <a:t>What matters is the thinking the learner does, not the fidelity of the interface.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Fidelity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The most expensive simulation is not the best simulation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194560" cy="13716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Text &amp; Audio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$20/mo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Interview, labs, differential, images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37160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88920" y="1371600"/>
            <a:ext cx="2194560" cy="13716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Image-Based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ECGs, radiology, lab interpretation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37160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1371600"/>
            <a:ext cx="2194560" cy="13716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Screen-Based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trial — inst.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Virtual patients, branching scenarios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52359" y="137160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59" y="1371600"/>
            <a:ext cx="2194560" cy="13716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799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799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AR (Phone)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799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799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3D anatomy on phone, no headset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0" y="137160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84080" y="1371600"/>
            <a:ext cx="2194560" cy="13716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Immersive VR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$100 — $600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Procedures, team scenarios, physical skills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Demo: Interactive Clinical Reasoning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this on your phone now — no VR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19-year-old male with sharp chest pain after viral illness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Interview the patient (text-based)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Order labs, interpret an ECG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Build your differential with reasoning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Write your assessment and plan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Receive structured feedback on your reasoning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286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2D5F7C"/>
                </a:solidFill>
                <a:latin typeface="Calibri"/>
                <a:hlinkClick r:id="rId2"/>
              </a:rPr>
              <a:t>▶ Try the Clinical Reasoning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657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No multiple choice.</a:t>
            </a:r>
            <a:br/>
            <a:r>
              <a:t>The reasoning IS the assessment.</a:t>
            </a:r>
            <a:br/>
            <a:r>
              <a:t>This is authentic assessment in the AI era.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Simulation Tools by Fidelity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in the Workshop Guide → Sections 5 &amp;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Text/Audio: ChatGPT (patient simulator) — Free | Flip (video reflection) — Free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Image/Screen: H5P (branching scenarios) — Free | Body Interact — Free trial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3D Anatomy/AR: BioDigital Human — Free | Visible Body — $25 one-time | Complete Anatomy — $40/yr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Free/OSS: 3D Slicer (DICOM + VR) — Free | OpenAnatomy (Harvard) — Free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VR Platforms: OMS (targets PA/APP) | SimX (150+ scenarios) | Osso VR (procedural) | VRpatients (no-code)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VR Hardware — When It's Worth the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Google Cardboard / phone VR — $5–$25/viewer — Basic VR demos, 360° anatomy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Meta Quest 2 (refurbished) — ~$100–$150 — Lowest-cost standalone VR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Meta Quest 3S — $349.99 — Best value for new purchase. Color passthrough AR.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Meta Quest 3 — $599.99 — Premium. Not necessary for most programs.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Use VR when: procedural skills, team scenarios, high-acuity rehearsal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Don't use VR when: the learning goal is clinical reasoning (text/screen does the job)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Recommended Starter Stack for Low-Resource Programs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A2332"/>
                </a:solidFill>
                <a:latin typeface="Calibri"/>
              </a:defRPr>
            </a:pPr>
            <a:r>
              <a:t>Free entry: ChatGPT + BioDigital Human + Flip + NotebookLM + H5P → $0</a:t>
            </a:r>
          </a:p>
          <a:p>
            <a:pPr>
              <a:spcAft>
                <a:spcPts val="800"/>
              </a:spcAft>
              <a:defRPr sz="1900">
                <a:solidFill>
                  <a:srgbClr val="1A2332"/>
                </a:solidFill>
                <a:latin typeface="Calibri"/>
              </a:defRPr>
            </a:pPr>
            <a:r>
              <a:t>Minimal: Above + Visible Body Atlas ($25, includes AR) → $25</a:t>
            </a:r>
          </a:p>
          <a:p>
            <a:pPr>
              <a:spcAft>
                <a:spcPts val="800"/>
              </a:spcAft>
              <a:defRPr sz="1900">
                <a:solidFill>
                  <a:srgbClr val="1A2332"/>
                </a:solidFill>
                <a:latin typeface="Calibri"/>
              </a:defRPr>
            </a:pPr>
            <a:r>
              <a:t>One headset: Above + 1 refurbished Meta Quest 2 (~$100-150) → ~$125-175</a:t>
            </a:r>
          </a:p>
          <a:p>
            <a:pPr>
              <a:spcAft>
                <a:spcPts val="800"/>
              </a:spcAft>
              <a:defRPr sz="1900">
                <a:solidFill>
                  <a:srgbClr val="1A2332"/>
                </a:solidFill>
                <a:latin typeface="Calibri"/>
              </a:defRPr>
            </a:pPr>
            <a:r>
              <a:t>Small program: Above + 2-3 Meta Quest 3S (~$350 each) → ~$700-1,100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Think of a clinical skill your fellows need to learn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Which fidelity level would you choose? Text? Images? Screen? AR? VR?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Would the free option work? Or does this skill genuinely require VR?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your reasoning with your table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2"/>
              </a:rPr>
              <a:t>Workshop Guide → Sections 5 &amp; 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Capstone Design 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Turn one of your ideas into a plan you can take back to your program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Capstone Design Sprint —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Extend your earlier discussions into a complete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You've been discussing tools and ideas after each section — now extend that into a full plan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Pick the idea from your earlier discussions that feels most feasible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Work through the 5-step worksheet in the Workshop Guide → Section 7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Fill it in on your phone — type your answers directly on the page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1. Identify a need  2. Define learning goals  3. Select a tool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4. Map pedagogy to technology  5. Sketch implementation plan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Save your worksheet — it downloads to your 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2"/>
              </a:rPr>
              <a:t>Workshop Guide → Section 7 (Worksheet)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Share-Out — 5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200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2-3 groups share their plan (60 seconds each)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What's your educational need?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What tool did you pick, and why?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What's one barrier and how will you handle it?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Start with one tool, one need, one small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Everything from today is in the Workshop Guide — bookmark it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The Zero Dollar Starter Kit: 9 free tools you can use Monday morning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All resource links, prompt templates, and the worksheet stay available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You don't need a grant, an IT ticket, or a technology expert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You need to know what your learners need — and you already know that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2"/>
              </a:rPr>
              <a:t>Workshop Guide → Section 8 (All Resources)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2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4A55A"/>
                </a:solidFill>
                <a:latin typeface="Calibri"/>
              </a:defRPr>
            </a:pPr>
            <a:r>
              <a:t>Diana Brewer, PA-C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Chief Medical Officer, Sapient Clinician  ·  APP Fellowship Director, OHSU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1148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4A55A"/>
                </a:solidFill>
                <a:latin typeface="Calibri"/>
                <a:hlinkClick r:id="rId2"/>
              </a:rPr>
              <a:t>contact@sapientclinician.com  ·  sapientclinician.com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