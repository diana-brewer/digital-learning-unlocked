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75 min: 40 min presentation + 30 min workshop + 5 min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[QR code → Workshop Guide page]</a:t>
            </a:r>
          </a:p>
        </p:txBody>
      </p:sp>
      <p:sp>
        <p:nvSpPr>
          <p:cNvPr id="109" name="Rectangle 5"/>
          <p:cNvSpPr/>
          <p:nvPr/>
        </p:nvSpPr>
        <p:spPr>
          <a:xfrm>
            <a:off x="7772400" y="2560320"/>
            <a:ext cx="3200400" cy="32004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 —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Branching Clinical Scenario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IT IS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65-year-old with acute confusion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Make decisions, see consequences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Built with H5P (free, open-source)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No programming required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 decision is a clinical action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The reasoning path IS the assessment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Branching Scenario Demo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Cost to recreate: $0  ·  Time to build: ~1 hour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Tool Reference — Content Creation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and links in the Workshop Guide</a:t>
            </a:r>
          </a:p>
        </p:txBody>
      </p:sp>
      <p:graphicFrame>
        <p:nvGraphicFramePr>
          <p:cNvPr id="134" name="Table 4"/>
          <p:cNvGraphicFramePr/>
          <p:nvPr/>
        </p:nvGraphicFramePr>
        <p:xfrm>
          <a:off x="457200" y="1371600"/>
          <a:ext cx="11247120" cy="224027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Canva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~$14/mo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Infographics, visual cases, AI-assisted design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H5P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 (OSS)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scenarios, interactive content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Nearpod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$120/yr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Live interactive lectures, formative assessment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Pear Deck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$150/yr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Interactive slides with embedded questions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Gamma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AI-generated presentations from a prompt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MedEdPORTAL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Peer-reviewed, ready-to-use teaching modules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5" name="Rectangle 5"/>
          <p:cNvSpPr/>
          <p:nvPr/>
        </p:nvSpPr>
        <p:spPr>
          <a:xfrm>
            <a:off x="457199" y="5303520"/>
            <a:ext cx="11247122" cy="1097281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Rectangle 6"/>
          <p:cNvSpPr/>
          <p:nvPr/>
        </p:nvSpPr>
        <p:spPr>
          <a:xfrm>
            <a:off x="457200" y="5303520"/>
            <a:ext cx="50800" cy="109728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7"/>
          <p:cNvSpPr txBox="1"/>
          <p:nvPr/>
        </p:nvSpPr>
        <p:spPr>
          <a:xfrm>
            <a:off x="731520" y="5376671"/>
            <a:ext cx="107899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IMPORTANT</a:t>
            </a:r>
          </a:p>
        </p:txBody>
      </p:sp>
      <p:sp>
        <p:nvSpPr>
          <p:cNvPr id="138" name="TextBox 8"/>
          <p:cNvSpPr txBox="1"/>
          <p:nvPr/>
        </p:nvSpPr>
        <p:spPr>
          <a:xfrm>
            <a:off x="731520" y="5669279"/>
            <a:ext cx="10789920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14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Turn to your table group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you already use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from the list you're curious about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What's one educational challenge you wish you had a tool for?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47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3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150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2 — AI Chatbots</a:t>
            </a:r>
          </a:p>
        </p:txBody>
      </p:sp>
      <p:sp>
        <p:nvSpPr>
          <p:cNvPr id="151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Conversational tools that generate content — and can hallucinate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Pedagogical Challenge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In the AI era, we must rethink assessment</a:t>
            </a:r>
          </a:p>
        </p:txBody>
      </p:sp>
      <p:sp>
        <p:nvSpPr>
          <p:cNvPr id="156" name="Rectangle 4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Rectangle 5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6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THE CORE MESSAGE</a:t>
            </a:r>
          </a:p>
        </p:txBody>
      </p:sp>
      <p:sp>
        <p:nvSpPr>
          <p:cNvPr id="159" name="TextBox 7"/>
          <p:cNvSpPr txBox="1"/>
          <p:nvPr/>
        </p:nvSpPr>
        <p:spPr>
          <a:xfrm>
            <a:off x="960119" y="2011679"/>
            <a:ext cx="9966962" cy="3088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If we use AI to create multiple-choice quizzes, students will use AI to answer them.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That's not education — that's an arms race we've already lost.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create cognitively demanding, authentic learning experiences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 AI can't do for the student: simulated encounters, reflective writing,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clinical reasoning cases, formative feedback on authentic work.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Conversational Chatbots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in the Workshop Guide → Section 3</a:t>
            </a:r>
          </a:p>
        </p:txBody>
      </p:sp>
      <p:graphicFrame>
        <p:nvGraphicFramePr>
          <p:cNvPr id="164" name="Table 4"/>
          <p:cNvGraphicFramePr/>
          <p:nvPr/>
        </p:nvGraphicFramePr>
        <p:xfrm>
          <a:off x="457200" y="1371600"/>
          <a:ext cx="11247120" cy="192023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286000"/>
                <a:gridCol w="7132319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Key Features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ChatGPT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Most versatile. File upload. Voice mode. Custom GPTs.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Claude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$17/mo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for long content, complex reasoning. 200K context.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Gemini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Google Workspace integration. Deep Research with citations.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Grok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w/ X / ~$30/mo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Real-time web search. No enterprise/EDU plan.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Copilot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M365 integration. Many institutions already include it.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66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4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69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2 — Grounding AI</a:t>
            </a:r>
          </a:p>
        </p:txBody>
      </p:sp>
      <p:sp>
        <p:nvSpPr>
          <p:cNvPr id="170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Preventing hallucinations by grounding in your source material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Data Aggregation &amp; Grounding Tools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RAG without writing code</a:t>
            </a:r>
          </a:p>
        </p:txBody>
      </p:sp>
      <p:sp>
        <p:nvSpPr>
          <p:cNvPr id="175" name="Rectangle 4"/>
          <p:cNvSpPr/>
          <p:nvPr/>
        </p:nvSpPr>
        <p:spPr>
          <a:xfrm>
            <a:off x="457199" y="1371600"/>
            <a:ext cx="11247122" cy="27432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6"/>
          <p:cNvSpPr txBox="1"/>
          <p:nvPr/>
        </p:nvSpPr>
        <p:spPr>
          <a:xfrm>
            <a:off x="777239" y="1554480"/>
            <a:ext cx="10424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⭐ THE MOST IMPORTANT TOOL IN THIS SESSION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777239" y="1920239"/>
            <a:ext cx="104241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E4258"/>
                </a:solidFill>
              </a:defRPr>
            </a:lvl1pPr>
          </a:lstStyle>
          <a:p>
            <a:pPr/>
            <a:r>
              <a:t>Google NotebookLM — FREE</a:t>
            </a:r>
          </a:p>
        </p:txBody>
      </p:sp>
      <p:sp>
        <p:nvSpPr>
          <p:cNvPr id="179" name="TextBox 8"/>
          <p:cNvSpPr txBox="1"/>
          <p:nvPr/>
        </p:nvSpPr>
        <p:spPr>
          <a:xfrm>
            <a:off x="777239" y="2468879"/>
            <a:ext cx="10424161" cy="101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Upload your source documents → AI responses grounded ONLY in what you uploaded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If the answer isn't in your documents, it says so. Zero hallucination risk.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Generates study guides, FAQs, and audio podcast discussions</a:t>
            </a:r>
          </a:p>
        </p:txBody>
      </p:sp>
      <p:graphicFrame>
        <p:nvGraphicFramePr>
          <p:cNvPr id="180" name="Table 9"/>
          <p:cNvGraphicFramePr/>
          <p:nvPr/>
        </p:nvGraphicFramePr>
        <p:xfrm>
          <a:off x="457200" y="4389120"/>
          <a:ext cx="11247120" cy="96012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Perplexity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 answer engine that cites every source. Best for EBM exercises.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DeepSeek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Reasoning model with visible chain-of-thought. Self-hostable for privacy.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 —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Live Demo: NotebookLM Grounding</a:t>
            </a:r>
          </a:p>
        </p:txBody>
      </p:sp>
      <p:sp>
        <p:nvSpPr>
          <p:cNvPr id="222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Show the problem, then the solution</a:t>
            </a:r>
          </a:p>
        </p:txBody>
      </p:sp>
      <p:sp>
        <p:nvSpPr>
          <p:cNvPr id="223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DEMO SCRIPT</a:t>
            </a:r>
          </a:p>
        </p:txBody>
      </p:sp>
      <p:sp>
        <p:nvSpPr>
          <p:cNvPr id="226" name="TextBox 7"/>
          <p:cNvSpPr txBox="1"/>
          <p:nvPr/>
        </p:nvSpPr>
        <p:spPr>
          <a:xfrm>
            <a:off x="960119" y="1920239"/>
            <a:ext cx="4937762" cy="1783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1. ChatGPT WITHOUT sources → show hallucination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2. Open NotebookLM with pericarditis guidelines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3. Same question → grounded, cited response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4. Generate clinical reasoning exercise + rubric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5. Audio Overview (podcast) — play 15 seconds</a:t>
            </a:r>
          </a:p>
        </p:txBody>
      </p:sp>
      <p:sp>
        <p:nvSpPr>
          <p:cNvPr id="227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230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NotebookLM</a:t>
            </a:r>
          </a:p>
        </p:txBody>
      </p:sp>
      <p:sp>
        <p:nvSpPr>
          <p:cNvPr id="231" name="TextBox 12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4 (prompts)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Copy-Paste Prompt Templates</a:t>
            </a:r>
          </a:p>
        </p:txBody>
      </p:sp>
      <p:sp>
        <p:nvSpPr>
          <p:cNvPr id="23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these now — in the Workshop Guide → Section 4</a:t>
            </a:r>
          </a:p>
        </p:txBody>
      </p:sp>
      <p:sp>
        <p:nvSpPr>
          <p:cNvPr id="236" name="Rectangle 4"/>
          <p:cNvSpPr/>
          <p:nvPr/>
        </p:nvSpPr>
        <p:spPr>
          <a:xfrm>
            <a:off x="640080" y="1371600"/>
            <a:ext cx="10972801" cy="1005839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Rectangle 5"/>
          <p:cNvSpPr/>
          <p:nvPr/>
        </p:nvSpPr>
        <p:spPr>
          <a:xfrm>
            <a:off x="640080" y="1371600"/>
            <a:ext cx="50801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6"/>
          <p:cNvSpPr txBox="1"/>
          <p:nvPr/>
        </p:nvSpPr>
        <p:spPr>
          <a:xfrm>
            <a:off x="960119" y="144475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1</a:t>
            </a:r>
          </a:p>
        </p:txBody>
      </p:sp>
      <p:sp>
        <p:nvSpPr>
          <p:cNvPr id="239" name="TextBox 7"/>
          <p:cNvSpPr txBox="1"/>
          <p:nvPr/>
        </p:nvSpPr>
        <p:spPr>
          <a:xfrm>
            <a:off x="2331719" y="144475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Grounded Clinical Reasoning Case</a:t>
            </a:r>
          </a:p>
        </p:txBody>
      </p:sp>
      <p:sp>
        <p:nvSpPr>
          <p:cNvPr id="240" name="TextBox 8"/>
          <p:cNvSpPr txBox="1"/>
          <p:nvPr/>
        </p:nvSpPr>
        <p:spPr>
          <a:xfrm>
            <a:off x="960119" y="1828800"/>
            <a:ext cx="9052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NotebookLM or ChatGPT with file upload</a:t>
            </a:r>
          </a:p>
        </p:txBody>
      </p:sp>
      <p:sp>
        <p:nvSpPr>
          <p:cNvPr id="241" name="Rectangle 9"/>
          <p:cNvSpPr/>
          <p:nvPr/>
        </p:nvSpPr>
        <p:spPr>
          <a:xfrm>
            <a:off x="640080" y="2560320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Rectangle 10"/>
          <p:cNvSpPr/>
          <p:nvPr/>
        </p:nvSpPr>
        <p:spPr>
          <a:xfrm>
            <a:off x="640080" y="2560320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TextBox 11"/>
          <p:cNvSpPr txBox="1"/>
          <p:nvPr/>
        </p:nvSpPr>
        <p:spPr>
          <a:xfrm>
            <a:off x="960119" y="263347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2</a:t>
            </a:r>
          </a:p>
        </p:txBody>
      </p:sp>
      <p:sp>
        <p:nvSpPr>
          <p:cNvPr id="244" name="TextBox 12"/>
          <p:cNvSpPr txBox="1"/>
          <p:nvPr/>
        </p:nvSpPr>
        <p:spPr>
          <a:xfrm>
            <a:off x="2331719" y="263347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Simulated Patient Encounter</a:t>
            </a:r>
          </a:p>
        </p:txBody>
      </p:sp>
      <p:sp>
        <p:nvSpPr>
          <p:cNvPr id="245" name="TextBox 13"/>
          <p:cNvSpPr txBox="1"/>
          <p:nvPr/>
        </p:nvSpPr>
        <p:spPr>
          <a:xfrm>
            <a:off x="960119" y="3017520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ChatGPT voice mode or Claude</a:t>
            </a:r>
          </a:p>
        </p:txBody>
      </p:sp>
      <p:sp>
        <p:nvSpPr>
          <p:cNvPr id="246" name="Rectangle 14"/>
          <p:cNvSpPr/>
          <p:nvPr/>
        </p:nvSpPr>
        <p:spPr>
          <a:xfrm>
            <a:off x="640080" y="3749038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Rectangle 15"/>
          <p:cNvSpPr/>
          <p:nvPr/>
        </p:nvSpPr>
        <p:spPr>
          <a:xfrm>
            <a:off x="640080" y="3749038"/>
            <a:ext cx="50801" cy="100584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TextBox 16"/>
          <p:cNvSpPr txBox="1"/>
          <p:nvPr/>
        </p:nvSpPr>
        <p:spPr>
          <a:xfrm>
            <a:off x="960119" y="3822191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3</a:t>
            </a:r>
          </a:p>
        </p:txBody>
      </p:sp>
      <p:sp>
        <p:nvSpPr>
          <p:cNvPr id="249" name="TextBox 17"/>
          <p:cNvSpPr txBox="1"/>
          <p:nvPr/>
        </p:nvSpPr>
        <p:spPr>
          <a:xfrm>
            <a:off x="2331719" y="3822191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Structured Feedback Rubric</a:t>
            </a:r>
          </a:p>
        </p:txBody>
      </p:sp>
      <p:sp>
        <p:nvSpPr>
          <p:cNvPr id="250" name="TextBox 18"/>
          <p:cNvSpPr txBox="1"/>
          <p:nvPr/>
        </p:nvSpPr>
        <p:spPr>
          <a:xfrm>
            <a:off x="960119" y="4206238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Evaluates reasoning, not just answers</a:t>
            </a:r>
          </a:p>
        </p:txBody>
      </p:sp>
      <p:sp>
        <p:nvSpPr>
          <p:cNvPr id="251" name="Rectangle 19"/>
          <p:cNvSpPr/>
          <p:nvPr/>
        </p:nvSpPr>
        <p:spPr>
          <a:xfrm>
            <a:off x="640080" y="4937759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Rectangle 20"/>
          <p:cNvSpPr/>
          <p:nvPr/>
        </p:nvSpPr>
        <p:spPr>
          <a:xfrm>
            <a:off x="640080" y="4937759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21"/>
          <p:cNvSpPr txBox="1"/>
          <p:nvPr/>
        </p:nvSpPr>
        <p:spPr>
          <a:xfrm>
            <a:off x="960119" y="5010911"/>
            <a:ext cx="12801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4</a:t>
            </a:r>
          </a:p>
        </p:txBody>
      </p:sp>
      <p:sp>
        <p:nvSpPr>
          <p:cNvPr id="254" name="TextBox 22"/>
          <p:cNvSpPr txBox="1"/>
          <p:nvPr/>
        </p:nvSpPr>
        <p:spPr>
          <a:xfrm>
            <a:off x="2331719" y="5010911"/>
            <a:ext cx="4480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Reflective Writing Prompts</a:t>
            </a:r>
          </a:p>
        </p:txBody>
      </p:sp>
      <p:sp>
        <p:nvSpPr>
          <p:cNvPr id="255" name="TextBox 23"/>
          <p:cNvSpPr txBox="1"/>
          <p:nvPr/>
        </p:nvSpPr>
        <p:spPr>
          <a:xfrm>
            <a:off x="960119" y="5394959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Creates prompts AI can't answer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259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On your phone, open ChatGPT, Claude, or Gemini (all free)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Copy and paste Prompt #1 or #2 from the Workshop Guide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If you have a clinical guideline, upload it first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with your table — what worked? What surprised you?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 —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Match the technology to the learning goal —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A Clinician's Perspective on Simulation</a:t>
            </a:r>
          </a:p>
        </p:txBody>
      </p:sp>
      <p:sp>
        <p:nvSpPr>
          <p:cNvPr id="2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4" name="TextBox 5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FROM THE TRENCHES</a:t>
            </a:r>
          </a:p>
        </p:txBody>
      </p:sp>
      <p:sp>
        <p:nvSpPr>
          <p:cNvPr id="275" name="TextBox 6"/>
          <p:cNvSpPr txBox="1"/>
          <p:nvPr/>
        </p:nvSpPr>
        <p:spPr>
          <a:xfrm>
            <a:off x="960119" y="2011679"/>
            <a:ext cx="9966962" cy="269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Immersion doesn't require a headset.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A well-designed text-and-audio case — where a learner interviews a patient,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orders labs, interprets an ECG, and builds a differential — can teach clinical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reasoning as effectively as a $500 VR setup.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7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The most expensive simulation is not the best simulation</a:t>
            </a:r>
          </a:p>
        </p:txBody>
      </p:sp>
      <p:sp>
        <p:nvSpPr>
          <p:cNvPr id="280" name="Rectangle 4"/>
          <p:cNvSpPr/>
          <p:nvPr/>
        </p:nvSpPr>
        <p:spPr>
          <a:xfrm>
            <a:off x="36575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Rectangle 5"/>
          <p:cNvSpPr/>
          <p:nvPr/>
        </p:nvSpPr>
        <p:spPr>
          <a:xfrm>
            <a:off x="365759" y="1371600"/>
            <a:ext cx="2194562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6"/>
          <p:cNvSpPr txBox="1"/>
          <p:nvPr/>
        </p:nvSpPr>
        <p:spPr>
          <a:xfrm>
            <a:off x="502920" y="1554480"/>
            <a:ext cx="1920239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1</a:t>
            </a:r>
          </a:p>
        </p:txBody>
      </p:sp>
      <p:sp>
        <p:nvSpPr>
          <p:cNvPr id="283" name="TextBox 7"/>
          <p:cNvSpPr txBox="1"/>
          <p:nvPr/>
        </p:nvSpPr>
        <p:spPr>
          <a:xfrm>
            <a:off x="502920" y="1920239"/>
            <a:ext cx="1920239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84" name="TextBox 8"/>
          <p:cNvSpPr txBox="1"/>
          <p:nvPr/>
        </p:nvSpPr>
        <p:spPr>
          <a:xfrm>
            <a:off x="502920" y="2560320"/>
            <a:ext cx="192023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$20/mo</a:t>
            </a:r>
          </a:p>
        </p:txBody>
      </p:sp>
      <p:sp>
        <p:nvSpPr>
          <p:cNvPr id="285" name="TextBox 9"/>
          <p:cNvSpPr txBox="1"/>
          <p:nvPr/>
        </p:nvSpPr>
        <p:spPr>
          <a:xfrm>
            <a:off x="502920" y="3017520"/>
            <a:ext cx="192023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86" name="Rectangle 10"/>
          <p:cNvSpPr/>
          <p:nvPr/>
        </p:nvSpPr>
        <p:spPr>
          <a:xfrm>
            <a:off x="274319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1"/>
          <p:cNvSpPr/>
          <p:nvPr/>
        </p:nvSpPr>
        <p:spPr>
          <a:xfrm>
            <a:off x="2743199" y="1371600"/>
            <a:ext cx="2194562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12"/>
          <p:cNvSpPr txBox="1"/>
          <p:nvPr/>
        </p:nvSpPr>
        <p:spPr>
          <a:xfrm>
            <a:off x="288035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2</a:t>
            </a:r>
          </a:p>
        </p:txBody>
      </p:sp>
      <p:sp>
        <p:nvSpPr>
          <p:cNvPr id="289" name="TextBox 13"/>
          <p:cNvSpPr txBox="1"/>
          <p:nvPr/>
        </p:nvSpPr>
        <p:spPr>
          <a:xfrm>
            <a:off x="288035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90" name="TextBox 14"/>
          <p:cNvSpPr txBox="1"/>
          <p:nvPr/>
        </p:nvSpPr>
        <p:spPr>
          <a:xfrm>
            <a:off x="288035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291" name="TextBox 15"/>
          <p:cNvSpPr txBox="1"/>
          <p:nvPr/>
        </p:nvSpPr>
        <p:spPr>
          <a:xfrm>
            <a:off x="288035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92" name="Rectangle 16"/>
          <p:cNvSpPr/>
          <p:nvPr/>
        </p:nvSpPr>
        <p:spPr>
          <a:xfrm>
            <a:off x="512064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17"/>
          <p:cNvSpPr/>
          <p:nvPr/>
        </p:nvSpPr>
        <p:spPr>
          <a:xfrm>
            <a:off x="5120640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18"/>
          <p:cNvSpPr txBox="1"/>
          <p:nvPr/>
        </p:nvSpPr>
        <p:spPr>
          <a:xfrm>
            <a:off x="525779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3</a:t>
            </a:r>
          </a:p>
        </p:txBody>
      </p:sp>
      <p:sp>
        <p:nvSpPr>
          <p:cNvPr id="295" name="TextBox 19"/>
          <p:cNvSpPr txBox="1"/>
          <p:nvPr/>
        </p:nvSpPr>
        <p:spPr>
          <a:xfrm>
            <a:off x="525779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96" name="TextBox 20"/>
          <p:cNvSpPr txBox="1"/>
          <p:nvPr/>
        </p:nvSpPr>
        <p:spPr>
          <a:xfrm>
            <a:off x="525779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trial — inst.</a:t>
            </a:r>
          </a:p>
        </p:txBody>
      </p:sp>
      <p:sp>
        <p:nvSpPr>
          <p:cNvPr id="297" name="TextBox 21"/>
          <p:cNvSpPr txBox="1"/>
          <p:nvPr/>
        </p:nvSpPr>
        <p:spPr>
          <a:xfrm>
            <a:off x="525779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98" name="Rectangle 22"/>
          <p:cNvSpPr/>
          <p:nvPr/>
        </p:nvSpPr>
        <p:spPr>
          <a:xfrm>
            <a:off x="749808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23"/>
          <p:cNvSpPr/>
          <p:nvPr/>
        </p:nvSpPr>
        <p:spPr>
          <a:xfrm>
            <a:off x="7498080" y="1371600"/>
            <a:ext cx="2194561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24"/>
          <p:cNvSpPr txBox="1"/>
          <p:nvPr/>
        </p:nvSpPr>
        <p:spPr>
          <a:xfrm>
            <a:off x="763523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4</a:t>
            </a:r>
          </a:p>
        </p:txBody>
      </p:sp>
      <p:sp>
        <p:nvSpPr>
          <p:cNvPr id="301" name="TextBox 25"/>
          <p:cNvSpPr txBox="1"/>
          <p:nvPr/>
        </p:nvSpPr>
        <p:spPr>
          <a:xfrm>
            <a:off x="763523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302" name="TextBox 26"/>
          <p:cNvSpPr txBox="1"/>
          <p:nvPr/>
        </p:nvSpPr>
        <p:spPr>
          <a:xfrm>
            <a:off x="763523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303" name="TextBox 27"/>
          <p:cNvSpPr txBox="1"/>
          <p:nvPr/>
        </p:nvSpPr>
        <p:spPr>
          <a:xfrm>
            <a:off x="763523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304" name="Rectangle 28"/>
          <p:cNvSpPr/>
          <p:nvPr/>
        </p:nvSpPr>
        <p:spPr>
          <a:xfrm>
            <a:off x="9875519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29"/>
          <p:cNvSpPr/>
          <p:nvPr/>
        </p:nvSpPr>
        <p:spPr>
          <a:xfrm>
            <a:off x="9875519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30"/>
          <p:cNvSpPr txBox="1"/>
          <p:nvPr/>
        </p:nvSpPr>
        <p:spPr>
          <a:xfrm>
            <a:off x="1001267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5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001267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308" name="TextBox 32"/>
          <p:cNvSpPr txBox="1"/>
          <p:nvPr/>
        </p:nvSpPr>
        <p:spPr>
          <a:xfrm>
            <a:off x="1001267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$100 — $600</a:t>
            </a:r>
          </a:p>
        </p:txBody>
      </p:sp>
      <p:sp>
        <p:nvSpPr>
          <p:cNvPr id="309" name="TextBox 33"/>
          <p:cNvSpPr txBox="1"/>
          <p:nvPr/>
        </p:nvSpPr>
        <p:spPr>
          <a:xfrm>
            <a:off x="1001267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Interactive Clinical Reasoning Case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 — no VR needed</a:t>
            </a:r>
          </a:p>
        </p:txBody>
      </p:sp>
      <p:sp>
        <p:nvSpPr>
          <p:cNvPr id="314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YOU'LL DO</a:t>
            </a:r>
          </a:p>
        </p:txBody>
      </p:sp>
      <p:sp>
        <p:nvSpPr>
          <p:cNvPr id="317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19-year-old male with sharp chest pain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Interview the patient (text-based)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Order labs, interpret an ECG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Build your differential with reasoning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Write your assessment and plan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Receive feedback on your reasoning process</a:t>
            </a:r>
          </a:p>
        </p:txBody>
      </p:sp>
      <p:sp>
        <p:nvSpPr>
          <p:cNvPr id="318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321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Clinical Reasoning Case</a:t>
            </a:r>
          </a:p>
        </p:txBody>
      </p:sp>
      <p:sp>
        <p:nvSpPr>
          <p:cNvPr id="322" name="Rectangle 12"/>
          <p:cNvSpPr/>
          <p:nvPr/>
        </p:nvSpPr>
        <p:spPr>
          <a:xfrm>
            <a:off x="6583680" y="3474720"/>
            <a:ext cx="5029201" cy="1828801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Rectangle 13"/>
          <p:cNvSpPr/>
          <p:nvPr/>
        </p:nvSpPr>
        <p:spPr>
          <a:xfrm>
            <a:off x="6583680" y="3474720"/>
            <a:ext cx="50801" cy="1828801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14"/>
          <p:cNvSpPr txBox="1"/>
          <p:nvPr/>
        </p:nvSpPr>
        <p:spPr>
          <a:xfrm>
            <a:off x="6903719" y="3657599"/>
            <a:ext cx="44805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KEY MESSAGE</a:t>
            </a:r>
          </a:p>
        </p:txBody>
      </p:sp>
      <p:sp>
        <p:nvSpPr>
          <p:cNvPr id="325" name="TextBox 15"/>
          <p:cNvSpPr txBox="1"/>
          <p:nvPr/>
        </p:nvSpPr>
        <p:spPr>
          <a:xfrm>
            <a:off x="6903719" y="4023359"/>
            <a:ext cx="4480562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2332"/>
                </a:solidFill>
              </a:defRPr>
            </a:lvl1pPr>
          </a:lstStyle>
          <a:p>
            <a:pPr/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Simulation Tools by Fidelity Level</a:t>
            </a:r>
          </a:p>
        </p:txBody>
      </p:sp>
      <p:sp>
        <p:nvSpPr>
          <p:cNvPr id="3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in the Workshop Guide → Sections 5 &amp; 6</a:t>
            </a:r>
          </a:p>
        </p:txBody>
      </p:sp>
      <p:graphicFrame>
        <p:nvGraphicFramePr>
          <p:cNvPr id="330" name="Table 4"/>
          <p:cNvGraphicFramePr/>
          <p:nvPr/>
        </p:nvGraphicFramePr>
        <p:xfrm>
          <a:off x="457200" y="1371600"/>
          <a:ext cx="11247120" cy="28803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743200"/>
                <a:gridCol w="2286000"/>
                <a:gridCol w="43891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Fidelity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ChatGPT (patient sim)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History-taking, communication practice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Flip (video reflection)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Case presentations, peer feedback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H5P (branching)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clinical decision trees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Body Interact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trial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Virtual patient simulator (targets PA)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BioDigital Human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Browser-based 3D anatomy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Visible Body Atlas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$25 one-time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3D anatomy + AR on phone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OMS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Explicitly targets PA/APP programs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SimX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150+ VR patient scenarios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Oval 6"/>
          <p:cNvGrpSpPr/>
          <p:nvPr/>
        </p:nvGrpSpPr>
        <p:grpSpPr>
          <a:xfrm>
            <a:off x="45719" y="320040"/>
            <a:ext cx="365762" cy="365761"/>
            <a:chOff x="0" y="0"/>
            <a:chExt cx="365760" cy="365760"/>
          </a:xfrm>
        </p:grpSpPr>
        <p:sp>
          <p:nvSpPr>
            <p:cNvPr id="332" name="Circle"/>
            <p:cNvSpPr/>
            <p:nvPr/>
          </p:nvSpPr>
          <p:spPr>
            <a:xfrm>
              <a:off x="-1" y="-1"/>
              <a:ext cx="365762" cy="36576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3" name="6"/>
            <p:cNvSpPr txBox="1"/>
            <p:nvPr/>
          </p:nvSpPr>
          <p:spPr>
            <a:xfrm>
              <a:off x="99283" y="12789"/>
              <a:ext cx="16719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33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VR Hardware — When It's Worth the Investment</a:t>
            </a:r>
          </a:p>
        </p:txBody>
      </p:sp>
      <p:graphicFrame>
        <p:nvGraphicFramePr>
          <p:cNvPr id="337" name="Table 3"/>
          <p:cNvGraphicFramePr/>
          <p:nvPr/>
        </p:nvGraphicFramePr>
        <p:xfrm>
          <a:off x="457200" y="1371600"/>
          <a:ext cx="11247120" cy="16002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Hardware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What It Enables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Google Cardboard / phone 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$5–$25/viewer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Basic VR demos, 360° anatomy. No controllers.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2 (refurbished)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~$100–$150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Lowest-cost standalone VR. Runs most medical apps.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3S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$349.99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value for new purchase. Color passthrough AR.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$599.99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Premium. Not necessary for most programs.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6"/>
          <p:cNvSpPr txBox="1"/>
          <p:nvPr/>
        </p:nvSpPr>
        <p:spPr>
          <a:xfrm>
            <a:off x="73151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341" name="TextBox 7"/>
          <p:cNvSpPr txBox="1"/>
          <p:nvPr/>
        </p:nvSpPr>
        <p:spPr>
          <a:xfrm>
            <a:off x="73151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342" name="Rectangle 8"/>
          <p:cNvSpPr/>
          <p:nvPr/>
        </p:nvSpPr>
        <p:spPr>
          <a:xfrm>
            <a:off x="6217920" y="4572000"/>
            <a:ext cx="54864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Rectangle 9"/>
          <p:cNvSpPr/>
          <p:nvPr/>
        </p:nvSpPr>
        <p:spPr>
          <a:xfrm>
            <a:off x="6217920" y="45720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0"/>
          <p:cNvSpPr txBox="1"/>
          <p:nvPr/>
        </p:nvSpPr>
        <p:spPr>
          <a:xfrm>
            <a:off x="649223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DON'T USE VR WHEN</a:t>
            </a:r>
          </a:p>
        </p:txBody>
      </p:sp>
      <p:sp>
        <p:nvSpPr>
          <p:cNvPr id="345" name="TextBox 11"/>
          <p:cNvSpPr txBox="1"/>
          <p:nvPr/>
        </p:nvSpPr>
        <p:spPr>
          <a:xfrm>
            <a:off x="649223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The learning goal is clinical reasoning — text/screen does the job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Recommended Starter Stack for Low-Resource Programs</a:t>
            </a:r>
          </a:p>
        </p:txBody>
      </p:sp>
      <p:sp>
        <p:nvSpPr>
          <p:cNvPr id="349" name="Rectangle 3"/>
          <p:cNvSpPr/>
          <p:nvPr/>
        </p:nvSpPr>
        <p:spPr>
          <a:xfrm>
            <a:off x="640080" y="1371599"/>
            <a:ext cx="10972801" cy="1097282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Rectangle 4"/>
          <p:cNvSpPr/>
          <p:nvPr/>
        </p:nvSpPr>
        <p:spPr>
          <a:xfrm>
            <a:off x="640080" y="1371599"/>
            <a:ext cx="50801" cy="1097282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5"/>
          <p:cNvSpPr txBox="1"/>
          <p:nvPr/>
        </p:nvSpPr>
        <p:spPr>
          <a:xfrm>
            <a:off x="960119" y="1463039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Free Entry</a:t>
            </a:r>
          </a:p>
        </p:txBody>
      </p:sp>
      <p:sp>
        <p:nvSpPr>
          <p:cNvPr id="352" name="TextBox 6"/>
          <p:cNvSpPr txBox="1"/>
          <p:nvPr/>
        </p:nvSpPr>
        <p:spPr>
          <a:xfrm>
            <a:off x="3246119" y="1463039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$0</a:t>
            </a:r>
          </a:p>
        </p:txBody>
      </p:sp>
      <p:sp>
        <p:nvSpPr>
          <p:cNvPr id="353" name="TextBox 7"/>
          <p:cNvSpPr txBox="1"/>
          <p:nvPr/>
        </p:nvSpPr>
        <p:spPr>
          <a:xfrm>
            <a:off x="4800599" y="1463039"/>
            <a:ext cx="63093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ChatGPT + BioDigital Human + Flip + NotebookLM + H5P</a:t>
            </a:r>
          </a:p>
        </p:txBody>
      </p:sp>
      <p:sp>
        <p:nvSpPr>
          <p:cNvPr id="354" name="Rectangle 8"/>
          <p:cNvSpPr/>
          <p:nvPr/>
        </p:nvSpPr>
        <p:spPr>
          <a:xfrm>
            <a:off x="640080" y="2651760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Rectangle 9"/>
          <p:cNvSpPr/>
          <p:nvPr/>
        </p:nvSpPr>
        <p:spPr>
          <a:xfrm>
            <a:off x="640080" y="2651760"/>
            <a:ext cx="50801" cy="1097281"/>
          </a:xfrm>
          <a:prstGeom prst="rect">
            <a:avLst/>
          </a:prstGeom>
          <a:solidFill>
            <a:srgbClr val="3A7A9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TextBox 10"/>
          <p:cNvSpPr txBox="1"/>
          <p:nvPr/>
        </p:nvSpPr>
        <p:spPr>
          <a:xfrm>
            <a:off x="960119" y="2743199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3A7A9A"/>
                </a:solidFill>
              </a:defRPr>
            </a:lvl1pPr>
          </a:lstStyle>
          <a:p>
            <a:pPr/>
            <a:r>
              <a:t>Minimal</a:t>
            </a:r>
          </a:p>
        </p:txBody>
      </p:sp>
      <p:sp>
        <p:nvSpPr>
          <p:cNvPr id="357" name="TextBox 11"/>
          <p:cNvSpPr txBox="1"/>
          <p:nvPr/>
        </p:nvSpPr>
        <p:spPr>
          <a:xfrm>
            <a:off x="3246119" y="2743199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$25</a:t>
            </a:r>
          </a:p>
        </p:txBody>
      </p:sp>
      <p:sp>
        <p:nvSpPr>
          <p:cNvPr id="358" name="TextBox 12"/>
          <p:cNvSpPr txBox="1"/>
          <p:nvPr/>
        </p:nvSpPr>
        <p:spPr>
          <a:xfrm>
            <a:off x="4800599" y="2743200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Visible Body Atlas (includes AR)</a:t>
            </a:r>
          </a:p>
        </p:txBody>
      </p:sp>
      <p:sp>
        <p:nvSpPr>
          <p:cNvPr id="359" name="Rectangle 13"/>
          <p:cNvSpPr/>
          <p:nvPr/>
        </p:nvSpPr>
        <p:spPr>
          <a:xfrm>
            <a:off x="640080" y="3931920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Rectangle 14"/>
          <p:cNvSpPr/>
          <p:nvPr/>
        </p:nvSpPr>
        <p:spPr>
          <a:xfrm>
            <a:off x="640080" y="3931920"/>
            <a:ext cx="50801" cy="1097281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15"/>
          <p:cNvSpPr txBox="1"/>
          <p:nvPr/>
        </p:nvSpPr>
        <p:spPr>
          <a:xfrm>
            <a:off x="960119" y="4023359"/>
            <a:ext cx="2194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5F7C"/>
                </a:solidFill>
              </a:defRPr>
            </a:lvl1pPr>
          </a:lstStyle>
          <a:p>
            <a:pPr/>
            <a:r>
              <a:t>One Headset</a:t>
            </a:r>
          </a:p>
        </p:txBody>
      </p:sp>
      <p:sp>
        <p:nvSpPr>
          <p:cNvPr id="362" name="TextBox 16"/>
          <p:cNvSpPr txBox="1"/>
          <p:nvPr/>
        </p:nvSpPr>
        <p:spPr>
          <a:xfrm>
            <a:off x="3246119" y="4023359"/>
            <a:ext cx="12801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~$125-175</a:t>
            </a:r>
          </a:p>
        </p:txBody>
      </p:sp>
      <p:sp>
        <p:nvSpPr>
          <p:cNvPr id="363" name="TextBox 17"/>
          <p:cNvSpPr txBox="1"/>
          <p:nvPr/>
        </p:nvSpPr>
        <p:spPr>
          <a:xfrm>
            <a:off x="4800599" y="4023359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+ 1 refurbished Meta Quest 2</a:t>
            </a:r>
          </a:p>
        </p:txBody>
      </p:sp>
      <p:sp>
        <p:nvSpPr>
          <p:cNvPr id="364" name="Rectangle 18"/>
          <p:cNvSpPr/>
          <p:nvPr/>
        </p:nvSpPr>
        <p:spPr>
          <a:xfrm>
            <a:off x="640080" y="5212079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Rectangle 19"/>
          <p:cNvSpPr/>
          <p:nvPr/>
        </p:nvSpPr>
        <p:spPr>
          <a:xfrm>
            <a:off x="640080" y="5212079"/>
            <a:ext cx="50801" cy="109728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960119" y="5303518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33A"/>
                </a:solidFill>
              </a:defRPr>
            </a:lvl1pPr>
          </a:lstStyle>
          <a:p>
            <a:pPr/>
            <a:r>
              <a:t>Small Program</a:t>
            </a:r>
          </a:p>
        </p:txBody>
      </p:sp>
      <p:sp>
        <p:nvSpPr>
          <p:cNvPr id="367" name="TextBox 21"/>
          <p:cNvSpPr txBox="1"/>
          <p:nvPr/>
        </p:nvSpPr>
        <p:spPr>
          <a:xfrm>
            <a:off x="3246119" y="5303518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~$700-1,100</a:t>
            </a:r>
          </a:p>
        </p:txBody>
      </p:sp>
      <p:sp>
        <p:nvSpPr>
          <p:cNvPr id="368" name="TextBox 22"/>
          <p:cNvSpPr txBox="1"/>
          <p:nvPr/>
        </p:nvSpPr>
        <p:spPr>
          <a:xfrm>
            <a:off x="4800599" y="5303518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+ 2-3 Meta Quest 3S (~$350 each)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3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Think of a clinical skill your fellows need to learn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Which fidelity level would you choose? Text? Images? Screen? AR?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Would the free option work? Or does this skill genuinely require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your reasoning with your table group</a:t>
            </a:r>
          </a:p>
        </p:txBody>
      </p:sp>
      <p:sp>
        <p:nvSpPr>
          <p:cNvPr id="37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9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377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78" name="7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7</a:t>
              </a:r>
            </a:p>
          </p:txBody>
        </p:sp>
      </p:grpSp>
      <p:sp>
        <p:nvSpPr>
          <p:cNvPr id="380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</a:t>
            </a:r>
          </a:p>
        </p:txBody>
      </p:sp>
      <p:sp>
        <p:nvSpPr>
          <p:cNvPr id="381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 — 20 min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Extend your earlier discussions into a complete plan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Share-Out — 5 min</a:t>
            </a:r>
          </a:p>
        </p:txBody>
      </p:sp>
      <p:sp>
        <p:nvSpPr>
          <p:cNvPr id="424" name="Rectangle 3"/>
          <p:cNvSpPr/>
          <p:nvPr/>
        </p:nvSpPr>
        <p:spPr>
          <a:xfrm>
            <a:off x="640080" y="1371600"/>
            <a:ext cx="10972801" cy="32004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4"/>
          <p:cNvSpPr txBox="1"/>
          <p:nvPr/>
        </p:nvSpPr>
        <p:spPr>
          <a:xfrm>
            <a:off x="1143000" y="1828800"/>
            <a:ext cx="9966961" cy="1756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2-3 groups share their plan (60 seconds each)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your educational need?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 tool did you pick, and why?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371600"/>
            <a:ext cx="10881361" cy="19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Everything from today is in the Workshop Guide — bookmark it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The Zero Dollar Starter Kit: 9 free tools you can use Monday morning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All resource links, prompt templates, and the worksheet stay available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don't need a grant, an IT ticket, or a technology expert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need to know what your learners need — and you already know that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685800" y="548640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